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9" r:id="rId1"/>
  </p:sldMasterIdLst>
  <p:notesMasterIdLst>
    <p:notesMasterId r:id="rId51"/>
  </p:notesMasterIdLst>
  <p:handoutMasterIdLst>
    <p:handoutMasterId r:id="rId52"/>
  </p:handoutMasterIdLst>
  <p:sldIdLst>
    <p:sldId id="256" r:id="rId2"/>
    <p:sldId id="288" r:id="rId3"/>
    <p:sldId id="289" r:id="rId4"/>
    <p:sldId id="290" r:id="rId5"/>
    <p:sldId id="291" r:id="rId6"/>
    <p:sldId id="292" r:id="rId7"/>
    <p:sldId id="293" r:id="rId8"/>
    <p:sldId id="294" r:id="rId9"/>
    <p:sldId id="295" r:id="rId10"/>
    <p:sldId id="296" r:id="rId11"/>
    <p:sldId id="297" r:id="rId12"/>
    <p:sldId id="298" r:id="rId13"/>
    <p:sldId id="299" r:id="rId14"/>
    <p:sldId id="300" r:id="rId15"/>
    <p:sldId id="301" r:id="rId16"/>
    <p:sldId id="302" r:id="rId17"/>
    <p:sldId id="303" r:id="rId18"/>
    <p:sldId id="304" r:id="rId19"/>
    <p:sldId id="305" r:id="rId20"/>
    <p:sldId id="306" r:id="rId21"/>
    <p:sldId id="307" r:id="rId22"/>
    <p:sldId id="309" r:id="rId23"/>
    <p:sldId id="308" r:id="rId24"/>
    <p:sldId id="310" r:id="rId25"/>
    <p:sldId id="311" r:id="rId26"/>
    <p:sldId id="312" r:id="rId27"/>
    <p:sldId id="313" r:id="rId28"/>
    <p:sldId id="314" r:id="rId29"/>
    <p:sldId id="333" r:id="rId30"/>
    <p:sldId id="315" r:id="rId31"/>
    <p:sldId id="316" r:id="rId32"/>
    <p:sldId id="317" r:id="rId33"/>
    <p:sldId id="318" r:id="rId34"/>
    <p:sldId id="319" r:id="rId35"/>
    <p:sldId id="320" r:id="rId36"/>
    <p:sldId id="321" r:id="rId37"/>
    <p:sldId id="322" r:id="rId38"/>
    <p:sldId id="323" r:id="rId39"/>
    <p:sldId id="324" r:id="rId40"/>
    <p:sldId id="325" r:id="rId41"/>
    <p:sldId id="326" r:id="rId42"/>
    <p:sldId id="327" r:id="rId43"/>
    <p:sldId id="328" r:id="rId44"/>
    <p:sldId id="329" r:id="rId45"/>
    <p:sldId id="330" r:id="rId46"/>
    <p:sldId id="331" r:id="rId47"/>
    <p:sldId id="332" r:id="rId48"/>
    <p:sldId id="334" r:id="rId49"/>
    <p:sldId id="335" r:id="rId50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ＭＳ Ｐゴシック" charset="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ＭＳ Ｐゴシック" charset="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ＭＳ Ｐゴシック" charset="0"/>
        <a:cs typeface="+mn-cs"/>
      </a:defRPr>
    </a:lvl5pPr>
    <a:lvl6pPr marL="2286000" algn="l" defTabSz="457200" rtl="0" eaLnBrk="1" latinLnBrk="0" hangingPunct="1">
      <a:defRPr sz="1600" kern="1200">
        <a:solidFill>
          <a:schemeClr val="tx1"/>
        </a:solidFill>
        <a:latin typeface="Arial" charset="0"/>
        <a:ea typeface="ＭＳ Ｐゴシック" charset="0"/>
        <a:cs typeface="+mn-cs"/>
      </a:defRPr>
    </a:lvl6pPr>
    <a:lvl7pPr marL="2743200" algn="l" defTabSz="457200" rtl="0" eaLnBrk="1" latinLnBrk="0" hangingPunct="1">
      <a:defRPr sz="1600" kern="1200">
        <a:solidFill>
          <a:schemeClr val="tx1"/>
        </a:solidFill>
        <a:latin typeface="Arial" charset="0"/>
        <a:ea typeface="ＭＳ Ｐゴシック" charset="0"/>
        <a:cs typeface="+mn-cs"/>
      </a:defRPr>
    </a:lvl7pPr>
    <a:lvl8pPr marL="3200400" algn="l" defTabSz="457200" rtl="0" eaLnBrk="1" latinLnBrk="0" hangingPunct="1">
      <a:defRPr sz="1600" kern="1200">
        <a:solidFill>
          <a:schemeClr val="tx1"/>
        </a:solidFill>
        <a:latin typeface="Arial" charset="0"/>
        <a:ea typeface="ＭＳ Ｐゴシック" charset="0"/>
        <a:cs typeface="+mn-cs"/>
      </a:defRPr>
    </a:lvl8pPr>
    <a:lvl9pPr marL="3657600" algn="l" defTabSz="457200" rtl="0" eaLnBrk="1" latinLnBrk="0" hangingPunct="1">
      <a:defRPr sz="1600" kern="1200">
        <a:solidFill>
          <a:schemeClr val="tx1"/>
        </a:solidFill>
        <a:latin typeface="Arial" charset="0"/>
        <a:ea typeface="ＭＳ Ｐゴシック" charset="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3C00"/>
    <a:srgbClr val="8F0000"/>
    <a:srgbClr val="008000"/>
    <a:srgbClr val="0033CC"/>
    <a:srgbClr val="E2EBFF"/>
    <a:srgbClr val="DEF0F2"/>
    <a:srgbClr val="F2E5D0"/>
    <a:srgbClr val="464646"/>
    <a:srgbClr val="CC99FF"/>
    <a:srgbClr val="99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427" autoAdjust="0"/>
    <p:restoredTop sz="86498" autoAdjust="0"/>
  </p:normalViewPr>
  <p:slideViewPr>
    <p:cSldViewPr>
      <p:cViewPr varScale="1">
        <p:scale>
          <a:sx n="138" d="100"/>
          <a:sy n="138" d="100"/>
        </p:scale>
        <p:origin x="1328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81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91439" cy="91439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50" Type="http://schemas.openxmlformats.org/officeDocument/2006/relationships/slide" Target="slides/slide49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1BEC4D-AF1D-B244-858F-FC7BB69AC3F2}" type="datetimeFigureOut">
              <a:rPr lang="en-US" smtClean="0"/>
              <a:t>9/27/17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17C8AE-DEBD-E641-93E8-ED065F7FB8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70497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endParaRPr lang="en-US"/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endParaRPr lang="en-US"/>
          </a:p>
        </p:txBody>
      </p:sp>
      <p:sp>
        <p:nvSpPr>
          <p:cNvPr id="327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xmlns="" val="1"/>
            </a:ext>
          </a:extLst>
        </p:spPr>
      </p:sp>
      <p:sp>
        <p:nvSpPr>
          <p:cNvPr id="327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7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endParaRPr lang="en-US"/>
          </a:p>
        </p:txBody>
      </p:sp>
      <p:sp>
        <p:nvSpPr>
          <p:cNvPr id="327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F5E68D8E-92B9-6647-9C13-3186C5B5146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35277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ChangeArrowheads="1"/>
          </p:cNvSpPr>
          <p:nvPr/>
        </p:nvSpPr>
        <p:spPr bwMode="auto">
          <a:xfrm>
            <a:off x="381000" y="990600"/>
            <a:ext cx="76200" cy="51054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lang="en-US" sz="2400">
              <a:latin typeface="Times New Roman" charset="0"/>
            </a:endParaRP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762000" y="1371600"/>
            <a:ext cx="7696200" cy="2057400"/>
          </a:xfrm>
        </p:spPr>
        <p:txBody>
          <a:bodyPr/>
          <a:lstStyle>
            <a:lvl1pPr>
              <a:defRPr sz="4000"/>
            </a:lvl1pPr>
          </a:lstStyle>
          <a:p>
            <a:pPr lvl="0"/>
            <a:r>
              <a:rPr lang="en-US" noProof="0" smtClean="0"/>
              <a:t>Click to edit Master title style</a:t>
            </a:r>
          </a:p>
        </p:txBody>
      </p:sp>
      <p:sp>
        <p:nvSpPr>
          <p:cNvPr id="3072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762000" y="3765550"/>
            <a:ext cx="7696200" cy="2057400"/>
          </a:xfrm>
        </p:spPr>
        <p:txBody>
          <a:bodyPr/>
          <a:lstStyle>
            <a:lvl1pPr marL="0" indent="0">
              <a:buFont typeface="Wingdings" charset="0"/>
              <a:buNone/>
              <a:defRPr sz="2400"/>
            </a:lvl1pPr>
          </a:lstStyle>
          <a:p>
            <a:pPr lvl="0"/>
            <a:r>
              <a:rPr lang="en-US" noProof="0" smtClean="0"/>
              <a:t>Click to edit Master subtitle style</a:t>
            </a:r>
          </a:p>
        </p:txBody>
      </p:sp>
      <p:sp>
        <p:nvSpPr>
          <p:cNvPr id="30725" name="Rectangle 5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0727" name="Rectangle 7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 sz="1000" b="1"/>
            </a:lvl1pPr>
          </a:lstStyle>
          <a:p>
            <a:fld id="{91E6F249-8D10-7240-A07E-F66CEC252905}" type="slidenum">
              <a:rPr lang="en-US"/>
              <a:pPr/>
              <a:t>‹#›</a:t>
            </a:fld>
            <a:endParaRPr lang="en-US"/>
          </a:p>
        </p:txBody>
      </p:sp>
      <p:grpSp>
        <p:nvGrpSpPr>
          <p:cNvPr id="30728" name="Group 8"/>
          <p:cNvGrpSpPr>
            <a:grpSpLocks/>
          </p:cNvGrpSpPr>
          <p:nvPr/>
        </p:nvGrpSpPr>
        <p:grpSpPr bwMode="auto">
          <a:xfrm>
            <a:off x="381000" y="304800"/>
            <a:ext cx="8391525" cy="5791200"/>
            <a:chOff x="240" y="192"/>
            <a:chExt cx="5286" cy="3648"/>
          </a:xfrm>
        </p:grpSpPr>
        <p:sp>
          <p:nvSpPr>
            <p:cNvPr id="30729" name="Rectangle 9"/>
            <p:cNvSpPr>
              <a:spLocks noChangeArrowheads="1"/>
            </p:cNvSpPr>
            <p:nvPr/>
          </p:nvSpPr>
          <p:spPr bwMode="auto">
            <a:xfrm flipV="1">
              <a:off x="5236" y="192"/>
              <a:ext cx="288" cy="288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algn="ctr" eaLnBrk="1" hangingPunct="1"/>
              <a:endParaRPr lang="en-US" sz="2400">
                <a:latin typeface="Times New Roman" charset="0"/>
              </a:endParaRPr>
            </a:p>
          </p:txBody>
        </p:sp>
        <p:sp>
          <p:nvSpPr>
            <p:cNvPr id="30730" name="Rectangle 10"/>
            <p:cNvSpPr>
              <a:spLocks noChangeArrowheads="1"/>
            </p:cNvSpPr>
            <p:nvPr/>
          </p:nvSpPr>
          <p:spPr bwMode="auto">
            <a:xfrm flipV="1">
              <a:off x="240" y="192"/>
              <a:ext cx="5004" cy="288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/>
              <a:endParaRPr lang="en-US" sz="2400">
                <a:latin typeface="Times New Roman" charset="0"/>
              </a:endParaRPr>
            </a:p>
          </p:txBody>
        </p:sp>
        <p:sp>
          <p:nvSpPr>
            <p:cNvPr id="30731" name="Rectangle 11"/>
            <p:cNvSpPr>
              <a:spLocks noChangeArrowheads="1"/>
            </p:cNvSpPr>
            <p:nvPr/>
          </p:nvSpPr>
          <p:spPr bwMode="auto">
            <a:xfrm flipV="1">
              <a:off x="240" y="480"/>
              <a:ext cx="5004" cy="144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algn="ctr" eaLnBrk="1" hangingPunct="1"/>
              <a:endParaRPr lang="en-US" sz="2400">
                <a:latin typeface="Times New Roman" charset="0"/>
              </a:endParaRPr>
            </a:p>
          </p:txBody>
        </p:sp>
        <p:sp>
          <p:nvSpPr>
            <p:cNvPr id="30732" name="Rectangle 12"/>
            <p:cNvSpPr>
              <a:spLocks noChangeArrowheads="1"/>
            </p:cNvSpPr>
            <p:nvPr/>
          </p:nvSpPr>
          <p:spPr bwMode="auto">
            <a:xfrm flipV="1">
              <a:off x="5242" y="480"/>
              <a:ext cx="282" cy="144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/>
              <a:endParaRPr lang="en-US" sz="2400">
                <a:latin typeface="Times New Roman" charset="0"/>
              </a:endParaRPr>
            </a:p>
          </p:txBody>
        </p:sp>
        <p:sp>
          <p:nvSpPr>
            <p:cNvPr id="30733" name="Line 13"/>
            <p:cNvSpPr>
              <a:spLocks noChangeShapeType="1"/>
            </p:cNvSpPr>
            <p:nvPr/>
          </p:nvSpPr>
          <p:spPr bwMode="auto">
            <a:xfrm flipH="1">
              <a:off x="480" y="2256"/>
              <a:ext cx="48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34" name="Rectangle 14"/>
            <p:cNvSpPr>
              <a:spLocks noChangeArrowheads="1"/>
            </p:cNvSpPr>
            <p:nvPr/>
          </p:nvSpPr>
          <p:spPr bwMode="auto">
            <a:xfrm>
              <a:off x="240" y="192"/>
              <a:ext cx="5286" cy="364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/>
              <a:endParaRPr lang="en-US" sz="2400">
                <a:latin typeface="Times New Roman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D62B2D-F854-104A-9535-9A504E5923E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04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1D3FEEA-E4EA-8B48-84AC-27AA886F7D9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908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95400"/>
            <a:ext cx="4038600" cy="48355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95400"/>
            <a:ext cx="4038600" cy="48355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F6CE3A-7281-7642-9900-6E16427813B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862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E4CDA5C-119F-CC4B-9649-ABA59C0C102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635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750CE1F-3703-B242-8AD0-B0AC82B28EE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2021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1431D7-A35E-FE4C-978D-A4C1DB31A32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5848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074743-FE56-7945-B44C-593C2BC7280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6861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885C50-577F-4141-9922-FD2248DB00C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552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FDA5FC-E46B-9C44-BC74-948B74CFAE7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675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411163"/>
            <a:ext cx="2057400" cy="57197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411163"/>
            <a:ext cx="6019800" cy="571976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1E3472-7C7E-B14E-BFC5-D45A5C34A3D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890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11163"/>
            <a:ext cx="8229600" cy="655637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95400"/>
            <a:ext cx="8229600" cy="4835525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97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138120" y="6248400"/>
            <a:ext cx="548679" cy="4572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FF516B7F-12E3-114E-9B55-66756E9F7A1D}" type="slidenum">
              <a:rPr lang="en-US"/>
              <a:pPr/>
              <a:t>‹#›</a:t>
            </a:fld>
            <a:endParaRPr lang="en-US" dirty="0"/>
          </a:p>
        </p:txBody>
      </p:sp>
      <p:grpSp>
        <p:nvGrpSpPr>
          <p:cNvPr id="29703" name="Group 7"/>
          <p:cNvGrpSpPr>
            <a:grpSpLocks/>
          </p:cNvGrpSpPr>
          <p:nvPr/>
        </p:nvGrpSpPr>
        <p:grpSpPr bwMode="auto">
          <a:xfrm>
            <a:off x="228600" y="0"/>
            <a:ext cx="8686800" cy="1143000"/>
            <a:chOff x="176" y="96"/>
            <a:chExt cx="5472" cy="1008"/>
          </a:xfrm>
        </p:grpSpPr>
        <p:sp>
          <p:nvSpPr>
            <p:cNvPr id="29704" name="Line 8"/>
            <p:cNvSpPr>
              <a:spLocks noChangeShapeType="1"/>
            </p:cNvSpPr>
            <p:nvPr/>
          </p:nvSpPr>
          <p:spPr bwMode="auto">
            <a:xfrm flipH="1">
              <a:off x="288" y="1104"/>
              <a:ext cx="52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05" name="Rectangle 9"/>
            <p:cNvSpPr>
              <a:spLocks noChangeArrowheads="1"/>
            </p:cNvSpPr>
            <p:nvPr/>
          </p:nvSpPr>
          <p:spPr bwMode="auto">
            <a:xfrm>
              <a:off x="5504" y="96"/>
              <a:ext cx="144" cy="144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/>
              <a:endParaRPr lang="en-US" sz="2400">
                <a:latin typeface="Times New Roman" charset="0"/>
              </a:endParaRPr>
            </a:p>
          </p:txBody>
        </p:sp>
        <p:sp>
          <p:nvSpPr>
            <p:cNvPr id="29706" name="Rectangle 10"/>
            <p:cNvSpPr>
              <a:spLocks noChangeArrowheads="1"/>
            </p:cNvSpPr>
            <p:nvPr/>
          </p:nvSpPr>
          <p:spPr bwMode="auto">
            <a:xfrm>
              <a:off x="176" y="96"/>
              <a:ext cx="5326" cy="144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/>
              <a:endParaRPr lang="en-US" sz="2400">
                <a:latin typeface="Times New Roman" charset="0"/>
              </a:endParaRPr>
            </a:p>
          </p:txBody>
        </p:sp>
        <p:sp>
          <p:nvSpPr>
            <p:cNvPr id="29707" name="Rectangle 11"/>
            <p:cNvSpPr>
              <a:spLocks noChangeArrowheads="1"/>
            </p:cNvSpPr>
            <p:nvPr/>
          </p:nvSpPr>
          <p:spPr bwMode="auto">
            <a:xfrm>
              <a:off x="176" y="240"/>
              <a:ext cx="5326" cy="88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/>
              <a:endParaRPr lang="en-US" sz="2400">
                <a:latin typeface="Times New Roman" charset="0"/>
              </a:endParaRPr>
            </a:p>
          </p:txBody>
        </p:sp>
        <p:sp>
          <p:nvSpPr>
            <p:cNvPr id="29708" name="Rectangle 12"/>
            <p:cNvSpPr>
              <a:spLocks noChangeArrowheads="1"/>
            </p:cNvSpPr>
            <p:nvPr/>
          </p:nvSpPr>
          <p:spPr bwMode="auto">
            <a:xfrm>
              <a:off x="5504" y="241"/>
              <a:ext cx="144" cy="8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/>
              <a:endParaRPr lang="en-US" sz="2400">
                <a:latin typeface="Times New Roman" charset="0"/>
              </a:endParaRPr>
            </a:p>
          </p:txBody>
        </p:sp>
      </p:grpSp>
      <p:pic>
        <p:nvPicPr>
          <p:cNvPr id="29709" name="Picture 13" descr="SJSU-logo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713" y="6172200"/>
            <a:ext cx="639762" cy="606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/>
          <p:cNvSpPr txBox="1"/>
          <p:nvPr userDrawn="1"/>
        </p:nvSpPr>
        <p:spPr>
          <a:xfrm>
            <a:off x="1097318" y="6263609"/>
            <a:ext cx="18004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/>
              <a:t>Computer</a:t>
            </a:r>
            <a:r>
              <a:rPr lang="en-US" sz="1000" baseline="0" dirty="0" smtClean="0"/>
              <a:t> Engineering Dept.</a:t>
            </a:r>
          </a:p>
          <a:p>
            <a:r>
              <a:rPr lang="en-US" sz="1000" baseline="0" dirty="0" smtClean="0"/>
              <a:t>Fall 2017: September </a:t>
            </a:r>
            <a:r>
              <a:rPr lang="en-US" sz="1000" baseline="0" dirty="0" smtClean="0"/>
              <a:t>28</a:t>
            </a:r>
            <a:endParaRPr lang="en-US" sz="1000" dirty="0"/>
          </a:p>
        </p:txBody>
      </p:sp>
      <p:sp>
        <p:nvSpPr>
          <p:cNvPr id="15" name="TextBox 14"/>
          <p:cNvSpPr txBox="1"/>
          <p:nvPr userDrawn="1"/>
        </p:nvSpPr>
        <p:spPr>
          <a:xfrm>
            <a:off x="3328239" y="6263609"/>
            <a:ext cx="27655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 smtClean="0"/>
              <a:t>CMPE 280: Web UI Design</a:t>
            </a:r>
            <a:r>
              <a:rPr lang="en-US" sz="1000" baseline="0" dirty="0" smtClean="0"/>
              <a:t> and Development</a:t>
            </a:r>
            <a:br>
              <a:rPr lang="en-US" sz="1000" baseline="0" dirty="0" smtClean="0"/>
            </a:br>
            <a:r>
              <a:rPr lang="en-US" sz="1000" baseline="0" dirty="0" smtClean="0"/>
              <a:t>© R. Mak</a:t>
            </a:r>
            <a:endParaRPr lang="en-US" sz="10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  <a:ea typeface="ＭＳ Ｐゴシック" charset="0"/>
        </a:defRPr>
      </a:lvl2pPr>
      <a:lvl3pPr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  <a:ea typeface="ＭＳ Ｐゴシック" charset="0"/>
        </a:defRPr>
      </a:lvl3pPr>
      <a:lvl4pPr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  <a:ea typeface="ＭＳ Ｐゴシック" charset="0"/>
        </a:defRPr>
      </a:lvl4pPr>
      <a:lvl5pPr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  <a:ea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  <a:ea typeface="ＭＳ Ｐゴシック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  <a:ea typeface="ＭＳ Ｐゴシック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  <a:ea typeface="ＭＳ Ｐゴシック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  <a:ea typeface="ＭＳ Ｐゴシック" charset="0"/>
        </a:defRPr>
      </a:lvl9pPr>
    </p:titleStyle>
    <p:bodyStyle>
      <a:lvl1pPr marL="469900" indent="-469900" algn="l" rtl="0" fontAlgn="base">
        <a:spcBef>
          <a:spcPct val="20000"/>
        </a:spcBef>
        <a:spcAft>
          <a:spcPct val="0"/>
        </a:spcAft>
        <a:buClr>
          <a:schemeClr val="bg2"/>
        </a:buClr>
        <a:buSzPct val="70000"/>
        <a:buFont typeface="Wingdings" charset="0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fontAlgn="base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Wingdings" charset="0"/>
        <a:buChar char="n"/>
        <a:defRPr sz="2400">
          <a:solidFill>
            <a:schemeClr val="tx1"/>
          </a:solidFill>
          <a:latin typeface="+mn-lt"/>
          <a:ea typeface="+mn-ea"/>
        </a:defRPr>
      </a:lvl2pPr>
      <a:lvl3pPr marL="1377950" indent="-468313" algn="l" rtl="0" fontAlgn="base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charset="0"/>
        <a:buChar char="o"/>
        <a:defRPr sz="2000">
          <a:solidFill>
            <a:schemeClr val="tx1"/>
          </a:solidFill>
          <a:latin typeface="+mn-lt"/>
          <a:ea typeface="+mn-ea"/>
        </a:defRPr>
      </a:lvl3pPr>
      <a:lvl4pPr marL="1827213" indent="-43815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Wingdings" charset="0"/>
        <a:buChar char="n"/>
        <a:defRPr sz="1600">
          <a:solidFill>
            <a:schemeClr val="tx1"/>
          </a:solidFill>
          <a:latin typeface="+mn-lt"/>
          <a:ea typeface="+mn-ea"/>
        </a:defRPr>
      </a:lvl4pPr>
      <a:lvl5pPr marL="2297113" indent="-468313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0"/>
        <a:buChar char="o"/>
        <a:defRPr sz="1200">
          <a:solidFill>
            <a:schemeClr val="tx1"/>
          </a:solidFill>
          <a:latin typeface="+mn-lt"/>
          <a:ea typeface="+mn-ea"/>
        </a:defRPr>
      </a:lvl5pPr>
      <a:lvl6pPr marL="2754313" indent="-468313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0"/>
        <a:buChar char="o"/>
        <a:defRPr sz="1200">
          <a:solidFill>
            <a:schemeClr val="tx1"/>
          </a:solidFill>
          <a:latin typeface="+mn-lt"/>
          <a:ea typeface="+mn-ea"/>
        </a:defRPr>
      </a:lvl6pPr>
      <a:lvl7pPr marL="3211513" indent="-468313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0"/>
        <a:buChar char="o"/>
        <a:defRPr sz="1200">
          <a:solidFill>
            <a:schemeClr val="tx1"/>
          </a:solidFill>
          <a:latin typeface="+mn-lt"/>
          <a:ea typeface="+mn-ea"/>
        </a:defRPr>
      </a:lvl7pPr>
      <a:lvl8pPr marL="3668713" indent="-468313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0"/>
        <a:buChar char="o"/>
        <a:defRPr sz="1200">
          <a:solidFill>
            <a:schemeClr val="tx1"/>
          </a:solidFill>
          <a:latin typeface="+mn-lt"/>
          <a:ea typeface="+mn-ea"/>
        </a:defRPr>
      </a:lvl8pPr>
      <a:lvl9pPr marL="4125913" indent="-468313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0"/>
        <a:buChar char="o"/>
        <a:defRPr sz="12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2" Type="http://schemas.openxmlformats.org/officeDocument/2006/relationships/hyperlink" Target="http://www.cs.sjsu.edu/~mak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jqueryui.com/" TargetMode="Externa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jqueryui.com/themeroller/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200" dirty="0" smtClean="0"/>
              <a:t>CMPE 280</a:t>
            </a:r>
            <a:br>
              <a:rPr lang="en-US" sz="3200" dirty="0" smtClean="0"/>
            </a:br>
            <a:r>
              <a:rPr lang="en-US" sz="3200" dirty="0" smtClean="0"/>
              <a:t>Web UI Design and Development</a:t>
            </a:r>
            <a:r>
              <a:rPr lang="en-US" sz="3600" dirty="0" smtClean="0"/>
              <a:t/>
            </a:r>
            <a:br>
              <a:rPr lang="en-US" sz="3600" dirty="0" smtClean="0"/>
            </a:br>
            <a:r>
              <a:rPr lang="en-US" sz="2400" dirty="0" smtClean="0"/>
              <a:t>September </a:t>
            </a:r>
            <a:r>
              <a:rPr lang="en-US" sz="2400" dirty="0" smtClean="0"/>
              <a:t>28 </a:t>
            </a:r>
            <a:r>
              <a:rPr lang="en-US" sz="2400" dirty="0" smtClean="0"/>
              <a:t>Class </a:t>
            </a:r>
            <a:r>
              <a:rPr lang="en-US" sz="2400" dirty="0"/>
              <a:t>Meeting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lnSpc>
                <a:spcPct val="90000"/>
              </a:lnSpc>
            </a:pPr>
            <a:r>
              <a:rPr lang="en-US" dirty="0"/>
              <a:t>Department of Computer </a:t>
            </a:r>
            <a:r>
              <a:rPr lang="en-US" dirty="0" smtClean="0"/>
              <a:t>Engineering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San Jose State University</a:t>
            </a:r>
            <a:br>
              <a:rPr lang="en-US" dirty="0"/>
            </a:br>
            <a:r>
              <a:rPr lang="en-US" sz="1200" dirty="0"/>
              <a:t/>
            </a:r>
            <a:br>
              <a:rPr lang="en-US" sz="1200" dirty="0"/>
            </a:br>
            <a:r>
              <a:rPr lang="en-US" dirty="0" smtClean="0"/>
              <a:t>Fall 2017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Instructor: Ron Mak</a:t>
            </a:r>
          </a:p>
          <a:p>
            <a:pPr algn="ctr">
              <a:lnSpc>
                <a:spcPct val="90000"/>
              </a:lnSpc>
            </a:pPr>
            <a:r>
              <a:rPr lang="en-US" dirty="0">
                <a:hlinkClick r:id="rId2"/>
              </a:rPr>
              <a:t>www.cs.sjsu.edu/~mak</a:t>
            </a:r>
            <a:endParaRPr lang="en-US" dirty="0"/>
          </a:p>
        </p:txBody>
      </p:sp>
      <p:pic>
        <p:nvPicPr>
          <p:cNvPr id="2053" name="Picture 5" descr="sjsu_logo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2638" y="4591050"/>
            <a:ext cx="1096962" cy="1031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1E6F249-8D10-7240-A07E-F66CEC252905}" type="slidenum">
              <a:rPr lang="en-US" smtClean="0"/>
              <a:pPr/>
              <a:t>1</a:t>
            </a:fld>
            <a:endParaRPr lang="en-US"/>
          </a:p>
        </p:txBody>
      </p:sp>
      <p:pic>
        <p:nvPicPr>
          <p:cNvPr id="7" name="Picture 6" descr="Screen Shot 2015-08-23 at 4.03.00 PM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4440" y="4617707"/>
            <a:ext cx="878610" cy="118870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jQuery Object Effects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F0376-0E54-9843-B673-E00D6670E830}" type="slidenum">
              <a:rPr lang="en-US" smtClean="0"/>
              <a:pPr/>
              <a:t>2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914440" y="1417342"/>
          <a:ext cx="7162755" cy="37084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042171"/>
                <a:gridCol w="512058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Method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Operation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i="0" dirty="0" smtClean="0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show()</a:t>
                      </a:r>
                      <a:endParaRPr lang="en-US" b="1" i="0" dirty="0">
                        <a:solidFill>
                          <a:srgbClr val="0000FF"/>
                        </a:solidFill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Make the object visible.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i="0" dirty="0" smtClean="0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hide()</a:t>
                      </a:r>
                      <a:endParaRPr lang="en-US" b="1" i="0" dirty="0">
                        <a:solidFill>
                          <a:srgbClr val="0000FF"/>
                        </a:solidFill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Make the object invisible.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i="0" dirty="0" smtClean="0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toggle()</a:t>
                      </a:r>
                      <a:endParaRPr lang="en-US" b="1" i="0" dirty="0">
                        <a:solidFill>
                          <a:srgbClr val="0000FF"/>
                        </a:solidFill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Toggle visible/invisible.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i="0" dirty="0" err="1" smtClean="0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fadeIn</a:t>
                      </a:r>
                      <a:r>
                        <a:rPr lang="en-US" b="1" i="0" dirty="0" smtClean="0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()</a:t>
                      </a:r>
                      <a:endParaRPr lang="en-US" b="1" i="0" dirty="0">
                        <a:solidFill>
                          <a:srgbClr val="0000FF"/>
                        </a:solidFill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Fade the object in.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i="0" dirty="0" err="1" smtClean="0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fadeOut</a:t>
                      </a:r>
                      <a:r>
                        <a:rPr lang="en-US" b="1" i="0" dirty="0" smtClean="0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()</a:t>
                      </a:r>
                      <a:endParaRPr lang="en-US" b="1" i="0" dirty="0">
                        <a:solidFill>
                          <a:srgbClr val="0000FF"/>
                        </a:solidFill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Fade the object out.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i="0" dirty="0" err="1" smtClean="0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fadeToggle</a:t>
                      </a:r>
                      <a:r>
                        <a:rPr lang="en-US" b="1" i="0" dirty="0" smtClean="0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()</a:t>
                      </a:r>
                      <a:endParaRPr lang="en-US" b="1" i="0" dirty="0">
                        <a:solidFill>
                          <a:srgbClr val="0000FF"/>
                        </a:solidFill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Toggle fade in/fade out.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i="0" dirty="0" err="1" smtClean="0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slideDown</a:t>
                      </a:r>
                      <a:r>
                        <a:rPr lang="en-US" b="1" i="0" dirty="0" smtClean="0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()</a:t>
                      </a:r>
                      <a:endParaRPr lang="en-US" b="1" i="0" dirty="0">
                        <a:solidFill>
                          <a:srgbClr val="0000FF"/>
                        </a:solidFill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Slide the object into view from top</a:t>
                      </a:r>
                      <a:r>
                        <a:rPr lang="en-US" baseline="0" dirty="0" smtClean="0"/>
                        <a:t> to bottom.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i="0" dirty="0" err="1" smtClean="0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slideUp</a:t>
                      </a:r>
                      <a:r>
                        <a:rPr lang="en-US" b="1" i="0" dirty="0" smtClean="0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()</a:t>
                      </a:r>
                      <a:endParaRPr lang="en-US" b="1" i="0" dirty="0">
                        <a:solidFill>
                          <a:srgbClr val="0000FF"/>
                        </a:solidFill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Slide the object out of view from bottom </a:t>
                      </a:r>
                      <a:r>
                        <a:rPr lang="en-US" baseline="0" dirty="0" smtClean="0"/>
                        <a:t>to top.</a:t>
                      </a:r>
                      <a:endParaRPr lang="en-US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i="0" dirty="0" err="1" smtClean="0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slideToggle</a:t>
                      </a:r>
                      <a:r>
                        <a:rPr lang="en-US" b="1" i="0" dirty="0" smtClean="0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()</a:t>
                      </a:r>
                      <a:endParaRPr lang="en-US" b="1" i="0" dirty="0">
                        <a:solidFill>
                          <a:srgbClr val="0000FF"/>
                        </a:solidFill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Toggle slide down/slide up.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317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jQuery Object </a:t>
            </a:r>
            <a:r>
              <a:rPr lang="en-US" dirty="0" smtClean="0"/>
              <a:t>Effects</a:t>
            </a:r>
            <a:r>
              <a:rPr lang="en-US" i="1" dirty="0" smtClean="0"/>
              <a:t>, cont’d</a:t>
            </a:r>
            <a:endParaRPr lang="en-US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F0376-0E54-9843-B673-E00D6670E830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23875" y="1309688"/>
            <a:ext cx="7854130" cy="4770537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 New"/>
                <a:cs typeface="Courier New"/>
              </a:rPr>
              <a:t>&lt;body&gt;</a:t>
            </a:r>
          </a:p>
          <a:p>
            <a:r>
              <a:rPr lang="en-US" b="1" dirty="0">
                <a:latin typeface="Courier New"/>
                <a:cs typeface="Courier New"/>
              </a:rPr>
              <a:t>    &lt;h1</a:t>
            </a:r>
            <a:r>
              <a:rPr lang="en-US" b="1" dirty="0" smtClean="0">
                <a:latin typeface="Courier New"/>
                <a:cs typeface="Courier New"/>
              </a:rPr>
              <a:t>&gt;Object Effects</a:t>
            </a:r>
            <a:r>
              <a:rPr lang="en-US" b="1" dirty="0">
                <a:latin typeface="Courier New"/>
                <a:cs typeface="Courier New"/>
              </a:rPr>
              <a:t>&lt;/h1&gt;</a:t>
            </a:r>
          </a:p>
          <a:p>
            <a:r>
              <a:rPr lang="en-US" b="1" dirty="0">
                <a:latin typeface="Courier New"/>
                <a:cs typeface="Courier New"/>
              </a:rPr>
              <a:t>    </a:t>
            </a:r>
          </a:p>
          <a:p>
            <a:r>
              <a:rPr lang="en-US" b="1" dirty="0">
                <a:latin typeface="Courier New"/>
                <a:cs typeface="Courier New"/>
              </a:rPr>
              <a:t>    &lt;div id="buttons"&gt;</a:t>
            </a:r>
          </a:p>
          <a:p>
            <a:r>
              <a:rPr lang="pl-PL" b="1" dirty="0">
                <a:latin typeface="Courier New"/>
                <a:cs typeface="Courier New"/>
              </a:rPr>
              <a:t>        &lt;h2 id="show"&gt;Show&lt;/h2&gt;</a:t>
            </a:r>
          </a:p>
          <a:p>
            <a:r>
              <a:rPr lang="pl-PL" b="1" dirty="0">
                <a:latin typeface="Courier New"/>
                <a:cs typeface="Courier New"/>
              </a:rPr>
              <a:t>        &lt;h2 id="</a:t>
            </a:r>
            <a:r>
              <a:rPr lang="pl-PL" b="1" dirty="0" err="1">
                <a:latin typeface="Courier New"/>
                <a:cs typeface="Courier New"/>
              </a:rPr>
              <a:t>hide</a:t>
            </a:r>
            <a:r>
              <a:rPr lang="pl-PL" b="1" dirty="0">
                <a:latin typeface="Courier New"/>
                <a:cs typeface="Courier New"/>
              </a:rPr>
              <a:t>"&gt;</a:t>
            </a:r>
            <a:r>
              <a:rPr lang="pl-PL" b="1" dirty="0" err="1">
                <a:latin typeface="Courier New"/>
                <a:cs typeface="Courier New"/>
              </a:rPr>
              <a:t>Hide</a:t>
            </a:r>
            <a:r>
              <a:rPr lang="pl-PL" b="1" dirty="0">
                <a:latin typeface="Courier New"/>
                <a:cs typeface="Courier New"/>
              </a:rPr>
              <a:t>&lt;/h2&gt;</a:t>
            </a:r>
          </a:p>
          <a:p>
            <a:r>
              <a:rPr lang="it-IT" b="1" dirty="0">
                <a:latin typeface="Courier New"/>
                <a:cs typeface="Courier New"/>
              </a:rPr>
              <a:t>        &lt;h2 id="</a:t>
            </a:r>
            <a:r>
              <a:rPr lang="it-IT" b="1" dirty="0" err="1">
                <a:latin typeface="Courier New"/>
                <a:cs typeface="Courier New"/>
              </a:rPr>
              <a:t>toggle</a:t>
            </a:r>
            <a:r>
              <a:rPr lang="it-IT" b="1" dirty="0">
                <a:latin typeface="Courier New"/>
                <a:cs typeface="Courier New"/>
              </a:rPr>
              <a:t>"&gt;</a:t>
            </a:r>
            <a:r>
              <a:rPr lang="it-IT" b="1" dirty="0" err="1">
                <a:latin typeface="Courier New"/>
                <a:cs typeface="Courier New"/>
              </a:rPr>
              <a:t>Toggle</a:t>
            </a:r>
            <a:r>
              <a:rPr lang="it-IT" b="1" dirty="0">
                <a:latin typeface="Courier New"/>
                <a:cs typeface="Courier New"/>
              </a:rPr>
              <a:t>&lt;/h2&gt;</a:t>
            </a:r>
          </a:p>
          <a:p>
            <a:r>
              <a:rPr lang="it-IT" b="1" dirty="0">
                <a:latin typeface="Courier New"/>
                <a:cs typeface="Courier New"/>
              </a:rPr>
              <a:t>        &lt;h2 id="</a:t>
            </a:r>
            <a:r>
              <a:rPr lang="it-IT" b="1" dirty="0" err="1">
                <a:latin typeface="Courier New"/>
                <a:cs typeface="Courier New"/>
              </a:rPr>
              <a:t>slideDown</a:t>
            </a:r>
            <a:r>
              <a:rPr lang="it-IT" b="1" dirty="0">
                <a:latin typeface="Courier New"/>
                <a:cs typeface="Courier New"/>
              </a:rPr>
              <a:t>"&gt;Slide Down&lt;/h2&gt;</a:t>
            </a:r>
          </a:p>
          <a:p>
            <a:r>
              <a:rPr lang="it-IT" b="1" dirty="0">
                <a:latin typeface="Courier New"/>
                <a:cs typeface="Courier New"/>
              </a:rPr>
              <a:t>        &lt;h2 id="</a:t>
            </a:r>
            <a:r>
              <a:rPr lang="it-IT" b="1" dirty="0" err="1">
                <a:latin typeface="Courier New"/>
                <a:cs typeface="Courier New"/>
              </a:rPr>
              <a:t>slideUp</a:t>
            </a:r>
            <a:r>
              <a:rPr lang="it-IT" b="1" dirty="0">
                <a:latin typeface="Courier New"/>
                <a:cs typeface="Courier New"/>
              </a:rPr>
              <a:t>"&gt;Slide Up&lt;/h2&gt;</a:t>
            </a:r>
          </a:p>
          <a:p>
            <a:r>
              <a:rPr lang="sv-SE" b="1" dirty="0">
                <a:latin typeface="Courier New"/>
                <a:cs typeface="Courier New"/>
              </a:rPr>
              <a:t>        &lt;h2 id="</a:t>
            </a:r>
            <a:r>
              <a:rPr lang="sv-SE" b="1" dirty="0" err="1">
                <a:latin typeface="Courier New"/>
                <a:cs typeface="Courier New"/>
              </a:rPr>
              <a:t>fadeIn</a:t>
            </a:r>
            <a:r>
              <a:rPr lang="sv-SE" b="1" dirty="0">
                <a:latin typeface="Courier New"/>
                <a:cs typeface="Courier New"/>
              </a:rPr>
              <a:t>"&gt;</a:t>
            </a:r>
            <a:r>
              <a:rPr lang="sv-SE" b="1" dirty="0" err="1">
                <a:latin typeface="Courier New"/>
                <a:cs typeface="Courier New"/>
              </a:rPr>
              <a:t>Fade</a:t>
            </a:r>
            <a:r>
              <a:rPr lang="sv-SE" b="1" dirty="0">
                <a:latin typeface="Courier New"/>
                <a:cs typeface="Courier New"/>
              </a:rPr>
              <a:t> In&lt;/h2&gt;</a:t>
            </a:r>
          </a:p>
          <a:p>
            <a:r>
              <a:rPr lang="pt-BR" b="1" dirty="0">
                <a:latin typeface="Courier New"/>
                <a:cs typeface="Courier New"/>
              </a:rPr>
              <a:t>        &lt;h2 id="</a:t>
            </a:r>
            <a:r>
              <a:rPr lang="pt-BR" b="1" dirty="0" err="1">
                <a:latin typeface="Courier New"/>
                <a:cs typeface="Courier New"/>
              </a:rPr>
              <a:t>fadeOut</a:t>
            </a:r>
            <a:r>
              <a:rPr lang="pt-BR" b="1" dirty="0">
                <a:latin typeface="Courier New"/>
                <a:cs typeface="Courier New"/>
              </a:rPr>
              <a:t>"&gt;Fade Out&lt;/h2&gt;</a:t>
            </a:r>
          </a:p>
          <a:p>
            <a:r>
              <a:rPr lang="pl-PL" b="1" dirty="0">
                <a:latin typeface="Courier New"/>
                <a:cs typeface="Courier New"/>
              </a:rPr>
              <a:t>        &lt;h2 id="</a:t>
            </a:r>
            <a:r>
              <a:rPr lang="pl-PL" b="1" dirty="0" err="1">
                <a:latin typeface="Courier New"/>
                <a:cs typeface="Courier New"/>
              </a:rPr>
              <a:t>wrap</a:t>
            </a:r>
            <a:r>
              <a:rPr lang="pl-PL" b="1" dirty="0">
                <a:latin typeface="Courier New"/>
                <a:cs typeface="Courier New"/>
              </a:rPr>
              <a:t>"&gt;</a:t>
            </a:r>
            <a:r>
              <a:rPr lang="pl-PL" b="1" dirty="0" err="1">
                <a:latin typeface="Courier New"/>
                <a:cs typeface="Courier New"/>
              </a:rPr>
              <a:t>Wrap</a:t>
            </a:r>
            <a:r>
              <a:rPr lang="pl-PL" b="1" dirty="0">
                <a:latin typeface="Courier New"/>
                <a:cs typeface="Courier New"/>
              </a:rPr>
              <a:t>&lt;/h2&gt;</a:t>
            </a:r>
          </a:p>
          <a:p>
            <a:r>
              <a:rPr lang="pl-PL" b="1" dirty="0">
                <a:latin typeface="Courier New"/>
                <a:cs typeface="Courier New"/>
              </a:rPr>
              <a:t>        &lt;h2 id="</a:t>
            </a:r>
            <a:r>
              <a:rPr lang="pl-PL" b="1" dirty="0" err="1">
                <a:latin typeface="Courier New"/>
                <a:cs typeface="Courier New"/>
              </a:rPr>
              <a:t>unwrap</a:t>
            </a:r>
            <a:r>
              <a:rPr lang="pl-PL" b="1" dirty="0">
                <a:latin typeface="Courier New"/>
                <a:cs typeface="Courier New"/>
              </a:rPr>
              <a:t>"&gt;</a:t>
            </a:r>
            <a:r>
              <a:rPr lang="pl-PL" b="1" dirty="0" err="1">
                <a:latin typeface="Courier New"/>
                <a:cs typeface="Courier New"/>
              </a:rPr>
              <a:t>Unwrap</a:t>
            </a:r>
            <a:r>
              <a:rPr lang="pl-PL" b="1" dirty="0">
                <a:latin typeface="Courier New"/>
                <a:cs typeface="Courier New"/>
              </a:rPr>
              <a:t>&lt;/h2&gt;</a:t>
            </a:r>
          </a:p>
          <a:p>
            <a:r>
              <a:rPr lang="pl-PL" b="1" dirty="0">
                <a:latin typeface="Courier New"/>
                <a:cs typeface="Courier New"/>
              </a:rPr>
              <a:t>    &lt;/div&gt;</a:t>
            </a:r>
          </a:p>
          <a:p>
            <a:endParaRPr lang="pl-PL" b="1" dirty="0">
              <a:latin typeface="Courier New"/>
              <a:cs typeface="Courier New"/>
            </a:endParaRPr>
          </a:p>
          <a:p>
            <a:r>
              <a:rPr lang="pl-PL" b="1" dirty="0">
                <a:latin typeface="Courier New"/>
                <a:cs typeface="Courier New"/>
              </a:rPr>
              <a:t>    &lt;p id="</a:t>
            </a:r>
            <a:r>
              <a:rPr lang="pl-PL" b="1" dirty="0" err="1">
                <a:latin typeface="Courier New"/>
                <a:cs typeface="Courier New"/>
              </a:rPr>
              <a:t>content</a:t>
            </a:r>
            <a:r>
              <a:rPr lang="pl-PL" b="1" dirty="0">
                <a:latin typeface="Courier New"/>
                <a:cs typeface="Courier New"/>
              </a:rPr>
              <a:t>"&gt;</a:t>
            </a:r>
          </a:p>
          <a:p>
            <a:r>
              <a:rPr lang="pl-PL" b="1" dirty="0">
                <a:latin typeface="Courier New"/>
                <a:cs typeface="Courier New"/>
              </a:rPr>
              <a:t>        &lt;</a:t>
            </a:r>
            <a:r>
              <a:rPr lang="pl-PL" b="1" dirty="0" err="1">
                <a:latin typeface="Courier New"/>
                <a:cs typeface="Courier New"/>
              </a:rPr>
              <a:t>img</a:t>
            </a:r>
            <a:r>
              <a:rPr lang="pl-PL" b="1" dirty="0">
                <a:latin typeface="Courier New"/>
                <a:cs typeface="Courier New"/>
              </a:rPr>
              <a:t> </a:t>
            </a:r>
            <a:r>
              <a:rPr lang="pl-PL" b="1" dirty="0" err="1">
                <a:latin typeface="Courier New"/>
                <a:cs typeface="Courier New"/>
              </a:rPr>
              <a:t>src</a:t>
            </a:r>
            <a:r>
              <a:rPr lang="pl-PL" b="1" dirty="0">
                <a:latin typeface="Courier New"/>
                <a:cs typeface="Courier New"/>
              </a:rPr>
              <a:t>="</a:t>
            </a:r>
            <a:r>
              <a:rPr lang="pl-PL" b="1" dirty="0" err="1">
                <a:latin typeface="Courier New"/>
                <a:cs typeface="Courier New"/>
              </a:rPr>
              <a:t>images</a:t>
            </a:r>
            <a:r>
              <a:rPr lang="pl-PL" b="1" dirty="0">
                <a:latin typeface="Courier New"/>
                <a:cs typeface="Courier New"/>
              </a:rPr>
              <a:t>/</a:t>
            </a:r>
            <a:r>
              <a:rPr lang="pl-PL" b="1" dirty="0" err="1">
                <a:latin typeface="Courier New"/>
                <a:cs typeface="Courier New"/>
              </a:rPr>
              <a:t>Bristol.png</a:t>
            </a:r>
            <a:r>
              <a:rPr lang="pl-PL" b="1" dirty="0">
                <a:latin typeface="Courier New"/>
                <a:cs typeface="Courier New"/>
              </a:rPr>
              <a:t>" </a:t>
            </a:r>
            <a:r>
              <a:rPr lang="pl-PL" b="1" dirty="0" err="1">
                <a:latin typeface="Courier New"/>
                <a:cs typeface="Courier New"/>
              </a:rPr>
              <a:t>width</a:t>
            </a:r>
            <a:r>
              <a:rPr lang="pl-PL" b="1" dirty="0">
                <a:latin typeface="Courier New"/>
                <a:cs typeface="Courier New"/>
              </a:rPr>
              <a:t>="400" id="image"/&gt;</a:t>
            </a:r>
          </a:p>
          <a:p>
            <a:r>
              <a:rPr lang="pl-PL" b="1" dirty="0">
                <a:latin typeface="Courier New"/>
                <a:cs typeface="Courier New"/>
              </a:rPr>
              <a:t>    &lt;/p&gt;</a:t>
            </a:r>
          </a:p>
          <a:p>
            <a:r>
              <a:rPr lang="pl-PL" b="1" dirty="0">
                <a:latin typeface="Courier New"/>
                <a:cs typeface="Courier New"/>
              </a:rPr>
              <a:t>&lt;/body</a:t>
            </a:r>
            <a:r>
              <a:rPr lang="pl-PL" b="1" dirty="0" smtClean="0">
                <a:latin typeface="Courier New"/>
                <a:cs typeface="Courier New"/>
              </a:rPr>
              <a:t>&gt;</a:t>
            </a:r>
            <a:endParaRPr lang="pl-PL" b="1" dirty="0">
              <a:latin typeface="Courier New"/>
              <a:cs typeface="Courier New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170" y="1444544"/>
            <a:ext cx="1230024" cy="338554"/>
          </a:xfrm>
          <a:prstGeom prst="rect">
            <a:avLst/>
          </a:prstGeom>
          <a:solidFill>
            <a:srgbClr val="0033CC"/>
          </a:solidFill>
        </p:spPr>
        <p:txBody>
          <a:bodyPr wrap="none" rtlCol="0">
            <a:spAutoFit/>
          </a:bodyPr>
          <a:lstStyle/>
          <a:p>
            <a:r>
              <a:rPr lang="en-US" dirty="0" err="1" smtClean="0">
                <a:solidFill>
                  <a:srgbClr val="FFFF00"/>
                </a:solidFill>
              </a:rPr>
              <a:t>effects.html</a:t>
            </a:r>
            <a:endParaRPr lang="en-US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9096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jQuery Object Effects</a:t>
            </a:r>
            <a:r>
              <a:rPr lang="en-US" i="1" dirty="0"/>
              <a:t>, cont’d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F0376-0E54-9843-B673-E00D6670E830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652472" y="1234464"/>
            <a:ext cx="4296942" cy="5509201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 New"/>
                <a:cs typeface="Courier New"/>
              </a:rPr>
              <a:t>#buttons {</a:t>
            </a:r>
          </a:p>
          <a:p>
            <a:r>
              <a:rPr lang="en-US" b="1" dirty="0">
                <a:latin typeface="Courier New"/>
                <a:cs typeface="Courier New"/>
              </a:rPr>
              <a:t>    float: left;</a:t>
            </a:r>
          </a:p>
          <a:p>
            <a:r>
              <a:rPr lang="en-US" b="1" dirty="0">
                <a:latin typeface="Courier New"/>
                <a:cs typeface="Courier New"/>
              </a:rPr>
              <a:t>}</a:t>
            </a:r>
          </a:p>
          <a:p>
            <a:endParaRPr lang="en-US" b="1" dirty="0">
              <a:latin typeface="Courier New"/>
              <a:cs typeface="Courier New"/>
            </a:endParaRPr>
          </a:p>
          <a:p>
            <a:r>
              <a:rPr lang="en-US" b="1" dirty="0">
                <a:latin typeface="Courier New"/>
                <a:cs typeface="Courier New"/>
              </a:rPr>
              <a:t>#content {</a:t>
            </a:r>
          </a:p>
          <a:p>
            <a:r>
              <a:rPr lang="en-US" b="1" dirty="0">
                <a:latin typeface="Courier New"/>
                <a:cs typeface="Courier New"/>
              </a:rPr>
              <a:t>    float: right;</a:t>
            </a:r>
          </a:p>
          <a:p>
            <a:r>
              <a:rPr lang="en-US" b="1" dirty="0">
                <a:latin typeface="Courier New"/>
                <a:cs typeface="Courier New"/>
              </a:rPr>
              <a:t>}</a:t>
            </a:r>
          </a:p>
          <a:p>
            <a:endParaRPr lang="en-US" b="1" dirty="0">
              <a:latin typeface="Courier New"/>
              <a:cs typeface="Courier New"/>
            </a:endParaRPr>
          </a:p>
          <a:p>
            <a:r>
              <a:rPr lang="en-US" b="1" dirty="0">
                <a:latin typeface="Courier New"/>
                <a:cs typeface="Courier New"/>
              </a:rPr>
              <a:t>h2 {</a:t>
            </a:r>
          </a:p>
          <a:p>
            <a:r>
              <a:rPr lang="de-DE" b="1" dirty="0">
                <a:latin typeface="Courier New"/>
                <a:cs typeface="Courier New"/>
              </a:rPr>
              <a:t>    </a:t>
            </a:r>
            <a:r>
              <a:rPr lang="de-DE" b="1" dirty="0" err="1">
                <a:latin typeface="Courier New"/>
                <a:cs typeface="Courier New"/>
              </a:rPr>
              <a:t>width</a:t>
            </a:r>
            <a:r>
              <a:rPr lang="de-DE" b="1" dirty="0">
                <a:latin typeface="Courier New"/>
                <a:cs typeface="Courier New"/>
              </a:rPr>
              <a:t>: 10em;</a:t>
            </a:r>
          </a:p>
          <a:p>
            <a:r>
              <a:rPr lang="de-DE" b="1" dirty="0">
                <a:latin typeface="Courier New"/>
                <a:cs typeface="Courier New"/>
              </a:rPr>
              <a:t>    </a:t>
            </a:r>
            <a:r>
              <a:rPr lang="de-DE" b="1" dirty="0" err="1">
                <a:latin typeface="Courier New"/>
                <a:cs typeface="Courier New"/>
              </a:rPr>
              <a:t>border</a:t>
            </a:r>
            <a:r>
              <a:rPr lang="de-DE" b="1" dirty="0">
                <a:latin typeface="Courier New"/>
                <a:cs typeface="Courier New"/>
              </a:rPr>
              <a:t>: 3px </a:t>
            </a:r>
            <a:r>
              <a:rPr lang="de-DE" b="1" dirty="0" err="1">
                <a:latin typeface="Courier New"/>
                <a:cs typeface="Courier New"/>
              </a:rPr>
              <a:t>outset</a:t>
            </a:r>
            <a:r>
              <a:rPr lang="de-DE" b="1" dirty="0">
                <a:latin typeface="Courier New"/>
                <a:cs typeface="Courier New"/>
              </a:rPr>
              <a:t> </a:t>
            </a:r>
            <a:r>
              <a:rPr lang="de-DE" b="1" dirty="0" err="1">
                <a:latin typeface="Courier New"/>
                <a:cs typeface="Courier New"/>
              </a:rPr>
              <a:t>black</a:t>
            </a:r>
            <a:r>
              <a:rPr lang="de-DE" b="1" dirty="0">
                <a:latin typeface="Courier New"/>
                <a:cs typeface="Courier New"/>
              </a:rPr>
              <a:t>;</a:t>
            </a:r>
          </a:p>
          <a:p>
            <a:r>
              <a:rPr lang="de-DE" b="1" dirty="0">
                <a:latin typeface="Courier New"/>
                <a:cs typeface="Courier New"/>
              </a:rPr>
              <a:t>    background-color: </a:t>
            </a:r>
            <a:r>
              <a:rPr lang="de-DE" b="1" dirty="0" err="1">
                <a:latin typeface="Courier New"/>
                <a:cs typeface="Courier New"/>
              </a:rPr>
              <a:t>lightgray</a:t>
            </a:r>
            <a:r>
              <a:rPr lang="de-DE" b="1" dirty="0">
                <a:latin typeface="Courier New"/>
                <a:cs typeface="Courier New"/>
              </a:rPr>
              <a:t>;</a:t>
            </a:r>
          </a:p>
          <a:p>
            <a:r>
              <a:rPr lang="de-DE" b="1" dirty="0">
                <a:latin typeface="Courier New"/>
                <a:cs typeface="Courier New"/>
              </a:rPr>
              <a:t>    text-</a:t>
            </a:r>
            <a:r>
              <a:rPr lang="de-DE" b="1" dirty="0" err="1">
                <a:latin typeface="Courier New"/>
                <a:cs typeface="Courier New"/>
              </a:rPr>
              <a:t>align</a:t>
            </a:r>
            <a:r>
              <a:rPr lang="de-DE" b="1" dirty="0">
                <a:latin typeface="Courier New"/>
                <a:cs typeface="Courier New"/>
              </a:rPr>
              <a:t>: </a:t>
            </a:r>
            <a:r>
              <a:rPr lang="de-DE" b="1" dirty="0" err="1">
                <a:latin typeface="Courier New"/>
                <a:cs typeface="Courier New"/>
              </a:rPr>
              <a:t>center</a:t>
            </a:r>
            <a:r>
              <a:rPr lang="de-DE" b="1" dirty="0">
                <a:latin typeface="Courier New"/>
                <a:cs typeface="Courier New"/>
              </a:rPr>
              <a:t>;</a:t>
            </a:r>
          </a:p>
          <a:p>
            <a:r>
              <a:rPr lang="de-DE" b="1" dirty="0">
                <a:latin typeface="Courier New"/>
                <a:cs typeface="Courier New"/>
              </a:rPr>
              <a:t>    </a:t>
            </a:r>
            <a:r>
              <a:rPr lang="de-DE" b="1" dirty="0" err="1">
                <a:latin typeface="Courier New"/>
                <a:cs typeface="Courier New"/>
              </a:rPr>
              <a:t>font-family</a:t>
            </a:r>
            <a:r>
              <a:rPr lang="de-DE" b="1" dirty="0">
                <a:latin typeface="Courier New"/>
                <a:cs typeface="Courier New"/>
              </a:rPr>
              <a:t>: </a:t>
            </a:r>
            <a:r>
              <a:rPr lang="de-DE" b="1" dirty="0" err="1">
                <a:latin typeface="Courier New"/>
                <a:cs typeface="Courier New"/>
              </a:rPr>
              <a:t>sans-serif</a:t>
            </a:r>
            <a:r>
              <a:rPr lang="de-DE" b="1" dirty="0">
                <a:latin typeface="Courier New"/>
                <a:cs typeface="Courier New"/>
              </a:rPr>
              <a:t>;</a:t>
            </a:r>
          </a:p>
          <a:p>
            <a:r>
              <a:rPr lang="de-DE" b="1" dirty="0">
                <a:latin typeface="Courier New"/>
                <a:cs typeface="Courier New"/>
              </a:rPr>
              <a:t>    </a:t>
            </a:r>
            <a:r>
              <a:rPr lang="de-DE" b="1" dirty="0" err="1">
                <a:latin typeface="Courier New"/>
                <a:cs typeface="Courier New"/>
              </a:rPr>
              <a:t>border</a:t>
            </a:r>
            <a:r>
              <a:rPr lang="de-DE" b="1" dirty="0">
                <a:latin typeface="Courier New"/>
                <a:cs typeface="Courier New"/>
              </a:rPr>
              <a:t>-radius: 5px;</a:t>
            </a:r>
          </a:p>
          <a:p>
            <a:r>
              <a:rPr lang="de-DE" b="1" dirty="0">
                <a:latin typeface="Courier New"/>
                <a:cs typeface="Courier New"/>
              </a:rPr>
              <a:t>    box-</a:t>
            </a:r>
            <a:r>
              <a:rPr lang="de-DE" b="1" dirty="0" err="1">
                <a:latin typeface="Courier New"/>
                <a:cs typeface="Courier New"/>
              </a:rPr>
              <a:t>shadow</a:t>
            </a:r>
            <a:r>
              <a:rPr lang="de-DE" b="1" dirty="0">
                <a:latin typeface="Courier New"/>
                <a:cs typeface="Courier New"/>
              </a:rPr>
              <a:t>: 5px 5px 5px </a:t>
            </a:r>
            <a:r>
              <a:rPr lang="de-DE" b="1" dirty="0" err="1">
                <a:latin typeface="Courier New"/>
                <a:cs typeface="Courier New"/>
              </a:rPr>
              <a:t>gray</a:t>
            </a:r>
            <a:r>
              <a:rPr lang="de-DE" b="1" dirty="0">
                <a:latin typeface="Courier New"/>
                <a:cs typeface="Courier New"/>
              </a:rPr>
              <a:t>;</a:t>
            </a:r>
          </a:p>
          <a:p>
            <a:r>
              <a:rPr lang="de-DE" b="1" dirty="0">
                <a:latin typeface="Courier New"/>
                <a:cs typeface="Courier New"/>
              </a:rPr>
              <a:t>}</a:t>
            </a:r>
          </a:p>
          <a:p>
            <a:endParaRPr lang="de-DE" b="1" dirty="0">
              <a:latin typeface="Courier New"/>
              <a:cs typeface="Courier New"/>
            </a:endParaRPr>
          </a:p>
          <a:p>
            <a:r>
              <a:rPr lang="de-DE" b="1" dirty="0">
                <a:latin typeface="Courier New"/>
                <a:cs typeface="Courier New"/>
              </a:rPr>
              <a:t>.</a:t>
            </a:r>
            <a:r>
              <a:rPr lang="de-DE" b="1" dirty="0" err="1">
                <a:latin typeface="Courier New"/>
                <a:cs typeface="Courier New"/>
              </a:rPr>
              <a:t>wrapped</a:t>
            </a:r>
            <a:r>
              <a:rPr lang="de-DE" b="1" dirty="0">
                <a:latin typeface="Courier New"/>
                <a:cs typeface="Courier New"/>
              </a:rPr>
              <a:t> {</a:t>
            </a:r>
          </a:p>
          <a:p>
            <a:r>
              <a:rPr lang="de-DE" b="1" dirty="0">
                <a:latin typeface="Courier New"/>
                <a:cs typeface="Courier New"/>
              </a:rPr>
              <a:t>    </a:t>
            </a:r>
            <a:r>
              <a:rPr lang="de-DE" b="1" dirty="0" err="1">
                <a:latin typeface="Courier New"/>
                <a:cs typeface="Courier New"/>
              </a:rPr>
              <a:t>border</a:t>
            </a:r>
            <a:r>
              <a:rPr lang="de-DE" b="1" dirty="0">
                <a:latin typeface="Courier New"/>
                <a:cs typeface="Courier New"/>
              </a:rPr>
              <a:t>: 3px solid </a:t>
            </a:r>
            <a:r>
              <a:rPr lang="de-DE" b="1" dirty="0" err="1">
                <a:latin typeface="Courier New"/>
                <a:cs typeface="Courier New"/>
              </a:rPr>
              <a:t>red</a:t>
            </a:r>
            <a:r>
              <a:rPr lang="de-DE" b="1" dirty="0">
                <a:latin typeface="Courier New"/>
                <a:cs typeface="Courier New"/>
              </a:rPr>
              <a:t>;</a:t>
            </a:r>
          </a:p>
          <a:p>
            <a:r>
              <a:rPr lang="en-US" b="1" dirty="0">
                <a:latin typeface="Courier New"/>
                <a:cs typeface="Courier New"/>
              </a:rPr>
              <a:t>    padding: 2px;</a:t>
            </a:r>
          </a:p>
          <a:p>
            <a:r>
              <a:rPr lang="en-US" b="1" dirty="0">
                <a:latin typeface="Courier New"/>
                <a:cs typeface="Courier New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585" y="1325903"/>
            <a:ext cx="1150175" cy="338554"/>
          </a:xfrm>
          <a:prstGeom prst="rect">
            <a:avLst/>
          </a:prstGeom>
          <a:solidFill>
            <a:srgbClr val="0033CC"/>
          </a:solidFill>
        </p:spPr>
        <p:txBody>
          <a:bodyPr wrap="none" rtlCol="0">
            <a:spAutoFit/>
          </a:bodyPr>
          <a:lstStyle/>
          <a:p>
            <a:r>
              <a:rPr lang="en-US" dirty="0" err="1" smtClean="0">
                <a:solidFill>
                  <a:srgbClr val="FFFF00"/>
                </a:solidFill>
              </a:rPr>
              <a:t>effects.css</a:t>
            </a:r>
            <a:endParaRPr lang="en-US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4205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jQuery Object Effects</a:t>
            </a:r>
            <a:r>
              <a:rPr lang="en-US" i="1" dirty="0"/>
              <a:t>, cont’d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F0376-0E54-9843-B673-E00D6670E830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866668" y="1234464"/>
            <a:ext cx="5448502" cy="5047537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txBody>
          <a:bodyPr wrap="none" rtlCol="0">
            <a:spAutoFit/>
          </a:bodyPr>
          <a:lstStyle/>
          <a:p>
            <a:r>
              <a:rPr lang="en-US" sz="1800" b="1" dirty="0">
                <a:latin typeface="Courier New"/>
                <a:cs typeface="Courier New"/>
              </a:rPr>
              <a:t>$(</a:t>
            </a:r>
            <a:r>
              <a:rPr lang="en-US" sz="1800" b="1" dirty="0" err="1">
                <a:latin typeface="Courier New"/>
                <a:cs typeface="Courier New"/>
              </a:rPr>
              <a:t>init</a:t>
            </a:r>
            <a:r>
              <a:rPr lang="en-US" sz="1800" b="1" dirty="0">
                <a:latin typeface="Courier New"/>
                <a:cs typeface="Courier New"/>
              </a:rPr>
              <a:t>);</a:t>
            </a:r>
          </a:p>
          <a:p>
            <a:endParaRPr lang="en-US" sz="1800" b="1" dirty="0">
              <a:latin typeface="Courier New"/>
              <a:cs typeface="Courier New"/>
            </a:endParaRPr>
          </a:p>
          <a:p>
            <a:r>
              <a:rPr lang="en-US" sz="1800" b="1" dirty="0" err="1">
                <a:latin typeface="Courier New"/>
                <a:cs typeface="Courier New"/>
              </a:rPr>
              <a:t>var</a:t>
            </a:r>
            <a:r>
              <a:rPr lang="en-US" sz="1800" b="1" dirty="0">
                <a:latin typeface="Courier New"/>
                <a:cs typeface="Courier New"/>
              </a:rPr>
              <a:t> showing = false;</a:t>
            </a:r>
          </a:p>
          <a:p>
            <a:r>
              <a:rPr lang="en-US" sz="1800" b="1" dirty="0" err="1">
                <a:latin typeface="Courier New"/>
                <a:cs typeface="Courier New"/>
              </a:rPr>
              <a:t>var</a:t>
            </a:r>
            <a:r>
              <a:rPr lang="en-US" sz="1800" b="1" dirty="0">
                <a:latin typeface="Courier New"/>
                <a:cs typeface="Courier New"/>
              </a:rPr>
              <a:t> wrapped = false;</a:t>
            </a:r>
          </a:p>
          <a:p>
            <a:endParaRPr lang="en-US" sz="1800" b="1" dirty="0">
              <a:latin typeface="Courier New"/>
              <a:cs typeface="Courier New"/>
            </a:endParaRPr>
          </a:p>
          <a:p>
            <a:r>
              <a:rPr lang="en-US" sz="1800" b="1" dirty="0">
                <a:latin typeface="Courier New"/>
                <a:cs typeface="Courier New"/>
              </a:rPr>
              <a:t>function </a:t>
            </a:r>
            <a:r>
              <a:rPr lang="en-US" sz="1800" b="1" dirty="0" err="1">
                <a:latin typeface="Courier New"/>
                <a:cs typeface="Courier New"/>
              </a:rPr>
              <a:t>init</a:t>
            </a:r>
            <a:r>
              <a:rPr lang="en-US" sz="1800" b="1" dirty="0">
                <a:latin typeface="Courier New"/>
                <a:cs typeface="Courier New"/>
              </a:rPr>
              <a:t>()</a:t>
            </a:r>
          </a:p>
          <a:p>
            <a:r>
              <a:rPr lang="en-US" sz="1800" b="1" dirty="0">
                <a:latin typeface="Courier New"/>
                <a:cs typeface="Courier New"/>
              </a:rPr>
              <a:t>{</a:t>
            </a:r>
          </a:p>
          <a:p>
            <a:r>
              <a:rPr lang="en-US" sz="1800" b="1" dirty="0">
                <a:latin typeface="Courier New"/>
                <a:cs typeface="Courier New"/>
              </a:rPr>
              <a:t>    $("#content").hide();</a:t>
            </a:r>
          </a:p>
          <a:p>
            <a:r>
              <a:rPr lang="en-US" sz="1800" b="1" dirty="0">
                <a:latin typeface="Courier New"/>
                <a:cs typeface="Courier New"/>
              </a:rPr>
              <a:t>    $("#show").click(</a:t>
            </a:r>
            <a:r>
              <a:rPr lang="en-US" sz="1800" b="1" dirty="0" err="1">
                <a:latin typeface="Courier New"/>
                <a:cs typeface="Courier New"/>
              </a:rPr>
              <a:t>showContent</a:t>
            </a:r>
            <a:r>
              <a:rPr lang="en-US" sz="1800" b="1" dirty="0">
                <a:latin typeface="Courier New"/>
                <a:cs typeface="Courier New"/>
              </a:rPr>
              <a:t>);</a:t>
            </a:r>
          </a:p>
          <a:p>
            <a:r>
              <a:rPr lang="en-US" sz="1800" b="1" dirty="0">
                <a:latin typeface="Courier New"/>
                <a:cs typeface="Courier New"/>
              </a:rPr>
              <a:t>    $("#hide").click(</a:t>
            </a:r>
            <a:r>
              <a:rPr lang="en-US" sz="1800" b="1" dirty="0" err="1">
                <a:latin typeface="Courier New"/>
                <a:cs typeface="Courier New"/>
              </a:rPr>
              <a:t>hideContent</a:t>
            </a:r>
            <a:r>
              <a:rPr lang="en-US" sz="1800" b="1" dirty="0">
                <a:latin typeface="Courier New"/>
                <a:cs typeface="Courier New"/>
              </a:rPr>
              <a:t>);</a:t>
            </a:r>
          </a:p>
          <a:p>
            <a:r>
              <a:rPr lang="en-US" sz="1800" b="1" dirty="0">
                <a:latin typeface="Courier New"/>
                <a:cs typeface="Courier New"/>
              </a:rPr>
              <a:t>    $("#toggle").click(</a:t>
            </a:r>
            <a:r>
              <a:rPr lang="en-US" sz="1800" b="1" dirty="0" err="1">
                <a:latin typeface="Courier New"/>
                <a:cs typeface="Courier New"/>
              </a:rPr>
              <a:t>toggleContent</a:t>
            </a:r>
            <a:r>
              <a:rPr lang="en-US" sz="1800" b="1" dirty="0">
                <a:latin typeface="Courier New"/>
                <a:cs typeface="Courier New"/>
              </a:rPr>
              <a:t>);</a:t>
            </a:r>
          </a:p>
          <a:p>
            <a:r>
              <a:rPr lang="en-US" sz="1800" b="1" dirty="0">
                <a:latin typeface="Courier New"/>
                <a:cs typeface="Courier New"/>
              </a:rPr>
              <a:t>    $("#</a:t>
            </a:r>
            <a:r>
              <a:rPr lang="en-US" sz="1800" b="1" dirty="0" err="1">
                <a:latin typeface="Courier New"/>
                <a:cs typeface="Courier New"/>
              </a:rPr>
              <a:t>slideDown</a:t>
            </a:r>
            <a:r>
              <a:rPr lang="en-US" sz="1800" b="1" dirty="0">
                <a:latin typeface="Courier New"/>
                <a:cs typeface="Courier New"/>
              </a:rPr>
              <a:t>").click(</a:t>
            </a:r>
            <a:r>
              <a:rPr lang="en-US" sz="1800" b="1" dirty="0" err="1">
                <a:latin typeface="Courier New"/>
                <a:cs typeface="Courier New"/>
              </a:rPr>
              <a:t>slideDown</a:t>
            </a:r>
            <a:r>
              <a:rPr lang="en-US" sz="1800" b="1" dirty="0">
                <a:latin typeface="Courier New"/>
                <a:cs typeface="Courier New"/>
              </a:rPr>
              <a:t>);</a:t>
            </a:r>
          </a:p>
          <a:p>
            <a:r>
              <a:rPr lang="en-US" sz="1800" b="1" dirty="0">
                <a:latin typeface="Courier New"/>
                <a:cs typeface="Courier New"/>
              </a:rPr>
              <a:t>    $("#</a:t>
            </a:r>
            <a:r>
              <a:rPr lang="en-US" sz="1800" b="1" dirty="0" err="1">
                <a:latin typeface="Courier New"/>
                <a:cs typeface="Courier New"/>
              </a:rPr>
              <a:t>slideUp</a:t>
            </a:r>
            <a:r>
              <a:rPr lang="en-US" sz="1800" b="1" dirty="0">
                <a:latin typeface="Courier New"/>
                <a:cs typeface="Courier New"/>
              </a:rPr>
              <a:t>").click(</a:t>
            </a:r>
            <a:r>
              <a:rPr lang="en-US" sz="1800" b="1" dirty="0" err="1">
                <a:latin typeface="Courier New"/>
                <a:cs typeface="Courier New"/>
              </a:rPr>
              <a:t>slideUp</a:t>
            </a:r>
            <a:r>
              <a:rPr lang="en-US" sz="1800" b="1" dirty="0">
                <a:latin typeface="Courier New"/>
                <a:cs typeface="Courier New"/>
              </a:rPr>
              <a:t>);</a:t>
            </a:r>
          </a:p>
          <a:p>
            <a:r>
              <a:rPr lang="en-US" sz="1800" b="1" dirty="0">
                <a:latin typeface="Courier New"/>
                <a:cs typeface="Courier New"/>
              </a:rPr>
              <a:t>    $("#</a:t>
            </a:r>
            <a:r>
              <a:rPr lang="en-US" sz="1800" b="1" dirty="0" err="1">
                <a:latin typeface="Courier New"/>
                <a:cs typeface="Courier New"/>
              </a:rPr>
              <a:t>fadeIn</a:t>
            </a:r>
            <a:r>
              <a:rPr lang="en-US" sz="1800" b="1" dirty="0">
                <a:latin typeface="Courier New"/>
                <a:cs typeface="Courier New"/>
              </a:rPr>
              <a:t>").click(</a:t>
            </a:r>
            <a:r>
              <a:rPr lang="en-US" sz="1800" b="1" dirty="0" err="1">
                <a:latin typeface="Courier New"/>
                <a:cs typeface="Courier New"/>
              </a:rPr>
              <a:t>fadeIn</a:t>
            </a:r>
            <a:r>
              <a:rPr lang="en-US" sz="1800" b="1" dirty="0">
                <a:latin typeface="Courier New"/>
                <a:cs typeface="Courier New"/>
              </a:rPr>
              <a:t>);</a:t>
            </a:r>
          </a:p>
          <a:p>
            <a:r>
              <a:rPr lang="en-US" sz="1800" b="1" dirty="0">
                <a:latin typeface="Courier New"/>
                <a:cs typeface="Courier New"/>
              </a:rPr>
              <a:t>    $("#</a:t>
            </a:r>
            <a:r>
              <a:rPr lang="en-US" sz="1800" b="1" dirty="0" err="1">
                <a:latin typeface="Courier New"/>
                <a:cs typeface="Courier New"/>
              </a:rPr>
              <a:t>fadeOut</a:t>
            </a:r>
            <a:r>
              <a:rPr lang="en-US" sz="1800" b="1" dirty="0">
                <a:latin typeface="Courier New"/>
                <a:cs typeface="Courier New"/>
              </a:rPr>
              <a:t>").click(</a:t>
            </a:r>
            <a:r>
              <a:rPr lang="en-US" sz="1800" b="1" dirty="0" err="1">
                <a:latin typeface="Courier New"/>
                <a:cs typeface="Courier New"/>
              </a:rPr>
              <a:t>fadeOut</a:t>
            </a:r>
            <a:r>
              <a:rPr lang="en-US" sz="1800" b="1" dirty="0">
                <a:latin typeface="Courier New"/>
                <a:cs typeface="Courier New"/>
              </a:rPr>
              <a:t>);</a:t>
            </a:r>
          </a:p>
          <a:p>
            <a:r>
              <a:rPr lang="en-US" sz="1800" b="1" dirty="0">
                <a:latin typeface="Courier New"/>
                <a:cs typeface="Courier New"/>
              </a:rPr>
              <a:t>    $("#wrap").click(</a:t>
            </a:r>
            <a:r>
              <a:rPr lang="en-US" sz="1800" b="1" dirty="0" err="1">
                <a:latin typeface="Courier New"/>
                <a:cs typeface="Courier New"/>
              </a:rPr>
              <a:t>wrapImage</a:t>
            </a:r>
            <a:r>
              <a:rPr lang="en-US" sz="1800" b="1" dirty="0">
                <a:latin typeface="Courier New"/>
                <a:cs typeface="Courier New"/>
              </a:rPr>
              <a:t>);</a:t>
            </a:r>
          </a:p>
          <a:p>
            <a:r>
              <a:rPr lang="en-US" sz="1800" b="1" dirty="0">
                <a:latin typeface="Courier New"/>
                <a:cs typeface="Courier New"/>
              </a:rPr>
              <a:t>    $("#unwrap").click(</a:t>
            </a:r>
            <a:r>
              <a:rPr lang="en-US" sz="1800" b="1" dirty="0" err="1">
                <a:latin typeface="Courier New"/>
                <a:cs typeface="Courier New"/>
              </a:rPr>
              <a:t>unwrapImage</a:t>
            </a:r>
            <a:r>
              <a:rPr lang="en-US" sz="1800" b="1" dirty="0">
                <a:latin typeface="Courier New"/>
                <a:cs typeface="Courier New"/>
              </a:rPr>
              <a:t>);</a:t>
            </a:r>
          </a:p>
          <a:p>
            <a:r>
              <a:rPr lang="en-US" sz="1800" b="1" dirty="0">
                <a:latin typeface="Courier New"/>
                <a:cs typeface="Courier New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19" y="1325903"/>
            <a:ext cx="990576" cy="338554"/>
          </a:xfrm>
          <a:prstGeom prst="rect">
            <a:avLst/>
          </a:prstGeom>
          <a:solidFill>
            <a:srgbClr val="0033CC"/>
          </a:solidFill>
        </p:spPr>
        <p:txBody>
          <a:bodyPr wrap="none" rtlCol="0">
            <a:spAutoFit/>
          </a:bodyPr>
          <a:lstStyle/>
          <a:p>
            <a:r>
              <a:rPr lang="en-US" dirty="0" err="1" smtClean="0">
                <a:solidFill>
                  <a:srgbClr val="FFFF00"/>
                </a:solidFill>
              </a:rPr>
              <a:t>effects.js</a:t>
            </a:r>
            <a:endParaRPr lang="en-US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7120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jQuery Object Effects</a:t>
            </a:r>
            <a:r>
              <a:rPr lang="en-US" i="1" dirty="0"/>
              <a:t>, cont’d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F0376-0E54-9843-B673-E00D6670E830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560342" y="1325903"/>
            <a:ext cx="3924760" cy="4801315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txBody>
          <a:bodyPr wrap="none" rtlCol="0">
            <a:spAutoFit/>
          </a:bodyPr>
          <a:lstStyle/>
          <a:p>
            <a:r>
              <a:rPr lang="en-US" sz="1800" b="1" dirty="0">
                <a:latin typeface="Courier New"/>
                <a:cs typeface="Courier New"/>
              </a:rPr>
              <a:t>function </a:t>
            </a:r>
            <a:r>
              <a:rPr lang="en-US" sz="1800" b="1" dirty="0" err="1">
                <a:latin typeface="Courier New"/>
                <a:cs typeface="Courier New"/>
              </a:rPr>
              <a:t>showContent</a:t>
            </a:r>
            <a:r>
              <a:rPr lang="en-US" sz="1800" b="1" dirty="0">
                <a:latin typeface="Courier New"/>
                <a:cs typeface="Courier New"/>
              </a:rPr>
              <a:t>()</a:t>
            </a:r>
          </a:p>
          <a:p>
            <a:r>
              <a:rPr lang="en-US" sz="1800" b="1" dirty="0">
                <a:latin typeface="Courier New"/>
                <a:cs typeface="Courier New"/>
              </a:rPr>
              <a:t>{</a:t>
            </a:r>
          </a:p>
          <a:p>
            <a:r>
              <a:rPr lang="en-US" sz="1800" b="1" dirty="0">
                <a:latin typeface="Courier New"/>
                <a:cs typeface="Courier New"/>
              </a:rPr>
              <a:t>    $("#content").show();</a:t>
            </a:r>
          </a:p>
          <a:p>
            <a:r>
              <a:rPr lang="en-US" sz="1800" b="1" dirty="0">
                <a:latin typeface="Courier New"/>
                <a:cs typeface="Courier New"/>
              </a:rPr>
              <a:t>    showing = true;</a:t>
            </a:r>
          </a:p>
          <a:p>
            <a:r>
              <a:rPr lang="en-US" sz="1800" b="1" dirty="0">
                <a:latin typeface="Courier New"/>
                <a:cs typeface="Courier New"/>
              </a:rPr>
              <a:t>} </a:t>
            </a:r>
          </a:p>
          <a:p>
            <a:endParaRPr lang="en-US" sz="1800" b="1" dirty="0">
              <a:latin typeface="Courier New"/>
              <a:cs typeface="Courier New"/>
            </a:endParaRPr>
          </a:p>
          <a:p>
            <a:r>
              <a:rPr lang="en-US" sz="1800" b="1" dirty="0">
                <a:latin typeface="Courier New"/>
                <a:cs typeface="Courier New"/>
              </a:rPr>
              <a:t>function </a:t>
            </a:r>
            <a:r>
              <a:rPr lang="en-US" sz="1800" b="1" dirty="0" err="1">
                <a:latin typeface="Courier New"/>
                <a:cs typeface="Courier New"/>
              </a:rPr>
              <a:t>hideContent</a:t>
            </a:r>
            <a:r>
              <a:rPr lang="en-US" sz="1800" b="1" dirty="0">
                <a:latin typeface="Courier New"/>
                <a:cs typeface="Courier New"/>
              </a:rPr>
              <a:t>()</a:t>
            </a:r>
          </a:p>
          <a:p>
            <a:r>
              <a:rPr lang="en-US" sz="1800" b="1" dirty="0">
                <a:latin typeface="Courier New"/>
                <a:cs typeface="Courier New"/>
              </a:rPr>
              <a:t>{</a:t>
            </a:r>
          </a:p>
          <a:p>
            <a:r>
              <a:rPr lang="en-US" sz="1800" b="1" dirty="0">
                <a:latin typeface="Courier New"/>
                <a:cs typeface="Courier New"/>
              </a:rPr>
              <a:t>    $("#content").hide();</a:t>
            </a:r>
          </a:p>
          <a:p>
            <a:r>
              <a:rPr lang="en-US" sz="1800" b="1" dirty="0">
                <a:latin typeface="Courier New"/>
                <a:cs typeface="Courier New"/>
              </a:rPr>
              <a:t>    showing = false;</a:t>
            </a:r>
          </a:p>
          <a:p>
            <a:r>
              <a:rPr lang="en-US" sz="1800" b="1" dirty="0">
                <a:latin typeface="Courier New"/>
                <a:cs typeface="Courier New"/>
              </a:rPr>
              <a:t>} </a:t>
            </a:r>
          </a:p>
          <a:p>
            <a:endParaRPr lang="en-US" sz="1800" b="1" dirty="0">
              <a:latin typeface="Courier New"/>
              <a:cs typeface="Courier New"/>
            </a:endParaRPr>
          </a:p>
          <a:p>
            <a:r>
              <a:rPr lang="en-US" sz="1800" b="1" dirty="0">
                <a:latin typeface="Courier New"/>
                <a:cs typeface="Courier New"/>
              </a:rPr>
              <a:t>function </a:t>
            </a:r>
            <a:r>
              <a:rPr lang="en-US" sz="1800" b="1" dirty="0" err="1">
                <a:latin typeface="Courier New"/>
                <a:cs typeface="Courier New"/>
              </a:rPr>
              <a:t>toggleContent</a:t>
            </a:r>
            <a:r>
              <a:rPr lang="en-US" sz="1800" b="1" dirty="0">
                <a:latin typeface="Courier New"/>
                <a:cs typeface="Courier New"/>
              </a:rPr>
              <a:t>()</a:t>
            </a:r>
          </a:p>
          <a:p>
            <a:r>
              <a:rPr lang="en-US" sz="1800" b="1" dirty="0">
                <a:latin typeface="Courier New"/>
                <a:cs typeface="Courier New"/>
              </a:rPr>
              <a:t>{</a:t>
            </a:r>
          </a:p>
          <a:p>
            <a:r>
              <a:rPr lang="it-IT" sz="1800" b="1" dirty="0">
                <a:latin typeface="Courier New"/>
                <a:cs typeface="Courier New"/>
              </a:rPr>
              <a:t>    $("#</a:t>
            </a:r>
            <a:r>
              <a:rPr lang="it-IT" sz="1800" b="1" dirty="0" err="1">
                <a:latin typeface="Courier New"/>
                <a:cs typeface="Courier New"/>
              </a:rPr>
              <a:t>content</a:t>
            </a:r>
            <a:r>
              <a:rPr lang="it-IT" sz="1800" b="1" dirty="0">
                <a:latin typeface="Courier New"/>
                <a:cs typeface="Courier New"/>
              </a:rPr>
              <a:t>").</a:t>
            </a:r>
            <a:r>
              <a:rPr lang="it-IT" sz="1800" b="1" dirty="0" err="1">
                <a:latin typeface="Courier New"/>
                <a:cs typeface="Courier New"/>
              </a:rPr>
              <a:t>toggle</a:t>
            </a:r>
            <a:r>
              <a:rPr lang="it-IT" sz="1800" b="1" dirty="0">
                <a:latin typeface="Courier New"/>
                <a:cs typeface="Courier New"/>
              </a:rPr>
              <a:t>();</a:t>
            </a:r>
          </a:p>
          <a:p>
            <a:r>
              <a:rPr lang="it-IT" sz="1800" b="1" dirty="0">
                <a:latin typeface="Courier New"/>
                <a:cs typeface="Courier New"/>
              </a:rPr>
              <a:t>    </a:t>
            </a:r>
            <a:r>
              <a:rPr lang="it-IT" sz="1800" b="1" dirty="0" err="1">
                <a:latin typeface="Courier New"/>
                <a:cs typeface="Courier New"/>
              </a:rPr>
              <a:t>showing</a:t>
            </a:r>
            <a:r>
              <a:rPr lang="it-IT" sz="1800" b="1" dirty="0">
                <a:latin typeface="Courier New"/>
                <a:cs typeface="Courier New"/>
              </a:rPr>
              <a:t> = !</a:t>
            </a:r>
            <a:r>
              <a:rPr lang="it-IT" sz="1800" b="1" dirty="0" err="1">
                <a:latin typeface="Courier New"/>
                <a:cs typeface="Courier New"/>
              </a:rPr>
              <a:t>showing</a:t>
            </a:r>
            <a:r>
              <a:rPr lang="it-IT" sz="1800" b="1" dirty="0">
                <a:latin typeface="Courier New"/>
                <a:cs typeface="Courier New"/>
              </a:rPr>
              <a:t>;</a:t>
            </a:r>
          </a:p>
          <a:p>
            <a:r>
              <a:rPr lang="it-IT" sz="1800" b="1" dirty="0">
                <a:latin typeface="Courier New"/>
                <a:cs typeface="Courier New"/>
              </a:rPr>
              <a:t>} </a:t>
            </a:r>
            <a:endParaRPr lang="en-US" sz="1800" b="1" dirty="0">
              <a:latin typeface="Courier New"/>
              <a:cs typeface="Courier New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760707" y="1234464"/>
            <a:ext cx="990576" cy="338554"/>
          </a:xfrm>
          <a:prstGeom prst="rect">
            <a:avLst/>
          </a:prstGeom>
          <a:solidFill>
            <a:srgbClr val="0033CC"/>
          </a:solidFill>
        </p:spPr>
        <p:txBody>
          <a:bodyPr wrap="none" rtlCol="0">
            <a:spAutoFit/>
          </a:bodyPr>
          <a:lstStyle/>
          <a:p>
            <a:r>
              <a:rPr lang="en-US" dirty="0" err="1" smtClean="0">
                <a:solidFill>
                  <a:srgbClr val="FFFF00"/>
                </a:solidFill>
              </a:rPr>
              <a:t>effects.js</a:t>
            </a:r>
            <a:endParaRPr lang="en-US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5537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jQuery Object Effects</a:t>
            </a:r>
            <a:r>
              <a:rPr lang="en-US" i="1" dirty="0"/>
              <a:t>, cont’d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F0376-0E54-9843-B673-E00D6670E830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828830" y="1325903"/>
            <a:ext cx="5448502" cy="3139321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txBody>
          <a:bodyPr wrap="none" rtlCol="0">
            <a:spAutoFit/>
          </a:bodyPr>
          <a:lstStyle/>
          <a:p>
            <a:r>
              <a:rPr lang="en-US" sz="1800" b="1" dirty="0">
                <a:latin typeface="Courier New"/>
                <a:cs typeface="Courier New"/>
              </a:rPr>
              <a:t>function </a:t>
            </a:r>
            <a:r>
              <a:rPr lang="en-US" sz="1800" b="1" dirty="0" err="1">
                <a:latin typeface="Courier New"/>
                <a:cs typeface="Courier New"/>
              </a:rPr>
              <a:t>slideDown</a:t>
            </a:r>
            <a:r>
              <a:rPr lang="en-US" sz="1800" b="1" dirty="0">
                <a:latin typeface="Courier New"/>
                <a:cs typeface="Courier New"/>
              </a:rPr>
              <a:t>()</a:t>
            </a:r>
          </a:p>
          <a:p>
            <a:r>
              <a:rPr lang="en-US" sz="1800" b="1" dirty="0">
                <a:latin typeface="Courier New"/>
                <a:cs typeface="Courier New"/>
              </a:rPr>
              <a:t>{</a:t>
            </a:r>
          </a:p>
          <a:p>
            <a:r>
              <a:rPr lang="en-US" sz="1800" b="1" dirty="0">
                <a:latin typeface="Courier New"/>
                <a:cs typeface="Courier New"/>
              </a:rPr>
              <a:t>    $("#content").</a:t>
            </a:r>
            <a:r>
              <a:rPr lang="en-US" sz="1800" b="1" dirty="0" err="1">
                <a:latin typeface="Courier New"/>
                <a:cs typeface="Courier New"/>
              </a:rPr>
              <a:t>slideDown</a:t>
            </a:r>
            <a:r>
              <a:rPr lang="en-US" sz="1800" b="1" dirty="0">
                <a:latin typeface="Courier New"/>
                <a:cs typeface="Courier New"/>
              </a:rPr>
              <a:t>("medium");</a:t>
            </a:r>
          </a:p>
          <a:p>
            <a:r>
              <a:rPr lang="en-US" sz="1800" b="1" dirty="0">
                <a:latin typeface="Courier New"/>
                <a:cs typeface="Courier New"/>
              </a:rPr>
              <a:t>    showing = true;</a:t>
            </a:r>
          </a:p>
          <a:p>
            <a:r>
              <a:rPr lang="en-US" sz="1800" b="1" dirty="0">
                <a:latin typeface="Courier New"/>
                <a:cs typeface="Courier New"/>
              </a:rPr>
              <a:t>} </a:t>
            </a:r>
          </a:p>
          <a:p>
            <a:endParaRPr lang="en-US" sz="1800" b="1" dirty="0">
              <a:latin typeface="Courier New"/>
              <a:cs typeface="Courier New"/>
            </a:endParaRPr>
          </a:p>
          <a:p>
            <a:r>
              <a:rPr lang="en-US" sz="1800" b="1" dirty="0">
                <a:latin typeface="Courier New"/>
                <a:cs typeface="Courier New"/>
              </a:rPr>
              <a:t>function </a:t>
            </a:r>
            <a:r>
              <a:rPr lang="en-US" sz="1800" b="1" dirty="0" err="1">
                <a:latin typeface="Courier New"/>
                <a:cs typeface="Courier New"/>
              </a:rPr>
              <a:t>slideUp</a:t>
            </a:r>
            <a:r>
              <a:rPr lang="en-US" sz="1800" b="1" dirty="0">
                <a:latin typeface="Courier New"/>
                <a:cs typeface="Courier New"/>
              </a:rPr>
              <a:t>()</a:t>
            </a:r>
          </a:p>
          <a:p>
            <a:r>
              <a:rPr lang="en-US" sz="1800" b="1" dirty="0">
                <a:latin typeface="Courier New"/>
                <a:cs typeface="Courier New"/>
              </a:rPr>
              <a:t>{</a:t>
            </a:r>
          </a:p>
          <a:p>
            <a:r>
              <a:rPr lang="en-US" sz="1800" b="1" dirty="0">
                <a:latin typeface="Courier New"/>
                <a:cs typeface="Courier New"/>
              </a:rPr>
              <a:t>    $("#content").</a:t>
            </a:r>
            <a:r>
              <a:rPr lang="en-US" sz="1800" b="1" dirty="0" err="1">
                <a:latin typeface="Courier New"/>
                <a:cs typeface="Courier New"/>
              </a:rPr>
              <a:t>slideUp</a:t>
            </a:r>
            <a:r>
              <a:rPr lang="en-US" sz="1800" b="1" dirty="0">
                <a:latin typeface="Courier New"/>
                <a:cs typeface="Courier New"/>
              </a:rPr>
              <a:t>(500);</a:t>
            </a:r>
          </a:p>
          <a:p>
            <a:r>
              <a:rPr lang="en-US" sz="1800" b="1" dirty="0">
                <a:latin typeface="Courier New"/>
                <a:cs typeface="Courier New"/>
              </a:rPr>
              <a:t>    showing = false;</a:t>
            </a:r>
          </a:p>
          <a:p>
            <a:r>
              <a:rPr lang="en-US" sz="1800" b="1" dirty="0">
                <a:latin typeface="Courier New"/>
                <a:cs typeface="Courier New"/>
              </a:rPr>
              <a:t>}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19" y="1234464"/>
            <a:ext cx="990576" cy="338554"/>
          </a:xfrm>
          <a:prstGeom prst="rect">
            <a:avLst/>
          </a:prstGeom>
          <a:solidFill>
            <a:srgbClr val="0033CC"/>
          </a:solidFill>
        </p:spPr>
        <p:txBody>
          <a:bodyPr wrap="none" rtlCol="0">
            <a:spAutoFit/>
          </a:bodyPr>
          <a:lstStyle/>
          <a:p>
            <a:r>
              <a:rPr lang="en-US" dirty="0" err="1" smtClean="0">
                <a:solidFill>
                  <a:srgbClr val="FFFF00"/>
                </a:solidFill>
              </a:rPr>
              <a:t>effects.js</a:t>
            </a:r>
            <a:endParaRPr lang="en-US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6598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jQuery Object Effects</a:t>
            </a:r>
            <a:r>
              <a:rPr lang="en-US" i="1" dirty="0"/>
              <a:t>, cont’d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F0376-0E54-9843-B673-E00D6670E830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828830" y="1417342"/>
            <a:ext cx="5309980" cy="44935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1800" b="1" dirty="0">
                <a:latin typeface="Courier New"/>
                <a:cs typeface="Courier New"/>
              </a:rPr>
              <a:t>function </a:t>
            </a:r>
            <a:r>
              <a:rPr lang="en-US" sz="1800" b="1" dirty="0" err="1">
                <a:latin typeface="Courier New"/>
                <a:cs typeface="Courier New"/>
              </a:rPr>
              <a:t>fadeIn</a:t>
            </a:r>
            <a:r>
              <a:rPr lang="en-US" sz="1800" b="1" dirty="0">
                <a:latin typeface="Courier New"/>
                <a:cs typeface="Courier New"/>
              </a:rPr>
              <a:t>()</a:t>
            </a:r>
          </a:p>
          <a:p>
            <a:r>
              <a:rPr lang="en-US" sz="1800" b="1" dirty="0">
                <a:latin typeface="Courier New"/>
                <a:cs typeface="Courier New"/>
              </a:rPr>
              <a:t>{</a:t>
            </a:r>
          </a:p>
          <a:p>
            <a:r>
              <a:rPr lang="pl-PL" sz="1800" b="1" dirty="0">
                <a:latin typeface="Courier New"/>
                <a:cs typeface="Courier New"/>
              </a:rPr>
              <a:t>    $("#</a:t>
            </a:r>
            <a:r>
              <a:rPr lang="pl-PL" sz="1800" b="1" dirty="0" err="1">
                <a:latin typeface="Courier New"/>
                <a:cs typeface="Courier New"/>
              </a:rPr>
              <a:t>content</a:t>
            </a:r>
            <a:r>
              <a:rPr lang="pl-PL" sz="1800" b="1" dirty="0">
                <a:latin typeface="Courier New"/>
                <a:cs typeface="Courier New"/>
              </a:rPr>
              <a:t>").</a:t>
            </a:r>
            <a:r>
              <a:rPr lang="pl-PL" sz="1800" b="1" dirty="0" err="1">
                <a:latin typeface="Courier New"/>
                <a:cs typeface="Courier New"/>
              </a:rPr>
              <a:t>fadeIn</a:t>
            </a:r>
            <a:r>
              <a:rPr lang="pl-PL" sz="1800" b="1" dirty="0">
                <a:latin typeface="Courier New"/>
                <a:cs typeface="Courier New"/>
              </a:rPr>
              <a:t>(1000, </a:t>
            </a:r>
            <a:r>
              <a:rPr lang="pl-PL" sz="1800" b="1" dirty="0" err="1">
                <a:solidFill>
                  <a:srgbClr val="B23C00"/>
                </a:solidFill>
                <a:latin typeface="Courier New"/>
                <a:cs typeface="Courier New"/>
              </a:rPr>
              <a:t>meow</a:t>
            </a:r>
            <a:r>
              <a:rPr lang="pl-PL" sz="1800" b="1" dirty="0">
                <a:latin typeface="Courier New"/>
                <a:cs typeface="Courier New"/>
              </a:rPr>
              <a:t>);</a:t>
            </a:r>
          </a:p>
          <a:p>
            <a:r>
              <a:rPr lang="pl-PL" sz="1800" b="1" dirty="0">
                <a:latin typeface="Courier New"/>
                <a:cs typeface="Courier New"/>
              </a:rPr>
              <a:t>    </a:t>
            </a:r>
            <a:r>
              <a:rPr lang="pl-PL" sz="1800" b="1" dirty="0" err="1">
                <a:latin typeface="Courier New"/>
                <a:cs typeface="Courier New"/>
              </a:rPr>
              <a:t>showing</a:t>
            </a:r>
            <a:r>
              <a:rPr lang="pl-PL" sz="1800" b="1" dirty="0">
                <a:latin typeface="Courier New"/>
                <a:cs typeface="Courier New"/>
              </a:rPr>
              <a:t> = </a:t>
            </a:r>
            <a:r>
              <a:rPr lang="pl-PL" sz="1800" b="1" dirty="0" err="1">
                <a:latin typeface="Courier New"/>
                <a:cs typeface="Courier New"/>
              </a:rPr>
              <a:t>true</a:t>
            </a:r>
            <a:r>
              <a:rPr lang="pl-PL" sz="1800" b="1" dirty="0">
                <a:latin typeface="Courier New"/>
                <a:cs typeface="Courier New"/>
              </a:rPr>
              <a:t>;</a:t>
            </a:r>
          </a:p>
          <a:p>
            <a:r>
              <a:rPr lang="pl-PL" sz="1800" b="1" dirty="0">
                <a:latin typeface="Courier New"/>
                <a:cs typeface="Courier New"/>
              </a:rPr>
              <a:t>} </a:t>
            </a:r>
          </a:p>
          <a:p>
            <a:endParaRPr lang="pl-PL" sz="1800" b="1" dirty="0">
              <a:latin typeface="Courier New"/>
              <a:cs typeface="Courier New"/>
            </a:endParaRPr>
          </a:p>
          <a:p>
            <a:r>
              <a:rPr lang="pl-PL" sz="1800" b="1" dirty="0" err="1">
                <a:latin typeface="Courier New"/>
                <a:cs typeface="Courier New"/>
              </a:rPr>
              <a:t>function</a:t>
            </a:r>
            <a:r>
              <a:rPr lang="pl-PL" sz="1800" b="1" dirty="0">
                <a:latin typeface="Courier New"/>
                <a:cs typeface="Courier New"/>
              </a:rPr>
              <a:t> </a:t>
            </a:r>
            <a:r>
              <a:rPr lang="pl-PL" sz="1800" b="1" dirty="0" err="1">
                <a:latin typeface="Courier New"/>
                <a:cs typeface="Courier New"/>
              </a:rPr>
              <a:t>fadeOut</a:t>
            </a:r>
            <a:r>
              <a:rPr lang="pl-PL" sz="1800" b="1" dirty="0">
                <a:latin typeface="Courier New"/>
                <a:cs typeface="Courier New"/>
              </a:rPr>
              <a:t>()</a:t>
            </a:r>
          </a:p>
          <a:p>
            <a:r>
              <a:rPr lang="pl-PL" sz="1800" b="1" dirty="0">
                <a:latin typeface="Courier New"/>
                <a:cs typeface="Courier New"/>
              </a:rPr>
              <a:t>{</a:t>
            </a:r>
          </a:p>
          <a:p>
            <a:r>
              <a:rPr lang="pl-PL" sz="1800" b="1" dirty="0">
                <a:latin typeface="Courier New"/>
                <a:cs typeface="Courier New"/>
              </a:rPr>
              <a:t>    $("#</a:t>
            </a:r>
            <a:r>
              <a:rPr lang="pl-PL" sz="1800" b="1" dirty="0" err="1">
                <a:latin typeface="Courier New"/>
                <a:cs typeface="Courier New"/>
              </a:rPr>
              <a:t>content</a:t>
            </a:r>
            <a:r>
              <a:rPr lang="pl-PL" sz="1800" b="1" dirty="0">
                <a:latin typeface="Courier New"/>
                <a:cs typeface="Courier New"/>
              </a:rPr>
              <a:t>").</a:t>
            </a:r>
            <a:r>
              <a:rPr lang="pl-PL" sz="1800" b="1" dirty="0" err="1">
                <a:latin typeface="Courier New"/>
                <a:cs typeface="Courier New"/>
              </a:rPr>
              <a:t>fadeOut</a:t>
            </a:r>
            <a:r>
              <a:rPr lang="pl-PL" sz="1800" b="1" dirty="0">
                <a:latin typeface="Courier New"/>
                <a:cs typeface="Courier New"/>
              </a:rPr>
              <a:t>("fast");</a:t>
            </a:r>
          </a:p>
          <a:p>
            <a:r>
              <a:rPr lang="pl-PL" sz="1800" b="1" dirty="0">
                <a:latin typeface="Courier New"/>
                <a:cs typeface="Courier New"/>
              </a:rPr>
              <a:t>    </a:t>
            </a:r>
            <a:r>
              <a:rPr lang="pl-PL" sz="1800" b="1" dirty="0" err="1">
                <a:latin typeface="Courier New"/>
                <a:cs typeface="Courier New"/>
              </a:rPr>
              <a:t>showing</a:t>
            </a:r>
            <a:r>
              <a:rPr lang="pl-PL" sz="1800" b="1" dirty="0">
                <a:latin typeface="Courier New"/>
                <a:cs typeface="Courier New"/>
              </a:rPr>
              <a:t> = </a:t>
            </a:r>
            <a:r>
              <a:rPr lang="pl-PL" sz="1800" b="1" dirty="0" err="1">
                <a:latin typeface="Courier New"/>
                <a:cs typeface="Courier New"/>
              </a:rPr>
              <a:t>false</a:t>
            </a:r>
            <a:r>
              <a:rPr lang="pl-PL" sz="1800" b="1" dirty="0">
                <a:latin typeface="Courier New"/>
                <a:cs typeface="Courier New"/>
              </a:rPr>
              <a:t>;</a:t>
            </a:r>
          </a:p>
          <a:p>
            <a:r>
              <a:rPr lang="pl-PL" sz="1800" b="1" dirty="0">
                <a:latin typeface="Courier New"/>
                <a:cs typeface="Courier New"/>
              </a:rPr>
              <a:t>}</a:t>
            </a:r>
          </a:p>
          <a:p>
            <a:endParaRPr lang="en-US" sz="1800" b="1" dirty="0" smtClean="0">
              <a:latin typeface="Courier New"/>
              <a:cs typeface="Courier New"/>
            </a:endParaRPr>
          </a:p>
          <a:p>
            <a:r>
              <a:rPr lang="en-US" sz="1800" b="1" dirty="0">
                <a:latin typeface="Courier New"/>
                <a:cs typeface="Courier New"/>
              </a:rPr>
              <a:t>function </a:t>
            </a:r>
            <a:r>
              <a:rPr lang="en-US" sz="1800" b="1" dirty="0">
                <a:solidFill>
                  <a:srgbClr val="B23C00"/>
                </a:solidFill>
                <a:latin typeface="Courier New"/>
                <a:cs typeface="Courier New"/>
              </a:rPr>
              <a:t>meow</a:t>
            </a:r>
            <a:r>
              <a:rPr lang="en-US" sz="1800" b="1" dirty="0">
                <a:latin typeface="Courier New"/>
                <a:cs typeface="Courier New"/>
              </a:rPr>
              <a:t>()</a:t>
            </a:r>
          </a:p>
          <a:p>
            <a:r>
              <a:rPr lang="en-US" sz="1800" b="1" dirty="0">
                <a:latin typeface="Courier New"/>
                <a:cs typeface="Courier New"/>
              </a:rPr>
              <a:t>{</a:t>
            </a:r>
          </a:p>
          <a:p>
            <a:r>
              <a:rPr lang="nb-NO" sz="1800" b="1" dirty="0">
                <a:latin typeface="Courier New"/>
                <a:cs typeface="Courier New"/>
              </a:rPr>
              <a:t>    alert("MEOW!");</a:t>
            </a:r>
          </a:p>
          <a:p>
            <a:r>
              <a:rPr lang="nb-NO" sz="1800" b="1" dirty="0">
                <a:latin typeface="Courier New"/>
                <a:cs typeface="Courier New"/>
              </a:rPr>
              <a:t>}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41" y="1325903"/>
            <a:ext cx="990576" cy="338554"/>
          </a:xfrm>
          <a:prstGeom prst="rect">
            <a:avLst/>
          </a:prstGeom>
          <a:solidFill>
            <a:srgbClr val="0033CC"/>
          </a:solidFill>
        </p:spPr>
        <p:txBody>
          <a:bodyPr wrap="none" rtlCol="0">
            <a:spAutoFit/>
          </a:bodyPr>
          <a:lstStyle/>
          <a:p>
            <a:r>
              <a:rPr lang="en-US" dirty="0" err="1" smtClean="0">
                <a:solidFill>
                  <a:srgbClr val="FFFF00"/>
                </a:solidFill>
              </a:rPr>
              <a:t>effects.js</a:t>
            </a:r>
            <a:endParaRPr lang="en-US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9527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jQuery Object Effects</a:t>
            </a:r>
            <a:r>
              <a:rPr lang="en-US" i="1" dirty="0"/>
              <a:t>, cont’d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F0376-0E54-9843-B673-E00D6670E830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48684" y="1325903"/>
            <a:ext cx="7941898" cy="477053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1800" b="1" dirty="0">
                <a:latin typeface="Courier New"/>
                <a:cs typeface="Courier New"/>
              </a:rPr>
              <a:t>function </a:t>
            </a:r>
            <a:r>
              <a:rPr lang="en-US" sz="1800" b="1" dirty="0" err="1">
                <a:latin typeface="Courier New"/>
                <a:cs typeface="Courier New"/>
              </a:rPr>
              <a:t>wrapImage</a:t>
            </a:r>
            <a:r>
              <a:rPr lang="en-US" sz="1800" b="1" dirty="0">
                <a:latin typeface="Courier New"/>
                <a:cs typeface="Courier New"/>
              </a:rPr>
              <a:t>()</a:t>
            </a:r>
          </a:p>
          <a:p>
            <a:r>
              <a:rPr lang="en-US" sz="1800" b="1" dirty="0">
                <a:latin typeface="Courier New"/>
                <a:cs typeface="Courier New"/>
              </a:rPr>
              <a:t>{</a:t>
            </a:r>
          </a:p>
          <a:p>
            <a:r>
              <a:rPr lang="en-US" sz="1800" b="1" dirty="0">
                <a:latin typeface="Courier New"/>
                <a:cs typeface="Courier New"/>
              </a:rPr>
              <a:t>    if (showing) {</a:t>
            </a:r>
          </a:p>
          <a:p>
            <a:r>
              <a:rPr lang="pl-PL" sz="1800" b="1" dirty="0">
                <a:latin typeface="Courier New"/>
                <a:cs typeface="Courier New"/>
              </a:rPr>
              <a:t>        $("#image").</a:t>
            </a:r>
            <a:r>
              <a:rPr lang="pl-PL" sz="1800" b="1" dirty="0" err="1">
                <a:latin typeface="Courier New"/>
                <a:cs typeface="Courier New"/>
              </a:rPr>
              <a:t>wrap</a:t>
            </a:r>
            <a:r>
              <a:rPr lang="pl-PL" sz="1800" b="1" dirty="0">
                <a:latin typeface="Courier New"/>
                <a:cs typeface="Courier New"/>
              </a:rPr>
              <a:t>("&lt;div </a:t>
            </a:r>
            <a:r>
              <a:rPr lang="pl-PL" sz="1800" b="1" dirty="0" err="1">
                <a:latin typeface="Courier New"/>
                <a:cs typeface="Courier New"/>
              </a:rPr>
              <a:t>class</a:t>
            </a:r>
            <a:r>
              <a:rPr lang="pl-PL" sz="1800" b="1" dirty="0">
                <a:latin typeface="Courier New"/>
                <a:cs typeface="Courier New"/>
              </a:rPr>
              <a:t>='</a:t>
            </a:r>
            <a:r>
              <a:rPr lang="pl-PL" sz="1800" b="1" dirty="0" err="1">
                <a:latin typeface="Courier New"/>
                <a:cs typeface="Courier New"/>
              </a:rPr>
              <a:t>wrapped</a:t>
            </a:r>
            <a:r>
              <a:rPr lang="pl-PL" sz="1800" b="1" dirty="0">
                <a:latin typeface="Courier New"/>
                <a:cs typeface="Courier New"/>
              </a:rPr>
              <a:t>'&gt;&lt;/div&gt;");</a:t>
            </a:r>
          </a:p>
          <a:p>
            <a:r>
              <a:rPr lang="en-US" sz="1800" b="1" dirty="0">
                <a:latin typeface="Courier New"/>
                <a:cs typeface="Courier New"/>
              </a:rPr>
              <a:t>        wrapped = true;</a:t>
            </a:r>
          </a:p>
          <a:p>
            <a:r>
              <a:rPr lang="en-US" sz="1800" b="1" dirty="0">
                <a:latin typeface="Courier New"/>
                <a:cs typeface="Courier New"/>
              </a:rPr>
              <a:t>    }</a:t>
            </a:r>
          </a:p>
          <a:p>
            <a:r>
              <a:rPr lang="en-US" sz="1800" b="1" dirty="0">
                <a:latin typeface="Courier New"/>
                <a:cs typeface="Courier New"/>
              </a:rPr>
              <a:t>}</a:t>
            </a:r>
          </a:p>
          <a:p>
            <a:endParaRPr lang="en-US" sz="1800" b="1" dirty="0">
              <a:latin typeface="Courier New"/>
              <a:cs typeface="Courier New"/>
            </a:endParaRPr>
          </a:p>
          <a:p>
            <a:r>
              <a:rPr lang="en-US" sz="1800" b="1" dirty="0">
                <a:latin typeface="Courier New"/>
                <a:cs typeface="Courier New"/>
              </a:rPr>
              <a:t>function </a:t>
            </a:r>
            <a:r>
              <a:rPr lang="en-US" sz="1800" b="1" dirty="0" err="1">
                <a:latin typeface="Courier New"/>
                <a:cs typeface="Courier New"/>
              </a:rPr>
              <a:t>unwrapImage</a:t>
            </a:r>
            <a:r>
              <a:rPr lang="en-US" sz="1800" b="1" dirty="0">
                <a:latin typeface="Courier New"/>
                <a:cs typeface="Courier New"/>
              </a:rPr>
              <a:t>()</a:t>
            </a:r>
          </a:p>
          <a:p>
            <a:r>
              <a:rPr lang="en-US" sz="1800" b="1" dirty="0">
                <a:latin typeface="Courier New"/>
                <a:cs typeface="Courier New"/>
              </a:rPr>
              <a:t>{</a:t>
            </a:r>
          </a:p>
          <a:p>
            <a:r>
              <a:rPr lang="en-US" sz="1800" b="1" dirty="0">
                <a:latin typeface="Courier New"/>
                <a:cs typeface="Courier New"/>
              </a:rPr>
              <a:t>    if (showing &amp;&amp; wrapped) {</a:t>
            </a:r>
          </a:p>
          <a:p>
            <a:r>
              <a:rPr lang="da-DK" sz="1800" b="1" dirty="0">
                <a:latin typeface="Courier New"/>
                <a:cs typeface="Courier New"/>
              </a:rPr>
              <a:t>        var image = $("#image").</a:t>
            </a:r>
            <a:r>
              <a:rPr lang="da-DK" sz="1800" b="1" dirty="0" err="1">
                <a:latin typeface="Courier New"/>
                <a:cs typeface="Courier New"/>
              </a:rPr>
              <a:t>clone</a:t>
            </a:r>
            <a:r>
              <a:rPr lang="da-DK" sz="1800" b="1" dirty="0">
                <a:latin typeface="Courier New"/>
                <a:cs typeface="Courier New"/>
              </a:rPr>
              <a:t>();</a:t>
            </a:r>
          </a:p>
          <a:p>
            <a:r>
              <a:rPr lang="pl-PL" sz="1800" b="1" dirty="0">
                <a:latin typeface="Courier New"/>
                <a:cs typeface="Courier New"/>
              </a:rPr>
              <a:t>        $(".</a:t>
            </a:r>
            <a:r>
              <a:rPr lang="pl-PL" sz="1800" b="1" dirty="0" err="1">
                <a:latin typeface="Courier New"/>
                <a:cs typeface="Courier New"/>
              </a:rPr>
              <a:t>wrapped</a:t>
            </a:r>
            <a:r>
              <a:rPr lang="pl-PL" sz="1800" b="1" dirty="0">
                <a:latin typeface="Courier New"/>
                <a:cs typeface="Courier New"/>
              </a:rPr>
              <a:t>").</a:t>
            </a:r>
            <a:r>
              <a:rPr lang="pl-PL" sz="1800" b="1" dirty="0" err="1">
                <a:latin typeface="Courier New"/>
                <a:cs typeface="Courier New"/>
              </a:rPr>
              <a:t>remove</a:t>
            </a:r>
            <a:r>
              <a:rPr lang="pl-PL" sz="1800" b="1" dirty="0">
                <a:latin typeface="Courier New"/>
                <a:cs typeface="Courier New"/>
              </a:rPr>
              <a:t>();</a:t>
            </a:r>
          </a:p>
          <a:p>
            <a:r>
              <a:rPr lang="nl-NL" sz="1800" b="1" dirty="0">
                <a:latin typeface="Courier New"/>
                <a:cs typeface="Courier New"/>
              </a:rPr>
              <a:t>        $("#content").</a:t>
            </a:r>
            <a:r>
              <a:rPr lang="nl-NL" sz="1800" b="1" dirty="0" err="1">
                <a:latin typeface="Courier New"/>
                <a:cs typeface="Courier New"/>
              </a:rPr>
              <a:t>append</a:t>
            </a:r>
            <a:r>
              <a:rPr lang="nl-NL" sz="1800" b="1" dirty="0">
                <a:latin typeface="Courier New"/>
                <a:cs typeface="Courier New"/>
              </a:rPr>
              <a:t>(image);</a:t>
            </a:r>
          </a:p>
          <a:p>
            <a:r>
              <a:rPr lang="en-US" sz="1800" b="1" dirty="0">
                <a:latin typeface="Courier New"/>
                <a:cs typeface="Courier New"/>
              </a:rPr>
              <a:t>        wrapped = false;</a:t>
            </a:r>
          </a:p>
          <a:p>
            <a:r>
              <a:rPr lang="en-US" sz="1800" b="1" dirty="0">
                <a:latin typeface="Courier New"/>
                <a:cs typeface="Courier New"/>
              </a:rPr>
              <a:t>    }</a:t>
            </a:r>
          </a:p>
          <a:p>
            <a:r>
              <a:rPr lang="en-US" sz="1800" b="1" dirty="0" smtClean="0">
                <a:latin typeface="Courier New"/>
                <a:cs typeface="Courier New"/>
              </a:rPr>
              <a:t>}</a:t>
            </a:r>
            <a:endParaRPr lang="en-US" sz="1800" b="1" dirty="0">
              <a:latin typeface="Courier New"/>
              <a:cs typeface="Courier New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589487" y="1234464"/>
            <a:ext cx="990576" cy="338554"/>
          </a:xfrm>
          <a:prstGeom prst="rect">
            <a:avLst/>
          </a:prstGeom>
          <a:solidFill>
            <a:srgbClr val="0033CC"/>
          </a:solidFill>
        </p:spPr>
        <p:txBody>
          <a:bodyPr wrap="none" rtlCol="0">
            <a:spAutoFit/>
          </a:bodyPr>
          <a:lstStyle/>
          <a:p>
            <a:r>
              <a:rPr lang="en-US" dirty="0" err="1" smtClean="0">
                <a:solidFill>
                  <a:srgbClr val="FFFF00"/>
                </a:solidFill>
              </a:rPr>
              <a:t>effects.js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766057" y="6199372"/>
            <a:ext cx="731991" cy="338554"/>
          </a:xfrm>
          <a:prstGeom prst="rect">
            <a:avLst/>
          </a:prstGeom>
          <a:noFill/>
          <a:ln>
            <a:solidFill>
              <a:srgbClr val="B23C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B23C00"/>
                </a:solidFill>
              </a:rPr>
              <a:t>Demo</a:t>
            </a:r>
            <a:endParaRPr lang="en-US" dirty="0">
              <a:solidFill>
                <a:srgbClr val="B23C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080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jQuery Object Animation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Use the </a:t>
            </a:r>
            <a:r>
              <a:rPr lang="en-US" b="1" dirty="0" err="1" smtClean="0">
                <a:solidFill>
                  <a:srgbClr val="0033CC"/>
                </a:solidFill>
                <a:latin typeface="Courier New"/>
                <a:cs typeface="Courier New"/>
              </a:rPr>
              <a:t>css</a:t>
            </a:r>
            <a:r>
              <a:rPr lang="en-US" b="1" dirty="0" smtClean="0">
                <a:solidFill>
                  <a:srgbClr val="0033CC"/>
                </a:solidFill>
                <a:latin typeface="Courier New"/>
                <a:cs typeface="Courier New"/>
              </a:rPr>
              <a:t>()</a:t>
            </a:r>
            <a:r>
              <a:rPr lang="en-US" dirty="0" smtClean="0"/>
              <a:t> method to change </a:t>
            </a:r>
            <a:br>
              <a:rPr lang="en-US" dirty="0" smtClean="0"/>
            </a:br>
            <a:r>
              <a:rPr lang="en-US" dirty="0" smtClean="0"/>
              <a:t>an object’s position.</a:t>
            </a:r>
          </a:p>
          <a:p>
            <a:pPr lvl="4"/>
            <a:endParaRPr lang="en-US" dirty="0" smtClean="0"/>
          </a:p>
          <a:p>
            <a:r>
              <a:rPr lang="en-US" dirty="0" smtClean="0"/>
              <a:t>Use </a:t>
            </a:r>
            <a:r>
              <a:rPr lang="en-US" u="sng" dirty="0" smtClean="0"/>
              <a:t>chaining</a:t>
            </a:r>
            <a:r>
              <a:rPr lang="en-US" dirty="0" smtClean="0"/>
              <a:t>:</a:t>
            </a:r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r>
              <a:rPr lang="en-US" dirty="0" smtClean="0"/>
              <a:t>Or use a </a:t>
            </a:r>
            <a:r>
              <a:rPr lang="en-US" u="sng" dirty="0" smtClean="0"/>
              <a:t>JSON object</a:t>
            </a:r>
            <a:r>
              <a:rPr lang="en-US" dirty="0" smtClean="0"/>
              <a:t>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F0376-0E54-9843-B673-E00D6670E830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344683" y="3028890"/>
            <a:ext cx="8495986" cy="400110"/>
          </a:xfrm>
          <a:prstGeom prst="rect">
            <a:avLst/>
          </a:prstGeom>
          <a:solidFill>
            <a:srgbClr val="E2EAFF"/>
          </a:solidFill>
          <a:ln>
            <a:solidFill>
              <a:srgbClr val="0033CC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latin typeface="Courier New"/>
                <a:cs typeface="Courier New"/>
              </a:rPr>
              <a:t>$("#content</a:t>
            </a:r>
            <a:r>
              <a:rPr lang="en-US" sz="2000" b="1" dirty="0">
                <a:latin typeface="Courier New"/>
                <a:cs typeface="Courier New"/>
              </a:rPr>
              <a:t>"</a:t>
            </a:r>
            <a:r>
              <a:rPr lang="en-US" sz="2000" b="1" dirty="0" smtClean="0">
                <a:latin typeface="Courier New"/>
                <a:cs typeface="Courier New"/>
              </a:rPr>
              <a:t>).</a:t>
            </a:r>
            <a:r>
              <a:rPr lang="en-US" sz="2000" b="1" dirty="0" err="1" smtClean="0">
                <a:latin typeface="Courier New"/>
                <a:cs typeface="Courier New"/>
              </a:rPr>
              <a:t>css</a:t>
            </a:r>
            <a:r>
              <a:rPr lang="en-US" sz="2000" b="1" dirty="0" smtClean="0">
                <a:latin typeface="Courier New"/>
                <a:cs typeface="Courier New"/>
              </a:rPr>
              <a:t>(</a:t>
            </a:r>
            <a:r>
              <a:rPr lang="en-US" sz="2000" b="1" dirty="0">
                <a:latin typeface="Courier New"/>
                <a:cs typeface="Courier New"/>
              </a:rPr>
              <a:t>"</a:t>
            </a:r>
            <a:r>
              <a:rPr lang="en-US" sz="2000" b="1" dirty="0" smtClean="0">
                <a:latin typeface="Courier New"/>
                <a:cs typeface="Courier New"/>
              </a:rPr>
              <a:t>left</a:t>
            </a:r>
            <a:r>
              <a:rPr lang="en-US" sz="2000" b="1" dirty="0">
                <a:latin typeface="Courier New"/>
                <a:cs typeface="Courier New"/>
              </a:rPr>
              <a:t>"</a:t>
            </a:r>
            <a:r>
              <a:rPr lang="en-US" sz="2000" b="1" dirty="0" smtClean="0">
                <a:latin typeface="Courier New"/>
                <a:cs typeface="Courier New"/>
              </a:rPr>
              <a:t>, </a:t>
            </a:r>
            <a:r>
              <a:rPr lang="en-US" sz="2000" b="1" dirty="0">
                <a:latin typeface="Courier New"/>
                <a:cs typeface="Courier New"/>
              </a:rPr>
              <a:t>"</a:t>
            </a:r>
            <a:r>
              <a:rPr lang="en-US" sz="2000" b="1" dirty="0" smtClean="0">
                <a:latin typeface="Courier New"/>
                <a:cs typeface="Courier New"/>
              </a:rPr>
              <a:t>10px</a:t>
            </a:r>
            <a:r>
              <a:rPr lang="en-US" sz="2000" b="1" dirty="0">
                <a:latin typeface="Courier New"/>
                <a:cs typeface="Courier New"/>
              </a:rPr>
              <a:t>"</a:t>
            </a:r>
            <a:r>
              <a:rPr lang="en-US" sz="2000" b="1" dirty="0" smtClean="0">
                <a:latin typeface="Courier New"/>
                <a:cs typeface="Courier New"/>
              </a:rPr>
              <a:t>).</a:t>
            </a:r>
            <a:r>
              <a:rPr lang="en-US" sz="2000" b="1" dirty="0" err="1" smtClean="0">
                <a:latin typeface="Courier New"/>
                <a:cs typeface="Courier New"/>
              </a:rPr>
              <a:t>css</a:t>
            </a:r>
            <a:r>
              <a:rPr lang="en-US" sz="2000" b="1" dirty="0" smtClean="0">
                <a:latin typeface="Courier New"/>
                <a:cs typeface="Courier New"/>
              </a:rPr>
              <a:t>(</a:t>
            </a:r>
            <a:r>
              <a:rPr lang="en-US" sz="2000" b="1" dirty="0">
                <a:latin typeface="Courier New"/>
                <a:cs typeface="Courier New"/>
              </a:rPr>
              <a:t>"</a:t>
            </a:r>
            <a:r>
              <a:rPr lang="en-US" sz="2000" b="1" dirty="0" smtClean="0">
                <a:latin typeface="Courier New"/>
                <a:cs typeface="Courier New"/>
              </a:rPr>
              <a:t>top</a:t>
            </a:r>
            <a:r>
              <a:rPr lang="en-US" sz="2000" b="1" dirty="0">
                <a:latin typeface="Courier New"/>
                <a:cs typeface="Courier New"/>
              </a:rPr>
              <a:t>"</a:t>
            </a:r>
            <a:r>
              <a:rPr lang="en-US" sz="2000" b="1" dirty="0" smtClean="0">
                <a:latin typeface="Courier New"/>
                <a:cs typeface="Courier New"/>
              </a:rPr>
              <a:t>, </a:t>
            </a:r>
            <a:r>
              <a:rPr lang="en-US" sz="2000" b="1" dirty="0">
                <a:latin typeface="Courier New"/>
                <a:cs typeface="Courier New"/>
              </a:rPr>
              <a:t>"</a:t>
            </a:r>
            <a:r>
              <a:rPr lang="en-US" sz="2000" b="1" dirty="0" smtClean="0">
                <a:latin typeface="Courier New"/>
                <a:cs typeface="Courier New"/>
              </a:rPr>
              <a:t>120px</a:t>
            </a:r>
            <a:r>
              <a:rPr lang="en-US" sz="2000" b="1" dirty="0">
                <a:latin typeface="Courier New"/>
                <a:cs typeface="Courier New"/>
              </a:rPr>
              <a:t>"</a:t>
            </a:r>
            <a:r>
              <a:rPr lang="en-US" sz="2000" b="1" dirty="0" smtClean="0">
                <a:latin typeface="Courier New"/>
                <a:cs typeface="Courier New"/>
              </a:rPr>
              <a:t>); </a:t>
            </a:r>
            <a:endParaRPr lang="en-US" sz="2000" b="1" dirty="0">
              <a:latin typeface="Courier New"/>
              <a:cs typeface="Courier New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371635" y="4458455"/>
            <a:ext cx="6187286" cy="707886"/>
          </a:xfrm>
          <a:prstGeom prst="rect">
            <a:avLst/>
          </a:prstGeom>
          <a:solidFill>
            <a:srgbClr val="E2EBFF"/>
          </a:solidFill>
          <a:ln>
            <a:solidFill>
              <a:srgbClr val="0033CC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latin typeface="Courier New"/>
                <a:cs typeface="Courier New"/>
              </a:rPr>
              <a:t>$("#content</a:t>
            </a:r>
            <a:r>
              <a:rPr lang="en-US" sz="2000" b="1" dirty="0">
                <a:latin typeface="Courier New"/>
                <a:cs typeface="Courier New"/>
              </a:rPr>
              <a:t>"</a:t>
            </a:r>
            <a:r>
              <a:rPr lang="en-US" sz="2000" b="1" dirty="0" smtClean="0">
                <a:latin typeface="Courier New"/>
                <a:cs typeface="Courier New"/>
              </a:rPr>
              <a:t>).</a:t>
            </a:r>
            <a:r>
              <a:rPr lang="en-US" sz="2000" b="1" dirty="0" err="1" smtClean="0">
                <a:latin typeface="Courier New"/>
                <a:cs typeface="Courier New"/>
              </a:rPr>
              <a:t>css</a:t>
            </a:r>
            <a:r>
              <a:rPr lang="en-US" sz="2000" b="1" dirty="0" smtClean="0">
                <a:latin typeface="Courier New"/>
                <a:cs typeface="Courier New"/>
              </a:rPr>
              <a:t>( {</a:t>
            </a:r>
            <a:r>
              <a:rPr lang="en-US" sz="2000" b="1" dirty="0">
                <a:latin typeface="Courier New"/>
                <a:cs typeface="Courier New"/>
              </a:rPr>
              <a:t>"left": "10px",</a:t>
            </a:r>
          </a:p>
          <a:p>
            <a:r>
              <a:rPr lang="en-US" sz="2000" b="1" dirty="0">
                <a:latin typeface="Courier New"/>
                <a:cs typeface="Courier New"/>
              </a:rPr>
              <a:t>             </a:t>
            </a:r>
            <a:r>
              <a:rPr lang="en-US" sz="2000" b="1" dirty="0" smtClean="0">
                <a:latin typeface="Courier New"/>
                <a:cs typeface="Courier New"/>
              </a:rPr>
              <a:t>       "</a:t>
            </a:r>
            <a:r>
              <a:rPr lang="en-US" sz="2000" b="1" dirty="0">
                <a:latin typeface="Courier New"/>
                <a:cs typeface="Courier New"/>
              </a:rPr>
              <a:t>top":  "120px"</a:t>
            </a:r>
            <a:r>
              <a:rPr lang="en-US" sz="2000" b="1" dirty="0" smtClean="0">
                <a:latin typeface="Courier New"/>
                <a:cs typeface="Courier New"/>
              </a:rPr>
              <a:t>} ); </a:t>
            </a:r>
            <a:endParaRPr lang="en-US" sz="2000" b="1" dirty="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105350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jQuery Object </a:t>
            </a:r>
            <a:r>
              <a:rPr lang="en-US" dirty="0" smtClean="0"/>
              <a:t>Animation</a:t>
            </a:r>
            <a:r>
              <a:rPr lang="en-US" i="1" dirty="0" smtClean="0"/>
              <a:t>, cont’d</a:t>
            </a:r>
            <a:endParaRPr lang="en-US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2042161"/>
          </a:xfrm>
        </p:spPr>
        <p:txBody>
          <a:bodyPr/>
          <a:lstStyle/>
          <a:p>
            <a:r>
              <a:rPr lang="en-US" dirty="0" smtClean="0"/>
              <a:t>The jQuery </a:t>
            </a:r>
            <a:r>
              <a:rPr lang="en-US" b="1" dirty="0" smtClean="0">
                <a:solidFill>
                  <a:srgbClr val="0033CC"/>
                </a:solidFill>
                <a:latin typeface="Courier New"/>
                <a:cs typeface="Courier New"/>
              </a:rPr>
              <a:t>animate()</a:t>
            </a:r>
            <a:r>
              <a:rPr lang="en-US" dirty="0" smtClean="0"/>
              <a:t> method changes </a:t>
            </a:r>
            <a:br>
              <a:rPr lang="en-US" dirty="0" smtClean="0"/>
            </a:br>
            <a:r>
              <a:rPr lang="en-US" dirty="0" smtClean="0"/>
              <a:t>any DOM characteristics (such as position) </a:t>
            </a:r>
            <a:br>
              <a:rPr lang="en-US" dirty="0" smtClean="0"/>
            </a:br>
            <a:r>
              <a:rPr lang="en-US" u="sng" dirty="0" smtClean="0"/>
              <a:t>over </a:t>
            </a:r>
            <a:r>
              <a:rPr lang="en-US" u="sng" dirty="0" smtClean="0"/>
              <a:t>time</a:t>
            </a:r>
            <a:r>
              <a:rPr lang="en-US" dirty="0" smtClean="0"/>
              <a:t>.</a:t>
            </a:r>
            <a:endParaRPr lang="en-US" dirty="0" smtClean="0"/>
          </a:p>
          <a:p>
            <a:pPr lvl="7"/>
            <a:endParaRPr lang="en-US" dirty="0"/>
          </a:p>
          <a:p>
            <a:pPr lvl="1"/>
            <a:r>
              <a:rPr lang="en-US" dirty="0" smtClean="0"/>
              <a:t>Example: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Change the left and top attribute values to 500px and 300px, respectively, over a span of 2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F0376-0E54-9843-B673-E00D6670E830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959925" y="3477146"/>
            <a:ext cx="5263806" cy="1323439"/>
          </a:xfrm>
          <a:prstGeom prst="rect">
            <a:avLst/>
          </a:prstGeom>
          <a:solidFill>
            <a:srgbClr val="E2EBFF"/>
          </a:solidFill>
          <a:ln>
            <a:solidFill>
              <a:srgbClr val="0033CC"/>
            </a:solidFill>
          </a:ln>
        </p:spPr>
        <p:txBody>
          <a:bodyPr wrap="none" rtlCol="0">
            <a:spAutoFit/>
          </a:bodyPr>
          <a:lstStyle/>
          <a:p>
            <a:r>
              <a:rPr lang="da-DK" sz="2000" b="1" dirty="0">
                <a:latin typeface="Courier New"/>
                <a:cs typeface="Courier New"/>
              </a:rPr>
              <a:t>var </a:t>
            </a:r>
            <a:r>
              <a:rPr lang="da-DK" sz="2000" b="1" dirty="0" smtClean="0">
                <a:latin typeface="Courier New"/>
                <a:cs typeface="Courier New"/>
              </a:rPr>
              <a:t>end = </a:t>
            </a:r>
            <a:r>
              <a:rPr lang="da-DK" sz="2000" b="1" dirty="0">
                <a:latin typeface="Courier New"/>
                <a:cs typeface="Courier New"/>
              </a:rPr>
              <a:t>{"</a:t>
            </a:r>
            <a:r>
              <a:rPr lang="da-DK" sz="2000" b="1" dirty="0" err="1">
                <a:latin typeface="Courier New"/>
                <a:cs typeface="Courier New"/>
              </a:rPr>
              <a:t>left</a:t>
            </a:r>
            <a:r>
              <a:rPr lang="da-DK" sz="2000" b="1" dirty="0">
                <a:latin typeface="Courier New"/>
                <a:cs typeface="Courier New"/>
              </a:rPr>
              <a:t>": "500px",</a:t>
            </a:r>
          </a:p>
          <a:p>
            <a:r>
              <a:rPr lang="da-DK" sz="2000" b="1" dirty="0">
                <a:latin typeface="Courier New"/>
                <a:cs typeface="Courier New"/>
              </a:rPr>
              <a:t>          </a:t>
            </a:r>
            <a:r>
              <a:rPr lang="da-DK" sz="2000" b="1" dirty="0" smtClean="0">
                <a:latin typeface="Courier New"/>
                <a:cs typeface="Courier New"/>
              </a:rPr>
              <a:t> </a:t>
            </a:r>
            <a:r>
              <a:rPr lang="da-DK" sz="2000" b="1" dirty="0">
                <a:latin typeface="Courier New"/>
                <a:cs typeface="Courier New"/>
              </a:rPr>
              <a:t>"top":  "300px"}</a:t>
            </a:r>
            <a:r>
              <a:rPr lang="da-DK" sz="2000" b="1" dirty="0" smtClean="0">
                <a:latin typeface="Courier New"/>
                <a:cs typeface="Courier New"/>
              </a:rPr>
              <a:t>;</a:t>
            </a:r>
          </a:p>
          <a:p>
            <a:r>
              <a:rPr lang="da-DK" sz="2000" b="1" dirty="0" smtClean="0">
                <a:latin typeface="Courier New"/>
                <a:cs typeface="Courier New"/>
              </a:rPr>
              <a:t>...</a:t>
            </a:r>
            <a:endParaRPr lang="da-DK" sz="2000" b="1" dirty="0">
              <a:latin typeface="Courier New"/>
              <a:cs typeface="Courier New"/>
            </a:endParaRPr>
          </a:p>
          <a:p>
            <a:r>
              <a:rPr lang="en-US" sz="2000" b="1" dirty="0">
                <a:latin typeface="Courier New"/>
                <a:cs typeface="Courier New"/>
              </a:rPr>
              <a:t>$("#content").animate(end, 2000)</a:t>
            </a:r>
            <a:r>
              <a:rPr lang="en-US" sz="2000" b="1" dirty="0" smtClean="0">
                <a:latin typeface="Courier New"/>
                <a:cs typeface="Courier New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898794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jQuery Object Animation</a:t>
            </a:r>
            <a:r>
              <a:rPr lang="en-US" i="1" dirty="0"/>
              <a:t>, 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1"/>
            <a:ext cx="8229600" cy="3322306"/>
          </a:xfrm>
        </p:spPr>
        <p:txBody>
          <a:bodyPr/>
          <a:lstStyle/>
          <a:p>
            <a:r>
              <a:rPr lang="en-US" dirty="0" smtClean="0"/>
              <a:t>The animation can occur in two modes.</a:t>
            </a:r>
          </a:p>
          <a:p>
            <a:pPr lvl="4"/>
            <a:endParaRPr lang="en-US" dirty="0" smtClean="0"/>
          </a:p>
          <a:p>
            <a:r>
              <a:rPr lang="en-US" dirty="0" smtClean="0">
                <a:solidFill>
                  <a:srgbClr val="B23C00"/>
                </a:solidFill>
              </a:rPr>
              <a:t>swing: </a:t>
            </a:r>
            <a:r>
              <a:rPr lang="en-US" dirty="0" smtClean="0"/>
              <a:t>The animation starts slowly, speeds up, and then ends slowly (like a child on a swing). </a:t>
            </a:r>
          </a:p>
          <a:p>
            <a:pPr lvl="1"/>
            <a:r>
              <a:rPr lang="en-US" dirty="0" smtClean="0"/>
              <a:t>This is the default mode.</a:t>
            </a:r>
          </a:p>
          <a:p>
            <a:pPr lvl="4"/>
            <a:endParaRPr lang="en-US" dirty="0" smtClean="0"/>
          </a:p>
          <a:p>
            <a:r>
              <a:rPr lang="en-US" dirty="0" smtClean="0">
                <a:solidFill>
                  <a:srgbClr val="B23C00"/>
                </a:solidFill>
              </a:rPr>
              <a:t>linear:</a:t>
            </a:r>
            <a:r>
              <a:rPr lang="en-US" dirty="0" smtClean="0"/>
              <a:t> The animation occurs at a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constant </a:t>
            </a:r>
            <a:r>
              <a:rPr lang="en-US" dirty="0" smtClean="0"/>
              <a:t>speed.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F0376-0E54-9843-B673-E00D6670E830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097318" y="4800585"/>
            <a:ext cx="6802939" cy="400110"/>
          </a:xfrm>
          <a:prstGeom prst="rect">
            <a:avLst/>
          </a:prstGeom>
          <a:solidFill>
            <a:srgbClr val="E2EAFF"/>
          </a:solidFill>
          <a:ln>
            <a:solidFill>
              <a:srgbClr val="0033CC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Courier New"/>
                <a:cs typeface="Courier New"/>
              </a:rPr>
              <a:t>$("#content").animate(end, 2000, "linear");</a:t>
            </a:r>
          </a:p>
        </p:txBody>
      </p:sp>
    </p:spTree>
    <p:extLst>
      <p:ext uri="{BB962C8B-B14F-4D97-AF65-F5344CB8AC3E}">
        <p14:creationId xmlns:p14="http://schemas.microsoft.com/office/powerpoint/2010/main" val="1431360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jQuery Object Animation</a:t>
            </a:r>
            <a:r>
              <a:rPr lang="en-US" i="1" dirty="0"/>
              <a:t>, cont’d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F0376-0E54-9843-B673-E00D6670E830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280196" y="1234464"/>
            <a:ext cx="6466190" cy="50475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BFBFBF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Courier New"/>
                <a:cs typeface="Courier New"/>
              </a:rPr>
              <a:t>&lt;form action = ""&gt;</a:t>
            </a:r>
          </a:p>
          <a:p>
            <a:r>
              <a:rPr lang="en-US" sz="1400" b="1" dirty="0">
                <a:latin typeface="Courier New"/>
                <a:cs typeface="Courier New"/>
              </a:rPr>
              <a:t>    &lt;</a:t>
            </a:r>
            <a:r>
              <a:rPr lang="en-US" sz="1400" b="1" dirty="0" err="1">
                <a:latin typeface="Courier New"/>
                <a:cs typeface="Courier New"/>
              </a:rPr>
              <a:t>fieldset</a:t>
            </a:r>
            <a:r>
              <a:rPr lang="en-US" sz="1400" b="1" dirty="0">
                <a:latin typeface="Courier New"/>
                <a:cs typeface="Courier New"/>
              </a:rPr>
              <a:t>&gt;</a:t>
            </a:r>
          </a:p>
          <a:p>
            <a:r>
              <a:rPr lang="it-IT" sz="1400" b="1" dirty="0">
                <a:latin typeface="Courier New"/>
                <a:cs typeface="Courier New"/>
              </a:rPr>
              <a:t>        &lt;</a:t>
            </a:r>
            <a:r>
              <a:rPr lang="it-IT" sz="1400" b="1" dirty="0" err="1">
                <a:latin typeface="Courier New"/>
                <a:cs typeface="Courier New"/>
              </a:rPr>
              <a:t>button</a:t>
            </a:r>
            <a:r>
              <a:rPr lang="it-IT" sz="1400" b="1" dirty="0">
                <a:latin typeface="Courier New"/>
                <a:cs typeface="Courier New"/>
              </a:rPr>
              <a:t> </a:t>
            </a:r>
            <a:r>
              <a:rPr lang="it-IT" sz="1400" b="1" dirty="0" err="1">
                <a:latin typeface="Courier New"/>
                <a:cs typeface="Courier New"/>
              </a:rPr>
              <a:t>type</a:t>
            </a:r>
            <a:r>
              <a:rPr lang="it-IT" sz="1400" b="1" dirty="0">
                <a:latin typeface="Courier New"/>
                <a:cs typeface="Courier New"/>
              </a:rPr>
              <a:t> = "</a:t>
            </a:r>
            <a:r>
              <a:rPr lang="it-IT" sz="1400" b="1" dirty="0" err="1">
                <a:latin typeface="Courier New"/>
                <a:cs typeface="Courier New"/>
              </a:rPr>
              <a:t>button</a:t>
            </a:r>
            <a:r>
              <a:rPr lang="it-IT" sz="1400" b="1" dirty="0">
                <a:latin typeface="Courier New"/>
                <a:cs typeface="Courier New"/>
              </a:rPr>
              <a:t>" id = "home"&gt;</a:t>
            </a:r>
          </a:p>
          <a:p>
            <a:r>
              <a:rPr lang="it-IT" sz="1400" b="1" dirty="0">
                <a:latin typeface="Courier New"/>
                <a:cs typeface="Courier New"/>
              </a:rPr>
              <a:t>            Home</a:t>
            </a:r>
          </a:p>
          <a:p>
            <a:r>
              <a:rPr lang="it-IT" sz="1400" b="1" dirty="0">
                <a:latin typeface="Courier New"/>
                <a:cs typeface="Courier New"/>
              </a:rPr>
              <a:t>        &lt;/</a:t>
            </a:r>
            <a:r>
              <a:rPr lang="it-IT" sz="1400" b="1" dirty="0" err="1">
                <a:latin typeface="Courier New"/>
                <a:cs typeface="Courier New"/>
              </a:rPr>
              <a:t>button</a:t>
            </a:r>
            <a:r>
              <a:rPr lang="it-IT" sz="1400" b="1" dirty="0">
                <a:latin typeface="Courier New"/>
                <a:cs typeface="Courier New"/>
              </a:rPr>
              <a:t>&gt;</a:t>
            </a:r>
          </a:p>
          <a:p>
            <a:r>
              <a:rPr lang="en-US" sz="1400" b="1" dirty="0">
                <a:latin typeface="Courier New"/>
                <a:cs typeface="Courier New"/>
              </a:rPr>
              <a:t>        &lt;button type = "button" id = "swing"&gt;</a:t>
            </a:r>
          </a:p>
          <a:p>
            <a:r>
              <a:rPr lang="en-US" sz="1400" b="1" dirty="0">
                <a:latin typeface="Courier New"/>
                <a:cs typeface="Courier New"/>
              </a:rPr>
              <a:t>            Swing glide</a:t>
            </a:r>
          </a:p>
          <a:p>
            <a:r>
              <a:rPr lang="it-IT" sz="1400" b="1" dirty="0">
                <a:latin typeface="Courier New"/>
                <a:cs typeface="Courier New"/>
              </a:rPr>
              <a:t>        &lt;/</a:t>
            </a:r>
            <a:r>
              <a:rPr lang="it-IT" sz="1400" b="1" dirty="0" err="1">
                <a:latin typeface="Courier New"/>
                <a:cs typeface="Courier New"/>
              </a:rPr>
              <a:t>button</a:t>
            </a:r>
            <a:r>
              <a:rPr lang="it-IT" sz="1400" b="1" dirty="0">
                <a:latin typeface="Courier New"/>
                <a:cs typeface="Courier New"/>
              </a:rPr>
              <a:t>&gt;</a:t>
            </a:r>
          </a:p>
          <a:p>
            <a:r>
              <a:rPr lang="it-IT" sz="1400" b="1" dirty="0">
                <a:latin typeface="Courier New"/>
                <a:cs typeface="Courier New"/>
              </a:rPr>
              <a:t>        &lt;</a:t>
            </a:r>
            <a:r>
              <a:rPr lang="it-IT" sz="1400" b="1" dirty="0" err="1">
                <a:latin typeface="Courier New"/>
                <a:cs typeface="Courier New"/>
              </a:rPr>
              <a:t>button</a:t>
            </a:r>
            <a:r>
              <a:rPr lang="it-IT" sz="1400" b="1" dirty="0">
                <a:latin typeface="Courier New"/>
                <a:cs typeface="Courier New"/>
              </a:rPr>
              <a:t> </a:t>
            </a:r>
            <a:r>
              <a:rPr lang="it-IT" sz="1400" b="1" dirty="0" err="1">
                <a:latin typeface="Courier New"/>
                <a:cs typeface="Courier New"/>
              </a:rPr>
              <a:t>type</a:t>
            </a:r>
            <a:r>
              <a:rPr lang="it-IT" sz="1400" b="1" dirty="0">
                <a:latin typeface="Courier New"/>
                <a:cs typeface="Courier New"/>
              </a:rPr>
              <a:t> = "</a:t>
            </a:r>
            <a:r>
              <a:rPr lang="it-IT" sz="1400" b="1" dirty="0" err="1">
                <a:latin typeface="Courier New"/>
                <a:cs typeface="Courier New"/>
              </a:rPr>
              <a:t>button</a:t>
            </a:r>
            <a:r>
              <a:rPr lang="it-IT" sz="1400" b="1" dirty="0">
                <a:latin typeface="Courier New"/>
                <a:cs typeface="Courier New"/>
              </a:rPr>
              <a:t>" id = "linear"&gt;</a:t>
            </a:r>
          </a:p>
          <a:p>
            <a:r>
              <a:rPr lang="it-IT" sz="1400" b="1" dirty="0">
                <a:latin typeface="Courier New"/>
                <a:cs typeface="Courier New"/>
              </a:rPr>
              <a:t>            Linear </a:t>
            </a:r>
            <a:r>
              <a:rPr lang="it-IT" sz="1400" b="1" dirty="0" err="1">
                <a:latin typeface="Courier New"/>
                <a:cs typeface="Courier New"/>
              </a:rPr>
              <a:t>glide</a:t>
            </a:r>
            <a:endParaRPr lang="it-IT" sz="1400" b="1" dirty="0">
              <a:latin typeface="Courier New"/>
              <a:cs typeface="Courier New"/>
            </a:endParaRPr>
          </a:p>
          <a:p>
            <a:r>
              <a:rPr lang="it-IT" sz="1400" b="1" dirty="0">
                <a:latin typeface="Courier New"/>
                <a:cs typeface="Courier New"/>
              </a:rPr>
              <a:t>        &lt;/</a:t>
            </a:r>
            <a:r>
              <a:rPr lang="it-IT" sz="1400" b="1" dirty="0" err="1">
                <a:latin typeface="Courier New"/>
                <a:cs typeface="Courier New"/>
              </a:rPr>
              <a:t>button</a:t>
            </a:r>
            <a:r>
              <a:rPr lang="it-IT" sz="1400" b="1" dirty="0">
                <a:latin typeface="Courier New"/>
                <a:cs typeface="Courier New"/>
              </a:rPr>
              <a:t>&gt;</a:t>
            </a:r>
          </a:p>
          <a:p>
            <a:r>
              <a:rPr lang="it-IT" sz="1400" b="1" dirty="0">
                <a:latin typeface="Courier New"/>
                <a:cs typeface="Courier New"/>
              </a:rPr>
              <a:t>        &lt;</a:t>
            </a:r>
            <a:r>
              <a:rPr lang="it-IT" sz="1400" b="1" dirty="0" err="1">
                <a:latin typeface="Courier New"/>
                <a:cs typeface="Courier New"/>
              </a:rPr>
              <a:t>button</a:t>
            </a:r>
            <a:r>
              <a:rPr lang="it-IT" sz="1400" b="1" dirty="0">
                <a:latin typeface="Courier New"/>
                <a:cs typeface="Courier New"/>
              </a:rPr>
              <a:t> </a:t>
            </a:r>
            <a:r>
              <a:rPr lang="it-IT" sz="1400" b="1" dirty="0" err="1">
                <a:latin typeface="Courier New"/>
                <a:cs typeface="Courier New"/>
              </a:rPr>
              <a:t>type</a:t>
            </a:r>
            <a:r>
              <a:rPr lang="it-IT" sz="1400" b="1" dirty="0">
                <a:latin typeface="Courier New"/>
                <a:cs typeface="Courier New"/>
              </a:rPr>
              <a:t> = "</a:t>
            </a:r>
            <a:r>
              <a:rPr lang="it-IT" sz="1400" b="1" dirty="0" err="1">
                <a:latin typeface="Courier New"/>
                <a:cs typeface="Courier New"/>
              </a:rPr>
              <a:t>button</a:t>
            </a:r>
            <a:r>
              <a:rPr lang="it-IT" sz="1400" b="1" dirty="0">
                <a:latin typeface="Courier New"/>
                <a:cs typeface="Courier New"/>
              </a:rPr>
              <a:t>" id = "</a:t>
            </a:r>
            <a:r>
              <a:rPr lang="it-IT" sz="1400" b="1" dirty="0" err="1">
                <a:latin typeface="Courier New"/>
                <a:cs typeface="Courier New"/>
              </a:rPr>
              <a:t>left</a:t>
            </a:r>
            <a:r>
              <a:rPr lang="it-IT" sz="1400" b="1" dirty="0">
                <a:latin typeface="Courier New"/>
                <a:cs typeface="Courier New"/>
              </a:rPr>
              <a:t>"&gt;</a:t>
            </a:r>
          </a:p>
          <a:p>
            <a:r>
              <a:rPr lang="it-IT" sz="1400" b="1" dirty="0">
                <a:latin typeface="Courier New"/>
                <a:cs typeface="Courier New"/>
              </a:rPr>
              <a:t>            &amp;lt;--</a:t>
            </a:r>
          </a:p>
          <a:p>
            <a:r>
              <a:rPr lang="it-IT" sz="1400" b="1" dirty="0">
                <a:latin typeface="Courier New"/>
                <a:cs typeface="Courier New"/>
              </a:rPr>
              <a:t>        &lt;/</a:t>
            </a:r>
            <a:r>
              <a:rPr lang="it-IT" sz="1400" b="1" dirty="0" err="1">
                <a:latin typeface="Courier New"/>
                <a:cs typeface="Courier New"/>
              </a:rPr>
              <a:t>button</a:t>
            </a:r>
            <a:r>
              <a:rPr lang="it-IT" sz="1400" b="1" dirty="0">
                <a:latin typeface="Courier New"/>
                <a:cs typeface="Courier New"/>
              </a:rPr>
              <a:t>&gt;</a:t>
            </a:r>
          </a:p>
          <a:p>
            <a:r>
              <a:rPr lang="en-US" sz="1400" b="1" dirty="0">
                <a:latin typeface="Courier New"/>
                <a:cs typeface="Courier New"/>
              </a:rPr>
              <a:t>        &lt;button type = "button" id = "right"&gt;</a:t>
            </a:r>
          </a:p>
          <a:p>
            <a:r>
              <a:rPr lang="en-US" sz="1400" b="1" dirty="0">
                <a:latin typeface="Courier New"/>
                <a:cs typeface="Courier New"/>
              </a:rPr>
              <a:t>            --&gt;</a:t>
            </a:r>
          </a:p>
          <a:p>
            <a:r>
              <a:rPr lang="it-IT" sz="1400" b="1" dirty="0">
                <a:latin typeface="Courier New"/>
                <a:cs typeface="Courier New"/>
              </a:rPr>
              <a:t>        &lt;/</a:t>
            </a:r>
            <a:r>
              <a:rPr lang="it-IT" sz="1400" b="1" dirty="0" err="1">
                <a:latin typeface="Courier New"/>
                <a:cs typeface="Courier New"/>
              </a:rPr>
              <a:t>button</a:t>
            </a:r>
            <a:r>
              <a:rPr lang="it-IT" sz="1400" b="1" dirty="0">
                <a:latin typeface="Courier New"/>
                <a:cs typeface="Courier New"/>
              </a:rPr>
              <a:t>&gt;</a:t>
            </a:r>
          </a:p>
          <a:p>
            <a:r>
              <a:rPr lang="en-US" sz="1400" b="1" dirty="0">
                <a:latin typeface="Courier New"/>
                <a:cs typeface="Courier New"/>
              </a:rPr>
              <a:t>    &lt;/</a:t>
            </a:r>
            <a:r>
              <a:rPr lang="en-US" sz="1400" b="1" dirty="0" err="1">
                <a:latin typeface="Courier New"/>
                <a:cs typeface="Courier New"/>
              </a:rPr>
              <a:t>fieldset</a:t>
            </a:r>
            <a:r>
              <a:rPr lang="en-US" sz="1400" b="1" dirty="0">
                <a:latin typeface="Courier New"/>
                <a:cs typeface="Courier New"/>
              </a:rPr>
              <a:t>&gt;</a:t>
            </a:r>
          </a:p>
          <a:p>
            <a:r>
              <a:rPr lang="en-US" sz="1400" b="1" dirty="0">
                <a:latin typeface="Courier New"/>
                <a:cs typeface="Courier New"/>
              </a:rPr>
              <a:t>&lt;/form&gt;</a:t>
            </a:r>
          </a:p>
          <a:p>
            <a:endParaRPr lang="en-US" sz="1400" b="1" dirty="0">
              <a:latin typeface="Courier New"/>
              <a:cs typeface="Courier New"/>
            </a:endParaRPr>
          </a:p>
          <a:p>
            <a:r>
              <a:rPr lang="en-US" sz="1400" b="1" dirty="0">
                <a:latin typeface="Courier New"/>
                <a:cs typeface="Courier New"/>
              </a:rPr>
              <a:t>&lt;p id="content"&gt;</a:t>
            </a:r>
          </a:p>
          <a:p>
            <a:r>
              <a:rPr lang="en-US" sz="1400" b="1" dirty="0">
                <a:latin typeface="Courier New"/>
                <a:cs typeface="Courier New"/>
              </a:rPr>
              <a:t>    &lt;</a:t>
            </a:r>
            <a:r>
              <a:rPr lang="en-US" sz="1400" b="1" dirty="0" err="1">
                <a:latin typeface="Courier New"/>
                <a:cs typeface="Courier New"/>
              </a:rPr>
              <a:t>img</a:t>
            </a:r>
            <a:r>
              <a:rPr lang="en-US" sz="1400" b="1" dirty="0">
                <a:latin typeface="Courier New"/>
                <a:cs typeface="Courier New"/>
              </a:rPr>
              <a:t> </a:t>
            </a:r>
            <a:r>
              <a:rPr lang="en-US" sz="1400" b="1" dirty="0" err="1">
                <a:latin typeface="Courier New"/>
                <a:cs typeface="Courier New"/>
              </a:rPr>
              <a:t>src</a:t>
            </a:r>
            <a:r>
              <a:rPr lang="en-US" sz="1400" b="1" dirty="0">
                <a:latin typeface="Courier New"/>
                <a:cs typeface="Courier New"/>
              </a:rPr>
              <a:t>="images/</a:t>
            </a:r>
            <a:r>
              <a:rPr lang="en-US" sz="1400" b="1" dirty="0" err="1">
                <a:latin typeface="Courier New"/>
                <a:cs typeface="Courier New"/>
              </a:rPr>
              <a:t>Bristol.png</a:t>
            </a:r>
            <a:r>
              <a:rPr lang="en-US" sz="1400" b="1" dirty="0">
                <a:latin typeface="Courier New"/>
                <a:cs typeface="Courier New"/>
              </a:rPr>
              <a:t>" width="200" id="image"/&gt;</a:t>
            </a:r>
          </a:p>
          <a:p>
            <a:r>
              <a:rPr lang="en-US" sz="1400" b="1" dirty="0">
                <a:latin typeface="Courier New"/>
                <a:cs typeface="Courier New"/>
              </a:rPr>
              <a:t>&lt;/p&gt;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58" y="1325903"/>
            <a:ext cx="1359266" cy="338554"/>
          </a:xfrm>
          <a:prstGeom prst="rect">
            <a:avLst/>
          </a:prstGeom>
          <a:solidFill>
            <a:srgbClr val="0033CC"/>
          </a:solidFill>
        </p:spPr>
        <p:txBody>
          <a:bodyPr wrap="none" rtlCol="0">
            <a:spAutoFit/>
          </a:bodyPr>
          <a:lstStyle/>
          <a:p>
            <a:r>
              <a:rPr lang="en-US" dirty="0" err="1" smtClean="0">
                <a:solidFill>
                  <a:srgbClr val="FFFF00"/>
                </a:solidFill>
              </a:rPr>
              <a:t>animate.html</a:t>
            </a:r>
            <a:endParaRPr lang="en-US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1487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jQuery Object Animation</a:t>
            </a:r>
            <a:r>
              <a:rPr lang="en-US" i="1" dirty="0"/>
              <a:t>, cont’d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F0376-0E54-9843-B673-E00D6670E830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188757" y="1366385"/>
            <a:ext cx="4937706" cy="52629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/>
                <a:cs typeface="Courier New"/>
              </a:rPr>
              <a:t>$(</a:t>
            </a:r>
            <a:r>
              <a:rPr lang="en-US" b="1" dirty="0" err="1">
                <a:latin typeface="Courier New"/>
                <a:cs typeface="Courier New"/>
              </a:rPr>
              <a:t>init</a:t>
            </a:r>
            <a:r>
              <a:rPr lang="en-US" b="1" dirty="0">
                <a:latin typeface="Courier New"/>
                <a:cs typeface="Courier New"/>
              </a:rPr>
              <a:t>);</a:t>
            </a:r>
          </a:p>
          <a:p>
            <a:endParaRPr lang="en-US" b="1" dirty="0">
              <a:latin typeface="Courier New"/>
              <a:cs typeface="Courier New"/>
            </a:endParaRPr>
          </a:p>
          <a:p>
            <a:r>
              <a:rPr lang="da-DK" b="1" dirty="0">
                <a:latin typeface="Courier New"/>
                <a:cs typeface="Courier New"/>
              </a:rPr>
              <a:t>var start = {"</a:t>
            </a:r>
            <a:r>
              <a:rPr lang="da-DK" b="1" dirty="0" err="1">
                <a:latin typeface="Courier New"/>
                <a:cs typeface="Courier New"/>
              </a:rPr>
              <a:t>left</a:t>
            </a:r>
            <a:r>
              <a:rPr lang="da-DK" b="1" dirty="0">
                <a:latin typeface="Courier New"/>
                <a:cs typeface="Courier New"/>
              </a:rPr>
              <a:t>": "10px",</a:t>
            </a:r>
          </a:p>
          <a:p>
            <a:r>
              <a:rPr lang="da-DK" b="1" dirty="0">
                <a:latin typeface="Courier New"/>
                <a:cs typeface="Courier New"/>
              </a:rPr>
              <a:t>             "top":  "120px"};</a:t>
            </a:r>
          </a:p>
          <a:p>
            <a:endParaRPr lang="da-DK" b="1" dirty="0">
              <a:latin typeface="Courier New"/>
              <a:cs typeface="Courier New"/>
            </a:endParaRPr>
          </a:p>
          <a:p>
            <a:r>
              <a:rPr lang="da-DK" b="1" dirty="0">
                <a:latin typeface="Courier New"/>
                <a:cs typeface="Courier New"/>
              </a:rPr>
              <a:t>var end   = {"</a:t>
            </a:r>
            <a:r>
              <a:rPr lang="da-DK" b="1" dirty="0" err="1">
                <a:latin typeface="Courier New"/>
                <a:cs typeface="Courier New"/>
              </a:rPr>
              <a:t>left</a:t>
            </a:r>
            <a:r>
              <a:rPr lang="da-DK" b="1" dirty="0">
                <a:latin typeface="Courier New"/>
                <a:cs typeface="Courier New"/>
              </a:rPr>
              <a:t>": "500px",</a:t>
            </a:r>
          </a:p>
          <a:p>
            <a:r>
              <a:rPr lang="da-DK" b="1" dirty="0">
                <a:latin typeface="Courier New"/>
                <a:cs typeface="Courier New"/>
              </a:rPr>
              <a:t>             "top":  "300px"};</a:t>
            </a:r>
          </a:p>
          <a:p>
            <a:endParaRPr lang="da-DK" b="1" dirty="0">
              <a:latin typeface="Courier New"/>
              <a:cs typeface="Courier New"/>
            </a:endParaRPr>
          </a:p>
          <a:p>
            <a:r>
              <a:rPr lang="da-DK" b="1" dirty="0" err="1">
                <a:latin typeface="Courier New"/>
                <a:cs typeface="Courier New"/>
              </a:rPr>
              <a:t>function</a:t>
            </a:r>
            <a:r>
              <a:rPr lang="da-DK" b="1" dirty="0">
                <a:latin typeface="Courier New"/>
                <a:cs typeface="Courier New"/>
              </a:rPr>
              <a:t> </a:t>
            </a:r>
            <a:r>
              <a:rPr lang="da-DK" b="1" dirty="0" err="1">
                <a:latin typeface="Courier New"/>
                <a:cs typeface="Courier New"/>
              </a:rPr>
              <a:t>init</a:t>
            </a:r>
            <a:r>
              <a:rPr lang="da-DK" b="1" dirty="0">
                <a:latin typeface="Courier New"/>
                <a:cs typeface="Courier New"/>
              </a:rPr>
              <a:t>()</a:t>
            </a:r>
          </a:p>
          <a:p>
            <a:r>
              <a:rPr lang="da-DK" b="1" dirty="0">
                <a:latin typeface="Courier New"/>
                <a:cs typeface="Courier New"/>
              </a:rPr>
              <a:t>{</a:t>
            </a:r>
          </a:p>
          <a:p>
            <a:r>
              <a:rPr lang="en-US" b="1" dirty="0">
                <a:latin typeface="Courier New"/>
                <a:cs typeface="Courier New"/>
              </a:rPr>
              <a:t>    $("#home").click(</a:t>
            </a:r>
            <a:r>
              <a:rPr lang="en-US" b="1" dirty="0">
                <a:solidFill>
                  <a:srgbClr val="B23C00"/>
                </a:solidFill>
                <a:latin typeface="Courier New"/>
                <a:cs typeface="Courier New"/>
              </a:rPr>
              <a:t>home</a:t>
            </a:r>
            <a:r>
              <a:rPr lang="en-US" b="1" dirty="0">
                <a:latin typeface="Courier New"/>
                <a:cs typeface="Courier New"/>
              </a:rPr>
              <a:t>);</a:t>
            </a:r>
          </a:p>
          <a:p>
            <a:r>
              <a:rPr lang="en-US" b="1" dirty="0">
                <a:latin typeface="Courier New"/>
                <a:cs typeface="Courier New"/>
              </a:rPr>
              <a:t>    $("#swing").click(</a:t>
            </a:r>
            <a:r>
              <a:rPr lang="en-US" b="1" dirty="0" err="1">
                <a:solidFill>
                  <a:srgbClr val="B23C00"/>
                </a:solidFill>
                <a:latin typeface="Courier New"/>
                <a:cs typeface="Courier New"/>
              </a:rPr>
              <a:t>swingGlide</a:t>
            </a:r>
            <a:r>
              <a:rPr lang="en-US" b="1" dirty="0">
                <a:latin typeface="Courier New"/>
                <a:cs typeface="Courier New"/>
              </a:rPr>
              <a:t>);</a:t>
            </a:r>
          </a:p>
          <a:p>
            <a:r>
              <a:rPr lang="en-US" b="1" dirty="0">
                <a:latin typeface="Courier New"/>
                <a:cs typeface="Courier New"/>
              </a:rPr>
              <a:t>    $("#linear").click(</a:t>
            </a:r>
            <a:r>
              <a:rPr lang="en-US" b="1" dirty="0" err="1">
                <a:solidFill>
                  <a:srgbClr val="B23C00"/>
                </a:solidFill>
                <a:latin typeface="Courier New"/>
                <a:cs typeface="Courier New"/>
              </a:rPr>
              <a:t>linearGlide</a:t>
            </a:r>
            <a:r>
              <a:rPr lang="en-US" b="1" dirty="0">
                <a:latin typeface="Courier New"/>
                <a:cs typeface="Courier New"/>
              </a:rPr>
              <a:t>);</a:t>
            </a:r>
          </a:p>
          <a:p>
            <a:r>
              <a:rPr lang="cs-CZ" b="1" dirty="0">
                <a:latin typeface="Courier New"/>
                <a:cs typeface="Courier New"/>
              </a:rPr>
              <a:t>    $("#</a:t>
            </a:r>
            <a:r>
              <a:rPr lang="cs-CZ" b="1" dirty="0" err="1">
                <a:latin typeface="Courier New"/>
                <a:cs typeface="Courier New"/>
              </a:rPr>
              <a:t>left</a:t>
            </a:r>
            <a:r>
              <a:rPr lang="cs-CZ" b="1" dirty="0">
                <a:latin typeface="Courier New"/>
                <a:cs typeface="Courier New"/>
              </a:rPr>
              <a:t>").</a:t>
            </a:r>
            <a:r>
              <a:rPr lang="cs-CZ" b="1" dirty="0" err="1">
                <a:latin typeface="Courier New"/>
                <a:cs typeface="Courier New"/>
              </a:rPr>
              <a:t>click</a:t>
            </a:r>
            <a:r>
              <a:rPr lang="cs-CZ" b="1" dirty="0">
                <a:latin typeface="Courier New"/>
                <a:cs typeface="Courier New"/>
              </a:rPr>
              <a:t>(</a:t>
            </a:r>
            <a:r>
              <a:rPr lang="cs-CZ" b="1" dirty="0" err="1">
                <a:solidFill>
                  <a:srgbClr val="B23C00"/>
                </a:solidFill>
                <a:latin typeface="Courier New"/>
                <a:cs typeface="Courier New"/>
              </a:rPr>
              <a:t>left</a:t>
            </a:r>
            <a:r>
              <a:rPr lang="cs-CZ" b="1" dirty="0">
                <a:latin typeface="Courier New"/>
                <a:cs typeface="Courier New"/>
              </a:rPr>
              <a:t>);</a:t>
            </a:r>
          </a:p>
          <a:p>
            <a:r>
              <a:rPr lang="en-US" b="1" dirty="0">
                <a:latin typeface="Courier New"/>
                <a:cs typeface="Courier New"/>
              </a:rPr>
              <a:t>    $("#right").click(</a:t>
            </a:r>
            <a:r>
              <a:rPr lang="en-US" b="1" dirty="0">
                <a:solidFill>
                  <a:srgbClr val="B23C00"/>
                </a:solidFill>
                <a:latin typeface="Courier New"/>
                <a:cs typeface="Courier New"/>
              </a:rPr>
              <a:t>right</a:t>
            </a:r>
            <a:r>
              <a:rPr lang="en-US" b="1" dirty="0">
                <a:latin typeface="Courier New"/>
                <a:cs typeface="Courier New"/>
              </a:rPr>
              <a:t>);</a:t>
            </a:r>
          </a:p>
          <a:p>
            <a:r>
              <a:rPr lang="en-US" b="1" dirty="0">
                <a:latin typeface="Courier New"/>
                <a:cs typeface="Courier New"/>
              </a:rPr>
              <a:t>} </a:t>
            </a:r>
          </a:p>
          <a:p>
            <a:endParaRPr lang="en-US" b="1" dirty="0">
              <a:latin typeface="Courier New"/>
              <a:cs typeface="Courier New"/>
            </a:endParaRPr>
          </a:p>
          <a:p>
            <a:r>
              <a:rPr lang="en-US" b="1" dirty="0">
                <a:latin typeface="Courier New"/>
                <a:cs typeface="Courier New"/>
              </a:rPr>
              <a:t>function </a:t>
            </a:r>
            <a:r>
              <a:rPr lang="en-US" b="1" dirty="0">
                <a:solidFill>
                  <a:srgbClr val="B23C00"/>
                </a:solidFill>
                <a:latin typeface="Courier New"/>
                <a:cs typeface="Courier New"/>
              </a:rPr>
              <a:t>home</a:t>
            </a:r>
            <a:r>
              <a:rPr lang="en-US" b="1" dirty="0">
                <a:latin typeface="Courier New"/>
                <a:cs typeface="Courier New"/>
              </a:rPr>
              <a:t>()</a:t>
            </a:r>
          </a:p>
          <a:p>
            <a:r>
              <a:rPr lang="en-US" b="1" dirty="0">
                <a:latin typeface="Courier New"/>
                <a:cs typeface="Courier New"/>
              </a:rPr>
              <a:t>{</a:t>
            </a:r>
          </a:p>
          <a:p>
            <a:r>
              <a:rPr lang="hu-HU" b="1" dirty="0">
                <a:latin typeface="Courier New"/>
                <a:cs typeface="Courier New"/>
              </a:rPr>
              <a:t>    $("#content").css(start);</a:t>
            </a:r>
          </a:p>
          <a:p>
            <a:r>
              <a:rPr lang="hu-HU" b="1" dirty="0">
                <a:latin typeface="Courier New"/>
                <a:cs typeface="Courier New"/>
              </a:rPr>
              <a:t>} </a:t>
            </a:r>
            <a:endParaRPr lang="en-US" b="1" dirty="0">
              <a:latin typeface="Courier New"/>
              <a:cs typeface="Courier New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303512" y="1234464"/>
            <a:ext cx="1119818" cy="338554"/>
          </a:xfrm>
          <a:prstGeom prst="rect">
            <a:avLst/>
          </a:prstGeom>
          <a:solidFill>
            <a:srgbClr val="0033CC"/>
          </a:solidFill>
        </p:spPr>
        <p:txBody>
          <a:bodyPr wrap="none" rtlCol="0">
            <a:spAutoFit/>
          </a:bodyPr>
          <a:lstStyle/>
          <a:p>
            <a:r>
              <a:rPr lang="en-US" dirty="0" err="1" smtClean="0">
                <a:solidFill>
                  <a:srgbClr val="FFFF00"/>
                </a:solidFill>
              </a:rPr>
              <a:t>animate.js</a:t>
            </a:r>
            <a:endParaRPr lang="en-US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2318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jQuery Object Animation</a:t>
            </a:r>
            <a:r>
              <a:rPr lang="en-US" i="1" dirty="0"/>
              <a:t>, cont’d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F0376-0E54-9843-B673-E00D6670E830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188757" y="1366385"/>
            <a:ext cx="6464330" cy="52629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BFBFBF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 New"/>
                <a:cs typeface="Courier New"/>
              </a:rPr>
              <a:t>function </a:t>
            </a:r>
            <a:r>
              <a:rPr lang="en-US" b="1" dirty="0" err="1">
                <a:solidFill>
                  <a:srgbClr val="B23C00"/>
                </a:solidFill>
                <a:latin typeface="Courier New"/>
                <a:cs typeface="Courier New"/>
              </a:rPr>
              <a:t>swingGlide</a:t>
            </a:r>
            <a:r>
              <a:rPr lang="en-US" b="1" dirty="0">
                <a:latin typeface="Courier New"/>
                <a:cs typeface="Courier New"/>
              </a:rPr>
              <a:t>()</a:t>
            </a:r>
          </a:p>
          <a:p>
            <a:r>
              <a:rPr lang="en-US" b="1" dirty="0">
                <a:latin typeface="Courier New"/>
                <a:cs typeface="Courier New"/>
              </a:rPr>
              <a:t>{</a:t>
            </a:r>
          </a:p>
          <a:p>
            <a:r>
              <a:rPr lang="en-US" b="1" dirty="0">
                <a:latin typeface="Courier New"/>
                <a:cs typeface="Courier New"/>
              </a:rPr>
              <a:t>    home();</a:t>
            </a:r>
          </a:p>
          <a:p>
            <a:r>
              <a:rPr lang="en-US" b="1" dirty="0">
                <a:latin typeface="Courier New"/>
                <a:cs typeface="Courier New"/>
              </a:rPr>
              <a:t>    $("#content").animate(end, 2000);</a:t>
            </a:r>
          </a:p>
          <a:p>
            <a:r>
              <a:rPr lang="en-US" b="1" dirty="0">
                <a:latin typeface="Courier New"/>
                <a:cs typeface="Courier New"/>
              </a:rPr>
              <a:t>} </a:t>
            </a:r>
          </a:p>
          <a:p>
            <a:endParaRPr lang="en-US" b="1" dirty="0">
              <a:latin typeface="Courier New"/>
              <a:cs typeface="Courier New"/>
            </a:endParaRPr>
          </a:p>
          <a:p>
            <a:r>
              <a:rPr lang="en-US" b="1" dirty="0">
                <a:latin typeface="Courier New"/>
                <a:cs typeface="Courier New"/>
              </a:rPr>
              <a:t>function </a:t>
            </a:r>
            <a:r>
              <a:rPr lang="en-US" b="1" dirty="0" err="1">
                <a:solidFill>
                  <a:srgbClr val="B23C00"/>
                </a:solidFill>
                <a:latin typeface="Courier New"/>
                <a:cs typeface="Courier New"/>
              </a:rPr>
              <a:t>linearGlide</a:t>
            </a:r>
            <a:r>
              <a:rPr lang="en-US" b="1" dirty="0">
                <a:latin typeface="Courier New"/>
                <a:cs typeface="Courier New"/>
              </a:rPr>
              <a:t>()</a:t>
            </a:r>
          </a:p>
          <a:p>
            <a:r>
              <a:rPr lang="en-US" b="1" dirty="0">
                <a:latin typeface="Courier New"/>
                <a:cs typeface="Courier New"/>
              </a:rPr>
              <a:t>{</a:t>
            </a:r>
          </a:p>
          <a:p>
            <a:r>
              <a:rPr lang="en-US" b="1" dirty="0">
                <a:latin typeface="Courier New"/>
                <a:cs typeface="Courier New"/>
              </a:rPr>
              <a:t>    home();</a:t>
            </a:r>
          </a:p>
          <a:p>
            <a:r>
              <a:rPr lang="en-US" b="1" dirty="0">
                <a:latin typeface="Courier New"/>
                <a:cs typeface="Courier New"/>
              </a:rPr>
              <a:t>    $("#content").animate(end, 2000, </a:t>
            </a:r>
            <a:r>
              <a:rPr lang="en-US" b="1" dirty="0">
                <a:solidFill>
                  <a:srgbClr val="B23C00"/>
                </a:solidFill>
                <a:latin typeface="Courier New"/>
                <a:cs typeface="Courier New"/>
              </a:rPr>
              <a:t>"linear"</a:t>
            </a:r>
            <a:r>
              <a:rPr lang="en-US" b="1" dirty="0">
                <a:latin typeface="Courier New"/>
                <a:cs typeface="Courier New"/>
              </a:rPr>
              <a:t>);</a:t>
            </a:r>
          </a:p>
          <a:p>
            <a:r>
              <a:rPr lang="en-US" b="1" dirty="0">
                <a:latin typeface="Courier New"/>
                <a:cs typeface="Courier New"/>
              </a:rPr>
              <a:t>} </a:t>
            </a:r>
          </a:p>
          <a:p>
            <a:endParaRPr lang="en-US" b="1" dirty="0">
              <a:latin typeface="Courier New"/>
              <a:cs typeface="Courier New"/>
            </a:endParaRPr>
          </a:p>
          <a:p>
            <a:r>
              <a:rPr lang="en-US" b="1" dirty="0">
                <a:latin typeface="Courier New"/>
                <a:cs typeface="Courier New"/>
              </a:rPr>
              <a:t>function </a:t>
            </a:r>
            <a:r>
              <a:rPr lang="en-US" b="1" dirty="0">
                <a:solidFill>
                  <a:srgbClr val="B23C00"/>
                </a:solidFill>
                <a:latin typeface="Courier New"/>
                <a:cs typeface="Courier New"/>
              </a:rPr>
              <a:t>left</a:t>
            </a:r>
            <a:r>
              <a:rPr lang="en-US" b="1" dirty="0">
                <a:latin typeface="Courier New"/>
                <a:cs typeface="Courier New"/>
              </a:rPr>
              <a:t>()</a:t>
            </a:r>
          </a:p>
          <a:p>
            <a:r>
              <a:rPr lang="en-US" b="1" dirty="0">
                <a:latin typeface="Courier New"/>
                <a:cs typeface="Courier New"/>
              </a:rPr>
              <a:t>{</a:t>
            </a:r>
          </a:p>
          <a:p>
            <a:r>
              <a:rPr lang="en-US" b="1" dirty="0">
                <a:latin typeface="Courier New"/>
                <a:cs typeface="Courier New"/>
              </a:rPr>
              <a:t>    $("#content").animate({"left": "-=10px"}, 100);</a:t>
            </a:r>
          </a:p>
          <a:p>
            <a:r>
              <a:rPr lang="en-US" b="1" dirty="0">
                <a:latin typeface="Courier New"/>
                <a:cs typeface="Courier New"/>
              </a:rPr>
              <a:t>} </a:t>
            </a:r>
          </a:p>
          <a:p>
            <a:endParaRPr lang="en-US" b="1" dirty="0">
              <a:latin typeface="Courier New"/>
              <a:cs typeface="Courier New"/>
            </a:endParaRPr>
          </a:p>
          <a:p>
            <a:r>
              <a:rPr lang="en-US" b="1" dirty="0">
                <a:latin typeface="Courier New"/>
                <a:cs typeface="Courier New"/>
              </a:rPr>
              <a:t>function </a:t>
            </a:r>
            <a:r>
              <a:rPr lang="en-US" b="1" dirty="0">
                <a:solidFill>
                  <a:srgbClr val="B23C00"/>
                </a:solidFill>
                <a:latin typeface="Courier New"/>
                <a:cs typeface="Courier New"/>
              </a:rPr>
              <a:t>right</a:t>
            </a:r>
            <a:r>
              <a:rPr lang="en-US" b="1" dirty="0">
                <a:latin typeface="Courier New"/>
                <a:cs typeface="Courier New"/>
              </a:rPr>
              <a:t>()</a:t>
            </a:r>
          </a:p>
          <a:p>
            <a:r>
              <a:rPr lang="en-US" b="1" dirty="0">
                <a:latin typeface="Courier New"/>
                <a:cs typeface="Courier New"/>
              </a:rPr>
              <a:t>{</a:t>
            </a:r>
          </a:p>
          <a:p>
            <a:r>
              <a:rPr lang="en-US" b="1" dirty="0">
                <a:latin typeface="Courier New"/>
                <a:cs typeface="Courier New"/>
              </a:rPr>
              <a:t>    $("#content").animate({"left": "+=10px"}, 100);</a:t>
            </a:r>
          </a:p>
          <a:p>
            <a:r>
              <a:rPr lang="en-US" b="1" dirty="0">
                <a:latin typeface="Courier New"/>
                <a:cs typeface="Courier New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097" y="1234464"/>
            <a:ext cx="1119818" cy="338554"/>
          </a:xfrm>
          <a:prstGeom prst="rect">
            <a:avLst/>
          </a:prstGeom>
          <a:solidFill>
            <a:srgbClr val="0033CC"/>
          </a:solidFill>
        </p:spPr>
        <p:txBody>
          <a:bodyPr wrap="none" rtlCol="0">
            <a:spAutoFit/>
          </a:bodyPr>
          <a:lstStyle/>
          <a:p>
            <a:r>
              <a:rPr lang="en-US" dirty="0" err="1" smtClean="0">
                <a:solidFill>
                  <a:srgbClr val="FFFF00"/>
                </a:solidFill>
              </a:rPr>
              <a:t>animate.js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955243" y="5806414"/>
            <a:ext cx="731991" cy="338554"/>
          </a:xfrm>
          <a:prstGeom prst="rect">
            <a:avLst/>
          </a:prstGeom>
          <a:noFill/>
          <a:ln>
            <a:solidFill>
              <a:srgbClr val="B23C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B23C00"/>
                </a:solidFill>
              </a:rPr>
              <a:t>Demo</a:t>
            </a:r>
            <a:endParaRPr lang="en-US" dirty="0">
              <a:solidFill>
                <a:srgbClr val="B23C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4146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The jQuery User Interface Toolkit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34464"/>
            <a:ext cx="8229600" cy="4896461"/>
          </a:xfrm>
        </p:spPr>
        <p:txBody>
          <a:bodyPr/>
          <a:lstStyle/>
          <a:p>
            <a:r>
              <a:rPr lang="en-US" dirty="0" smtClean="0"/>
              <a:t>The </a:t>
            </a:r>
            <a:r>
              <a:rPr lang="en-US" dirty="0" smtClean="0">
                <a:solidFill>
                  <a:srgbClr val="B23C00"/>
                </a:solidFill>
              </a:rPr>
              <a:t>jQuery User Interface Toolkit </a:t>
            </a:r>
            <a:r>
              <a:rPr lang="en-US" dirty="0" smtClean="0">
                <a:solidFill>
                  <a:srgbClr val="B23C00"/>
                </a:solidFill>
              </a:rPr>
              <a:t/>
            </a:r>
            <a:br>
              <a:rPr lang="en-US" dirty="0" smtClean="0">
                <a:solidFill>
                  <a:srgbClr val="B23C00"/>
                </a:solidFill>
              </a:rPr>
            </a:br>
            <a:r>
              <a:rPr lang="en-US" dirty="0" smtClean="0"/>
              <a:t>is </a:t>
            </a:r>
            <a:r>
              <a:rPr lang="en-US" dirty="0" smtClean="0"/>
              <a:t>built </a:t>
            </a:r>
            <a:r>
              <a:rPr lang="en-US" dirty="0" smtClean="0"/>
              <a:t>on </a:t>
            </a:r>
            <a:r>
              <a:rPr lang="en-US" dirty="0" smtClean="0"/>
              <a:t>top of the jQuery library.</a:t>
            </a:r>
          </a:p>
          <a:p>
            <a:pPr lvl="5"/>
            <a:endParaRPr lang="en-US" dirty="0" smtClean="0"/>
          </a:p>
          <a:p>
            <a:r>
              <a:rPr lang="en-US" dirty="0" smtClean="0"/>
              <a:t>New </a:t>
            </a:r>
            <a:r>
              <a:rPr lang="en-US" dirty="0"/>
              <a:t>cross-</a:t>
            </a:r>
            <a:r>
              <a:rPr lang="en-US" dirty="0" smtClean="0"/>
              <a:t>platform UI features:</a:t>
            </a:r>
          </a:p>
          <a:p>
            <a:pPr lvl="1"/>
            <a:r>
              <a:rPr lang="en-US" dirty="0" smtClean="0"/>
              <a:t>UI elements: scrollbars</a:t>
            </a:r>
          </a:p>
          <a:p>
            <a:pPr lvl="2"/>
            <a:r>
              <a:rPr lang="en-US" dirty="0" smtClean="0"/>
              <a:t>tabs, date pickers, etc.</a:t>
            </a:r>
          </a:p>
          <a:p>
            <a:pPr lvl="1"/>
            <a:r>
              <a:rPr lang="en-US" dirty="0" smtClean="0"/>
              <a:t>Advanced user interaction</a:t>
            </a:r>
          </a:p>
          <a:p>
            <a:pPr lvl="2"/>
            <a:r>
              <a:rPr lang="en-US" dirty="0" smtClean="0"/>
              <a:t>drag and drop</a:t>
            </a:r>
          </a:p>
          <a:p>
            <a:pPr lvl="2"/>
            <a:r>
              <a:rPr lang="en-US" dirty="0" smtClean="0"/>
              <a:t>resize objects</a:t>
            </a:r>
          </a:p>
          <a:p>
            <a:pPr lvl="1"/>
            <a:r>
              <a:rPr lang="en-US" dirty="0" smtClean="0"/>
              <a:t>Theme templates</a:t>
            </a:r>
          </a:p>
          <a:p>
            <a:pPr lvl="2"/>
            <a:r>
              <a:rPr lang="en-US" dirty="0" smtClean="0"/>
              <a:t>control your application’s look and feel</a:t>
            </a:r>
          </a:p>
          <a:p>
            <a:pPr lvl="1"/>
            <a:r>
              <a:rPr lang="en-US" dirty="0" smtClean="0"/>
              <a:t>Icon library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F0376-0E54-9843-B673-E00D6670E830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89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The jQuery User Interface </a:t>
            </a:r>
            <a:r>
              <a:rPr lang="en-US" dirty="0" smtClean="0"/>
              <a:t>Toolkit</a:t>
            </a:r>
            <a:r>
              <a:rPr lang="en-US" i="1" dirty="0" smtClean="0"/>
              <a:t>, cont’d</a:t>
            </a:r>
            <a:endParaRPr lang="en-US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Build a modern application.</a:t>
            </a:r>
          </a:p>
          <a:p>
            <a:pPr lvl="1"/>
            <a:r>
              <a:rPr lang="en-US" dirty="0" smtClean="0"/>
              <a:t>That just happens to run inside a web browser</a:t>
            </a:r>
            <a:r>
              <a:rPr lang="en-US" dirty="0" smtClean="0"/>
              <a:t>.</a:t>
            </a:r>
          </a:p>
          <a:p>
            <a:pPr lvl="1"/>
            <a:r>
              <a:rPr lang="en-US" dirty="0"/>
              <a:t>Add visual effects.</a:t>
            </a:r>
          </a:p>
          <a:p>
            <a:pPr lvl="5"/>
            <a:endParaRPr lang="en-US" dirty="0" smtClean="0"/>
          </a:p>
          <a:p>
            <a:r>
              <a:rPr lang="en-US" dirty="0" smtClean="0"/>
              <a:t>Single-page application (SPA)</a:t>
            </a:r>
            <a:endParaRPr lang="en-US" dirty="0" smtClean="0"/>
          </a:p>
          <a:p>
            <a:pPr lvl="5"/>
            <a:endParaRPr lang="en-US" dirty="0" smtClean="0"/>
          </a:p>
          <a:p>
            <a:r>
              <a:rPr lang="en-US" dirty="0" smtClean="0"/>
              <a:t>Open source</a:t>
            </a:r>
          </a:p>
          <a:p>
            <a:pPr lvl="1"/>
            <a:r>
              <a:rPr lang="en-US" dirty="0" smtClean="0"/>
              <a:t>Download from </a:t>
            </a:r>
            <a:r>
              <a:rPr lang="en-US" dirty="0" smtClean="0">
                <a:hlinkClick r:id="rId2"/>
              </a:rPr>
              <a:t>http://jqueryui.com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F0376-0E54-9843-B673-E00D6670E830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79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Themes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jQuery </a:t>
            </a:r>
            <a:r>
              <a:rPr lang="en-US" dirty="0" smtClean="0">
                <a:solidFill>
                  <a:srgbClr val="B23C00"/>
                </a:solidFill>
              </a:rPr>
              <a:t>theme</a:t>
            </a:r>
            <a:r>
              <a:rPr lang="en-US" dirty="0" smtClean="0"/>
              <a:t> is a </a:t>
            </a:r>
            <a:r>
              <a:rPr lang="en-US" u="sng" dirty="0" smtClean="0"/>
              <a:t>visual rule set</a:t>
            </a:r>
            <a:r>
              <a:rPr lang="en-US" dirty="0" smtClean="0"/>
              <a:t>.</a:t>
            </a:r>
          </a:p>
          <a:p>
            <a:pPr lvl="5"/>
            <a:endParaRPr lang="en-US" dirty="0" smtClean="0"/>
          </a:p>
          <a:p>
            <a:pPr lvl="1"/>
            <a:r>
              <a:rPr lang="en-US" dirty="0" smtClean="0"/>
              <a:t>Defines a particular </a:t>
            </a:r>
            <a:r>
              <a:rPr lang="en-US" u="sng" dirty="0" smtClean="0"/>
              <a:t>look and feel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Implemented by a </a:t>
            </a:r>
            <a:r>
              <a:rPr lang="en-US" u="sng" dirty="0" smtClean="0"/>
              <a:t>complex CSS document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that you can download and link to your web pages.</a:t>
            </a:r>
          </a:p>
          <a:p>
            <a:pPr lvl="5"/>
            <a:endParaRPr lang="en-US" dirty="0"/>
          </a:p>
          <a:p>
            <a:r>
              <a:rPr lang="en-US" dirty="0" smtClean="0"/>
              <a:t>Visit the </a:t>
            </a:r>
            <a:r>
              <a:rPr lang="en-US" dirty="0" smtClean="0">
                <a:solidFill>
                  <a:srgbClr val="B23C00"/>
                </a:solidFill>
              </a:rPr>
              <a:t>jQuery </a:t>
            </a:r>
            <a:r>
              <a:rPr lang="en-US" dirty="0">
                <a:solidFill>
                  <a:srgbClr val="B23C00"/>
                </a:solidFill>
              </a:rPr>
              <a:t>Theme Roller</a:t>
            </a:r>
            <a:r>
              <a:rPr lang="en-US" dirty="0"/>
              <a:t> at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>
                <a:hlinkClick r:id="rId2"/>
              </a:rPr>
              <a:t>http</a:t>
            </a:r>
            <a:r>
              <a:rPr lang="en-US" dirty="0">
                <a:hlinkClick r:id="rId2"/>
              </a:rPr>
              <a:t>://jqueryui.com/themeroller</a:t>
            </a:r>
            <a:r>
              <a:rPr lang="en-US" dirty="0" smtClean="0">
                <a:hlinkClick r:id="rId2"/>
              </a:rPr>
              <a:t>/</a:t>
            </a:r>
            <a:r>
              <a:rPr lang="en-US" dirty="0" smtClean="0"/>
              <a:t> </a:t>
            </a:r>
          </a:p>
          <a:p>
            <a:pPr lvl="5"/>
            <a:endParaRPr lang="en-US" dirty="0" smtClean="0"/>
          </a:p>
          <a:p>
            <a:pPr lvl="1"/>
            <a:r>
              <a:rPr lang="en-US" u="sng" dirty="0" smtClean="0"/>
              <a:t>Widgets</a:t>
            </a:r>
            <a:r>
              <a:rPr lang="en-US" dirty="0" smtClean="0"/>
              <a:t> (tool objects) of jQuery UI.</a:t>
            </a:r>
          </a:p>
          <a:p>
            <a:pPr lvl="1"/>
            <a:r>
              <a:rPr lang="en-US" dirty="0" smtClean="0"/>
              <a:t>Select and download </a:t>
            </a:r>
            <a:r>
              <a:rPr lang="en-US" u="sng" dirty="0" smtClean="0"/>
              <a:t>themes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Modify themes or create new themes.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F0376-0E54-9843-B673-E00D6670E830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652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Drag an Object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1402088"/>
          </a:xfrm>
        </p:spPr>
        <p:txBody>
          <a:bodyPr/>
          <a:lstStyle/>
          <a:p>
            <a:r>
              <a:rPr lang="en-US" dirty="0" smtClean="0"/>
              <a:t>Call a jQuery object’s </a:t>
            </a:r>
            <a:r>
              <a:rPr lang="en-US" b="1" dirty="0" err="1" smtClean="0">
                <a:solidFill>
                  <a:srgbClr val="0033CC"/>
                </a:solidFill>
                <a:latin typeface="Courier New"/>
                <a:cs typeface="Courier New"/>
              </a:rPr>
              <a:t>draggable</a:t>
            </a:r>
            <a:r>
              <a:rPr lang="en-US" b="1" dirty="0">
                <a:solidFill>
                  <a:srgbClr val="0033CC"/>
                </a:solidFill>
                <a:latin typeface="Courier New"/>
                <a:cs typeface="Courier New"/>
              </a:rPr>
              <a:t>()</a:t>
            </a:r>
            <a:r>
              <a:rPr lang="en-US" dirty="0"/>
              <a:t> function </a:t>
            </a:r>
            <a:br>
              <a:rPr lang="en-US" dirty="0"/>
            </a:br>
            <a:r>
              <a:rPr lang="en-US" dirty="0" smtClean="0"/>
              <a:t>on </a:t>
            </a:r>
            <a:r>
              <a:rPr lang="en-US" dirty="0"/>
              <a:t>an object to </a:t>
            </a:r>
            <a:r>
              <a:rPr lang="en-US" dirty="0" smtClean="0"/>
              <a:t>enable it to be </a:t>
            </a:r>
            <a:r>
              <a:rPr lang="en-US" u="sng" dirty="0" smtClean="0"/>
              <a:t>dragged</a:t>
            </a:r>
            <a:r>
              <a:rPr lang="en-US" dirty="0" smtClean="0"/>
              <a:t> with a mouse.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F0376-0E54-9843-B673-E00D6670E830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427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Drag an </a:t>
            </a:r>
            <a:r>
              <a:rPr lang="en-US" dirty="0" smtClean="0"/>
              <a:t>Object</a:t>
            </a:r>
            <a:r>
              <a:rPr lang="en-US" i="1" dirty="0" smtClean="0"/>
              <a:t>, cont’d</a:t>
            </a:r>
            <a:endParaRPr lang="en-US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F0376-0E54-9843-B673-E00D6670E830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27010" y="1179931"/>
            <a:ext cx="8259745" cy="56323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1800" b="1" dirty="0">
                <a:latin typeface="Courier New"/>
                <a:cs typeface="Courier New"/>
              </a:rPr>
              <a:t>&lt;head&gt;</a:t>
            </a:r>
          </a:p>
          <a:p>
            <a:r>
              <a:rPr lang="en-US" sz="1800" b="1" dirty="0">
                <a:latin typeface="Courier New"/>
                <a:cs typeface="Courier New"/>
              </a:rPr>
              <a:t>    &lt;title&gt;Drag&lt;/title&gt;</a:t>
            </a:r>
          </a:p>
          <a:p>
            <a:r>
              <a:rPr lang="it-IT" sz="1800" b="1" dirty="0">
                <a:latin typeface="Courier New"/>
                <a:cs typeface="Courier New"/>
              </a:rPr>
              <a:t>    &lt;meta </a:t>
            </a:r>
            <a:r>
              <a:rPr lang="it-IT" sz="1800" b="1" dirty="0" err="1">
                <a:latin typeface="Courier New"/>
                <a:cs typeface="Courier New"/>
              </a:rPr>
              <a:t>charset</a:t>
            </a:r>
            <a:r>
              <a:rPr lang="it-IT" sz="1800" b="1" dirty="0">
                <a:latin typeface="Courier New"/>
                <a:cs typeface="Courier New"/>
              </a:rPr>
              <a:t>= "UTF-8" /&gt;</a:t>
            </a:r>
          </a:p>
          <a:p>
            <a:r>
              <a:rPr lang="it-IT" sz="1800" b="1" dirty="0">
                <a:latin typeface="Courier New"/>
                <a:cs typeface="Courier New"/>
              </a:rPr>
              <a:t>    &lt;script </a:t>
            </a:r>
            <a:r>
              <a:rPr lang="it-IT" sz="1800" b="1" dirty="0" err="1">
                <a:latin typeface="Courier New"/>
                <a:cs typeface="Courier New"/>
              </a:rPr>
              <a:t>type</a:t>
            </a:r>
            <a:r>
              <a:rPr lang="it-IT" sz="1800" b="1" dirty="0">
                <a:latin typeface="Courier New"/>
                <a:cs typeface="Courier New"/>
              </a:rPr>
              <a:t>="text/</a:t>
            </a:r>
            <a:r>
              <a:rPr lang="it-IT" sz="1800" b="1" dirty="0" err="1">
                <a:latin typeface="Courier New"/>
                <a:cs typeface="Courier New"/>
              </a:rPr>
              <a:t>javascript</a:t>
            </a:r>
            <a:r>
              <a:rPr lang="it-IT" sz="1800" b="1" dirty="0">
                <a:latin typeface="Courier New"/>
                <a:cs typeface="Courier New"/>
              </a:rPr>
              <a:t>"</a:t>
            </a:r>
          </a:p>
          <a:p>
            <a:r>
              <a:rPr lang="cs-CZ" sz="1800" b="1" dirty="0">
                <a:latin typeface="Courier New"/>
                <a:cs typeface="Courier New"/>
              </a:rPr>
              <a:t>            </a:t>
            </a:r>
            <a:r>
              <a:rPr lang="cs-CZ" sz="1800" b="1" dirty="0" err="1">
                <a:latin typeface="Courier New"/>
                <a:cs typeface="Courier New"/>
              </a:rPr>
              <a:t>src</a:t>
            </a:r>
            <a:r>
              <a:rPr lang="cs-CZ" sz="1800" b="1" dirty="0">
                <a:latin typeface="Courier New"/>
                <a:cs typeface="Courier New"/>
              </a:rPr>
              <a:t>="</a:t>
            </a:r>
            <a:r>
              <a:rPr lang="cs-CZ" sz="1800" b="1" dirty="0" err="1">
                <a:latin typeface="Courier New"/>
                <a:cs typeface="Courier New"/>
              </a:rPr>
              <a:t>js</a:t>
            </a:r>
            <a:r>
              <a:rPr lang="cs-CZ" sz="1800" b="1" dirty="0">
                <a:latin typeface="Courier New"/>
                <a:cs typeface="Courier New"/>
              </a:rPr>
              <a:t>/</a:t>
            </a:r>
            <a:r>
              <a:rPr lang="cs-CZ" sz="1800" b="1" dirty="0" err="1">
                <a:latin typeface="Courier New"/>
                <a:cs typeface="Courier New"/>
              </a:rPr>
              <a:t>jquery.js</a:t>
            </a:r>
            <a:r>
              <a:rPr lang="cs-CZ" sz="1800" b="1" dirty="0">
                <a:latin typeface="Courier New"/>
                <a:cs typeface="Courier New"/>
              </a:rPr>
              <a:t>"&gt;</a:t>
            </a:r>
          </a:p>
          <a:p>
            <a:r>
              <a:rPr lang="cs-CZ" sz="1800" b="1" dirty="0">
                <a:latin typeface="Courier New"/>
                <a:cs typeface="Courier New"/>
              </a:rPr>
              <a:t>    &lt;/</a:t>
            </a:r>
            <a:r>
              <a:rPr lang="cs-CZ" sz="1800" b="1" dirty="0" err="1">
                <a:latin typeface="Courier New"/>
                <a:cs typeface="Courier New"/>
              </a:rPr>
              <a:t>script</a:t>
            </a:r>
            <a:r>
              <a:rPr lang="cs-CZ" sz="1800" b="1" dirty="0">
                <a:latin typeface="Courier New"/>
                <a:cs typeface="Courier New"/>
              </a:rPr>
              <a:t>&gt;</a:t>
            </a:r>
          </a:p>
          <a:p>
            <a:r>
              <a:rPr lang="cs-CZ" sz="1800" b="1" dirty="0">
                <a:latin typeface="Courier New"/>
                <a:cs typeface="Courier New"/>
              </a:rPr>
              <a:t>    &lt;</a:t>
            </a:r>
            <a:r>
              <a:rPr lang="cs-CZ" sz="1800" b="1" dirty="0" err="1">
                <a:latin typeface="Courier New"/>
                <a:cs typeface="Courier New"/>
              </a:rPr>
              <a:t>script</a:t>
            </a:r>
            <a:r>
              <a:rPr lang="cs-CZ" sz="1800" b="1" dirty="0">
                <a:latin typeface="Courier New"/>
                <a:cs typeface="Courier New"/>
              </a:rPr>
              <a:t> type="text/</a:t>
            </a:r>
            <a:r>
              <a:rPr lang="cs-CZ" sz="1800" b="1" dirty="0" err="1">
                <a:latin typeface="Courier New"/>
                <a:cs typeface="Courier New"/>
              </a:rPr>
              <a:t>javascript</a:t>
            </a:r>
            <a:r>
              <a:rPr lang="cs-CZ" sz="1800" b="1" dirty="0">
                <a:latin typeface="Courier New"/>
                <a:cs typeface="Courier New"/>
              </a:rPr>
              <a:t>"</a:t>
            </a:r>
          </a:p>
          <a:p>
            <a:r>
              <a:rPr lang="cs-CZ" sz="1800" b="1" dirty="0">
                <a:latin typeface="Courier New"/>
                <a:cs typeface="Courier New"/>
              </a:rPr>
              <a:t>            </a:t>
            </a:r>
            <a:r>
              <a:rPr lang="cs-CZ" sz="1800" b="1" dirty="0" err="1">
                <a:latin typeface="Courier New"/>
                <a:cs typeface="Courier New"/>
              </a:rPr>
              <a:t>src</a:t>
            </a:r>
            <a:r>
              <a:rPr lang="cs-CZ" sz="1800" b="1" dirty="0">
                <a:latin typeface="Courier New"/>
                <a:cs typeface="Courier New"/>
              </a:rPr>
              <a:t>="</a:t>
            </a:r>
            <a:r>
              <a:rPr lang="cs-CZ" sz="1800" b="1" dirty="0" err="1">
                <a:solidFill>
                  <a:srgbClr val="B23C00"/>
                </a:solidFill>
                <a:latin typeface="Courier New"/>
                <a:cs typeface="Courier New"/>
              </a:rPr>
              <a:t>js</a:t>
            </a:r>
            <a:r>
              <a:rPr lang="cs-CZ" sz="1800" b="1" dirty="0">
                <a:solidFill>
                  <a:srgbClr val="B23C00"/>
                </a:solidFill>
                <a:latin typeface="Courier New"/>
                <a:cs typeface="Courier New"/>
              </a:rPr>
              <a:t>/</a:t>
            </a:r>
            <a:r>
              <a:rPr lang="cs-CZ" sz="1800" b="1" dirty="0" err="1">
                <a:solidFill>
                  <a:srgbClr val="B23C00"/>
                </a:solidFill>
                <a:latin typeface="Courier New"/>
                <a:cs typeface="Courier New"/>
              </a:rPr>
              <a:t>jquery-ui-lightness</a:t>
            </a:r>
            <a:r>
              <a:rPr lang="cs-CZ" sz="1800" b="1" dirty="0">
                <a:solidFill>
                  <a:srgbClr val="B23C00"/>
                </a:solidFill>
                <a:latin typeface="Courier New"/>
                <a:cs typeface="Courier New"/>
              </a:rPr>
              <a:t>/</a:t>
            </a:r>
            <a:r>
              <a:rPr lang="cs-CZ" sz="1800" b="1" dirty="0" err="1">
                <a:solidFill>
                  <a:srgbClr val="B23C00"/>
                </a:solidFill>
                <a:latin typeface="Courier New"/>
                <a:cs typeface="Courier New"/>
              </a:rPr>
              <a:t>jquery-ui.min.js</a:t>
            </a:r>
            <a:r>
              <a:rPr lang="cs-CZ" sz="1800" b="1" dirty="0">
                <a:latin typeface="Courier New"/>
                <a:cs typeface="Courier New"/>
              </a:rPr>
              <a:t>"&gt;</a:t>
            </a:r>
          </a:p>
          <a:p>
            <a:r>
              <a:rPr lang="cs-CZ" sz="1800" b="1" dirty="0">
                <a:latin typeface="Courier New"/>
                <a:cs typeface="Courier New"/>
              </a:rPr>
              <a:t>    &lt;/</a:t>
            </a:r>
            <a:r>
              <a:rPr lang="cs-CZ" sz="1800" b="1" dirty="0" err="1">
                <a:latin typeface="Courier New"/>
                <a:cs typeface="Courier New"/>
              </a:rPr>
              <a:t>script</a:t>
            </a:r>
            <a:r>
              <a:rPr lang="cs-CZ" sz="1800" b="1" dirty="0">
                <a:latin typeface="Courier New"/>
                <a:cs typeface="Courier New"/>
              </a:rPr>
              <a:t>&gt;</a:t>
            </a:r>
          </a:p>
          <a:p>
            <a:r>
              <a:rPr lang="cs-CZ" sz="1800" b="1" dirty="0">
                <a:latin typeface="Courier New"/>
                <a:cs typeface="Courier New"/>
              </a:rPr>
              <a:t>    &lt;</a:t>
            </a:r>
            <a:r>
              <a:rPr lang="cs-CZ" sz="1800" b="1" dirty="0" err="1">
                <a:latin typeface="Courier New"/>
                <a:cs typeface="Courier New"/>
              </a:rPr>
              <a:t>script</a:t>
            </a:r>
            <a:r>
              <a:rPr lang="cs-CZ" sz="1800" b="1" dirty="0">
                <a:latin typeface="Courier New"/>
                <a:cs typeface="Courier New"/>
              </a:rPr>
              <a:t> type="text/</a:t>
            </a:r>
            <a:r>
              <a:rPr lang="cs-CZ" sz="1800" b="1" dirty="0" err="1">
                <a:latin typeface="Courier New"/>
                <a:cs typeface="Courier New"/>
              </a:rPr>
              <a:t>javascript</a:t>
            </a:r>
            <a:r>
              <a:rPr lang="cs-CZ" sz="1800" b="1" dirty="0">
                <a:latin typeface="Courier New"/>
                <a:cs typeface="Courier New"/>
              </a:rPr>
              <a:t>" </a:t>
            </a:r>
          </a:p>
          <a:p>
            <a:r>
              <a:rPr lang="hr-HR" sz="1800" b="1" dirty="0">
                <a:latin typeface="Courier New"/>
                <a:cs typeface="Courier New"/>
              </a:rPr>
              <a:t>            src="js/drag.js"&gt;</a:t>
            </a:r>
          </a:p>
          <a:p>
            <a:r>
              <a:rPr lang="hr-HR" sz="1800" b="1" dirty="0">
                <a:latin typeface="Courier New"/>
                <a:cs typeface="Courier New"/>
              </a:rPr>
              <a:t>    &lt;/script&gt;</a:t>
            </a:r>
          </a:p>
          <a:p>
            <a:r>
              <a:rPr lang="en-US" sz="1800" b="1" dirty="0">
                <a:latin typeface="Courier New"/>
                <a:cs typeface="Courier New"/>
              </a:rPr>
              <a:t>&lt;/head&gt;</a:t>
            </a:r>
          </a:p>
          <a:p>
            <a:endParaRPr lang="en-US" sz="1800" b="1" dirty="0">
              <a:latin typeface="Courier New"/>
              <a:cs typeface="Courier New"/>
            </a:endParaRPr>
          </a:p>
          <a:p>
            <a:r>
              <a:rPr lang="en-US" sz="1800" b="1" dirty="0">
                <a:latin typeface="Courier New"/>
                <a:cs typeface="Courier New"/>
              </a:rPr>
              <a:t>&lt;body&gt;</a:t>
            </a:r>
          </a:p>
          <a:p>
            <a:r>
              <a:rPr lang="en-US" sz="1800" b="1" dirty="0">
                <a:latin typeface="Courier New"/>
                <a:cs typeface="Courier New"/>
              </a:rPr>
              <a:t>    &lt;h1&gt;Drag Demo&lt;/h1&gt;</a:t>
            </a:r>
          </a:p>
          <a:p>
            <a:r>
              <a:rPr lang="en-US" sz="1800" b="1" dirty="0">
                <a:latin typeface="Courier New"/>
                <a:cs typeface="Courier New"/>
              </a:rPr>
              <a:t>    &lt;div id="</a:t>
            </a:r>
            <a:r>
              <a:rPr lang="en-US" sz="1800" b="1" dirty="0" err="1">
                <a:solidFill>
                  <a:srgbClr val="B23C00"/>
                </a:solidFill>
                <a:latin typeface="Courier New"/>
                <a:cs typeface="Courier New"/>
              </a:rPr>
              <a:t>dragMe</a:t>
            </a:r>
            <a:r>
              <a:rPr lang="en-US" sz="1800" b="1" dirty="0">
                <a:latin typeface="Courier New"/>
                <a:cs typeface="Courier New"/>
              </a:rPr>
              <a:t>"&gt;</a:t>
            </a:r>
          </a:p>
          <a:p>
            <a:r>
              <a:rPr lang="en-US" sz="1800" b="1" dirty="0">
                <a:latin typeface="Courier New"/>
                <a:cs typeface="Courier New"/>
              </a:rPr>
              <a:t>        &lt;</a:t>
            </a:r>
            <a:r>
              <a:rPr lang="en-US" sz="1800" b="1" dirty="0" err="1">
                <a:latin typeface="Courier New"/>
                <a:cs typeface="Courier New"/>
              </a:rPr>
              <a:t>img</a:t>
            </a:r>
            <a:r>
              <a:rPr lang="en-US" sz="1800" b="1" dirty="0">
                <a:latin typeface="Courier New"/>
                <a:cs typeface="Courier New"/>
              </a:rPr>
              <a:t> </a:t>
            </a:r>
            <a:r>
              <a:rPr lang="en-US" sz="1800" b="1" dirty="0" err="1">
                <a:latin typeface="Courier New"/>
                <a:cs typeface="Courier New"/>
              </a:rPr>
              <a:t>src</a:t>
            </a:r>
            <a:r>
              <a:rPr lang="en-US" sz="1800" b="1" dirty="0">
                <a:latin typeface="Courier New"/>
                <a:cs typeface="Courier New"/>
              </a:rPr>
              <a:t>="images/</a:t>
            </a:r>
            <a:r>
              <a:rPr lang="en-US" sz="1800" b="1" dirty="0" err="1">
                <a:latin typeface="Courier New"/>
                <a:cs typeface="Courier New"/>
              </a:rPr>
              <a:t>Bristol.png</a:t>
            </a:r>
            <a:r>
              <a:rPr lang="en-US" sz="1800" b="1" dirty="0">
                <a:latin typeface="Courier New"/>
                <a:cs typeface="Courier New"/>
              </a:rPr>
              <a:t>" width="200" /&gt;</a:t>
            </a:r>
          </a:p>
          <a:p>
            <a:r>
              <a:rPr lang="en-US" sz="1800" b="1" dirty="0">
                <a:latin typeface="Courier New"/>
                <a:cs typeface="Courier New"/>
              </a:rPr>
              <a:t>    &lt;/div&gt;</a:t>
            </a:r>
          </a:p>
          <a:p>
            <a:r>
              <a:rPr lang="en-US" sz="1800" b="1" dirty="0">
                <a:latin typeface="Courier New"/>
                <a:cs typeface="Courier New"/>
              </a:rPr>
              <a:t>&lt;/body&gt;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78" y="4069073"/>
            <a:ext cx="4256209" cy="1754327"/>
          </a:xfrm>
          <a:prstGeom prst="rect">
            <a:avLst/>
          </a:prstGeom>
          <a:solidFill>
            <a:srgbClr val="E2EAFF"/>
          </a:solidFill>
          <a:ln>
            <a:solidFill>
              <a:srgbClr val="0033CC"/>
            </a:solidFill>
          </a:ln>
        </p:spPr>
        <p:txBody>
          <a:bodyPr wrap="none" rtlCol="0">
            <a:spAutoFit/>
          </a:bodyPr>
          <a:lstStyle/>
          <a:p>
            <a:r>
              <a:rPr lang="en-US" sz="1800" b="1" dirty="0">
                <a:latin typeface="Courier New"/>
                <a:cs typeface="Courier New"/>
              </a:rPr>
              <a:t>$(</a:t>
            </a:r>
            <a:r>
              <a:rPr lang="en-US" sz="1800" b="1" dirty="0" err="1">
                <a:latin typeface="Courier New"/>
                <a:cs typeface="Courier New"/>
              </a:rPr>
              <a:t>init</a:t>
            </a:r>
            <a:r>
              <a:rPr lang="en-US" sz="1800" b="1" dirty="0">
                <a:latin typeface="Courier New"/>
                <a:cs typeface="Courier New"/>
              </a:rPr>
              <a:t>);</a:t>
            </a:r>
          </a:p>
          <a:p>
            <a:endParaRPr lang="en-US" sz="1800" b="1" dirty="0">
              <a:latin typeface="Courier New"/>
              <a:cs typeface="Courier New"/>
            </a:endParaRPr>
          </a:p>
          <a:p>
            <a:r>
              <a:rPr lang="en-US" sz="1800" b="1" dirty="0">
                <a:latin typeface="Courier New"/>
                <a:cs typeface="Courier New"/>
              </a:rPr>
              <a:t>function </a:t>
            </a:r>
            <a:r>
              <a:rPr lang="en-US" sz="1800" b="1" dirty="0" err="1">
                <a:latin typeface="Courier New"/>
                <a:cs typeface="Courier New"/>
              </a:rPr>
              <a:t>init</a:t>
            </a:r>
            <a:r>
              <a:rPr lang="en-US" sz="1800" b="1" dirty="0">
                <a:latin typeface="Courier New"/>
                <a:cs typeface="Courier New"/>
              </a:rPr>
              <a:t>()</a:t>
            </a:r>
          </a:p>
          <a:p>
            <a:r>
              <a:rPr lang="en-US" sz="1800" b="1" dirty="0">
                <a:latin typeface="Courier New"/>
                <a:cs typeface="Courier New"/>
              </a:rPr>
              <a:t>{</a:t>
            </a:r>
          </a:p>
          <a:p>
            <a:r>
              <a:rPr lang="it-IT" sz="1800" b="1" dirty="0">
                <a:latin typeface="Courier New"/>
                <a:cs typeface="Courier New"/>
              </a:rPr>
              <a:t>    $("#</a:t>
            </a:r>
            <a:r>
              <a:rPr lang="it-IT" sz="1800" b="1" dirty="0" err="1">
                <a:latin typeface="Courier New"/>
                <a:cs typeface="Courier New"/>
              </a:rPr>
              <a:t>dragMe</a:t>
            </a:r>
            <a:r>
              <a:rPr lang="it-IT" sz="1800" b="1" dirty="0">
                <a:latin typeface="Courier New"/>
                <a:cs typeface="Courier New"/>
              </a:rPr>
              <a:t>")</a:t>
            </a:r>
            <a:r>
              <a:rPr lang="it-IT" sz="1800" b="1" dirty="0">
                <a:solidFill>
                  <a:srgbClr val="B23C00"/>
                </a:solidFill>
                <a:latin typeface="Courier New"/>
                <a:cs typeface="Courier New"/>
              </a:rPr>
              <a:t>.</a:t>
            </a:r>
            <a:r>
              <a:rPr lang="it-IT" sz="1800" b="1" dirty="0" err="1">
                <a:solidFill>
                  <a:srgbClr val="B23C00"/>
                </a:solidFill>
                <a:latin typeface="Courier New"/>
                <a:cs typeface="Courier New"/>
              </a:rPr>
              <a:t>draggable</a:t>
            </a:r>
            <a:r>
              <a:rPr lang="it-IT" sz="1800" b="1" dirty="0">
                <a:solidFill>
                  <a:srgbClr val="B23C00"/>
                </a:solidFill>
                <a:latin typeface="Courier New"/>
                <a:cs typeface="Courier New"/>
              </a:rPr>
              <a:t>()</a:t>
            </a:r>
            <a:r>
              <a:rPr lang="it-IT" sz="1800" b="1" dirty="0">
                <a:latin typeface="Courier New"/>
                <a:cs typeface="Courier New"/>
              </a:rPr>
              <a:t>;</a:t>
            </a:r>
          </a:p>
          <a:p>
            <a:r>
              <a:rPr lang="it-IT" sz="1800" b="1" dirty="0">
                <a:latin typeface="Courier New"/>
                <a:cs typeface="Courier New"/>
              </a:rPr>
              <a:t>}</a:t>
            </a:r>
            <a:endParaRPr lang="en-US" sz="1800" b="1" dirty="0">
              <a:latin typeface="Courier New"/>
              <a:cs typeface="Courier New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863804" y="1325903"/>
            <a:ext cx="1039968" cy="338554"/>
          </a:xfrm>
          <a:prstGeom prst="rect">
            <a:avLst/>
          </a:prstGeom>
          <a:solidFill>
            <a:srgbClr val="0033CC"/>
          </a:solidFill>
        </p:spPr>
        <p:txBody>
          <a:bodyPr wrap="none" rtlCol="0">
            <a:spAutoFit/>
          </a:bodyPr>
          <a:lstStyle/>
          <a:p>
            <a:r>
              <a:rPr lang="en-US" dirty="0" err="1" smtClean="0">
                <a:solidFill>
                  <a:srgbClr val="FFFF00"/>
                </a:solidFill>
              </a:rPr>
              <a:t>drag.html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138121" y="3886195"/>
            <a:ext cx="800520" cy="338554"/>
          </a:xfrm>
          <a:prstGeom prst="rect">
            <a:avLst/>
          </a:prstGeom>
          <a:solidFill>
            <a:srgbClr val="0033CC"/>
          </a:solidFill>
        </p:spPr>
        <p:txBody>
          <a:bodyPr wrap="none" rtlCol="0">
            <a:spAutoFit/>
          </a:bodyPr>
          <a:lstStyle/>
          <a:p>
            <a:r>
              <a:rPr lang="en-US" dirty="0" err="1" smtClean="0">
                <a:solidFill>
                  <a:srgbClr val="FFFF00"/>
                </a:solidFill>
              </a:rPr>
              <a:t>drag.js</a:t>
            </a:r>
            <a:endParaRPr lang="en-US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6050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UI Icons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Each UI Toolkit download includes an </a:t>
            </a:r>
            <a:r>
              <a:rPr lang="en-US" b="1" dirty="0" smtClean="0">
                <a:solidFill>
                  <a:srgbClr val="0033CC"/>
                </a:solidFill>
                <a:latin typeface="Courier New"/>
                <a:cs typeface="Courier New"/>
              </a:rPr>
              <a:t>images</a:t>
            </a:r>
            <a:r>
              <a:rPr lang="en-US" dirty="0" smtClean="0">
                <a:solidFill>
                  <a:srgbClr val="0033CC"/>
                </a:solidFill>
              </a:rPr>
              <a:t> </a:t>
            </a:r>
            <a:r>
              <a:rPr lang="en-US" dirty="0" smtClean="0"/>
              <a:t>folder that contains the icon files.</a:t>
            </a:r>
          </a:p>
          <a:p>
            <a:pPr lvl="4"/>
            <a:endParaRPr lang="en-US" dirty="0" smtClean="0"/>
          </a:p>
          <a:p>
            <a:r>
              <a:rPr lang="en-US" dirty="0" smtClean="0"/>
              <a:t>To insert an icon, create a span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where </a:t>
            </a:r>
            <a:r>
              <a:rPr lang="en-US" b="1" i="1" dirty="0" smtClean="0">
                <a:latin typeface="Times New Roman"/>
                <a:cs typeface="Times New Roman"/>
              </a:rPr>
              <a:t>icon-name </a:t>
            </a:r>
            <a:r>
              <a:rPr lang="en-US" dirty="0" smtClean="0"/>
              <a:t>is obtained from the </a:t>
            </a:r>
            <a:br>
              <a:rPr lang="en-US" dirty="0" smtClean="0"/>
            </a:br>
            <a:r>
              <a:rPr lang="en-US" dirty="0" smtClean="0"/>
              <a:t>Theme Roller</a:t>
            </a:r>
            <a:r>
              <a:rPr lang="en-US" dirty="0" smtClean="0"/>
              <a:t>.</a:t>
            </a:r>
          </a:p>
          <a:p>
            <a:pPr lvl="4"/>
            <a:endParaRPr lang="en-US" dirty="0" smtClean="0"/>
          </a:p>
          <a:p>
            <a:r>
              <a:rPr lang="en-US" dirty="0" smtClean="0"/>
              <a:t>Hover the mouse over the desired icon </a:t>
            </a:r>
            <a:br>
              <a:rPr lang="en-US" dirty="0" smtClean="0"/>
            </a:br>
            <a:r>
              <a:rPr lang="en-US" dirty="0" smtClean="0"/>
              <a:t>to see its name.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F0376-0E54-9843-B673-E00D6670E830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140460" y="3150213"/>
            <a:ext cx="7089100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BFBFBF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latin typeface="Courier New"/>
                <a:cs typeface="Courier New"/>
              </a:rPr>
              <a:t>&lt;span class="</a:t>
            </a:r>
            <a:r>
              <a:rPr lang="en-US" sz="2400" b="1" dirty="0" err="1" smtClean="0">
                <a:latin typeface="Courier New"/>
                <a:cs typeface="Courier New"/>
              </a:rPr>
              <a:t>ui</a:t>
            </a:r>
            <a:r>
              <a:rPr lang="en-US" sz="2400" b="1" dirty="0" smtClean="0">
                <a:latin typeface="Courier New"/>
                <a:cs typeface="Courier New"/>
              </a:rPr>
              <a:t>-icon </a:t>
            </a:r>
            <a:r>
              <a:rPr lang="en-US" sz="2400" b="1" i="1" dirty="0" smtClean="0">
                <a:latin typeface="Times New Roman"/>
                <a:cs typeface="Times New Roman"/>
              </a:rPr>
              <a:t>icon-name</a:t>
            </a:r>
            <a:r>
              <a:rPr lang="en-US" sz="2400" b="1" dirty="0">
                <a:latin typeface="Courier New"/>
                <a:cs typeface="Courier New"/>
              </a:rPr>
              <a:t>"</a:t>
            </a:r>
            <a:r>
              <a:rPr lang="en-US" sz="2400" b="1" dirty="0" smtClean="0">
                <a:latin typeface="Courier New"/>
                <a:cs typeface="Courier New"/>
              </a:rPr>
              <a:t>&gt;&lt;/span&gt;</a:t>
            </a:r>
            <a:endParaRPr lang="en-US" sz="2400" b="1" dirty="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521431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Resize an Object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Call a jQuery object’s </a:t>
            </a:r>
            <a:r>
              <a:rPr lang="en-US" b="1" dirty="0">
                <a:solidFill>
                  <a:srgbClr val="0033CC"/>
                </a:solidFill>
                <a:latin typeface="Courier New"/>
                <a:cs typeface="Courier New"/>
              </a:rPr>
              <a:t>resizable</a:t>
            </a:r>
            <a:r>
              <a:rPr lang="en-US" b="1" dirty="0" smtClean="0">
                <a:solidFill>
                  <a:srgbClr val="0033CC"/>
                </a:solidFill>
                <a:latin typeface="Courier New"/>
                <a:cs typeface="Courier New"/>
              </a:rPr>
              <a:t>(</a:t>
            </a:r>
            <a:r>
              <a:rPr lang="en-US" b="1" dirty="0">
                <a:solidFill>
                  <a:srgbClr val="0033CC"/>
                </a:solidFill>
                <a:latin typeface="Courier New"/>
                <a:cs typeface="Courier New"/>
              </a:rPr>
              <a:t>)</a:t>
            </a:r>
            <a:r>
              <a:rPr lang="en-US" dirty="0"/>
              <a:t> function </a:t>
            </a:r>
            <a:br>
              <a:rPr lang="en-US" dirty="0"/>
            </a:br>
            <a:r>
              <a:rPr lang="en-US" dirty="0" smtClean="0"/>
              <a:t>on </a:t>
            </a:r>
            <a:r>
              <a:rPr lang="en-US" dirty="0"/>
              <a:t>an object to enable it to be </a:t>
            </a:r>
            <a:r>
              <a:rPr lang="en-US" dirty="0" smtClean="0"/>
              <a:t>resized with </a:t>
            </a:r>
            <a:r>
              <a:rPr lang="en-US" dirty="0"/>
              <a:t>a mouse</a:t>
            </a:r>
            <a:r>
              <a:rPr lang="en-US" dirty="0" smtClean="0"/>
              <a:t>.</a:t>
            </a:r>
          </a:p>
          <a:p>
            <a:pPr lvl="5"/>
            <a:endParaRPr lang="en-US" dirty="0" smtClean="0"/>
          </a:p>
          <a:p>
            <a:r>
              <a:rPr lang="en-US" dirty="0" smtClean="0"/>
              <a:t>Add the following jQuery </a:t>
            </a:r>
            <a:r>
              <a:rPr lang="en-US" u="sng" dirty="0" smtClean="0"/>
              <a:t>UI classes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to the object:</a:t>
            </a:r>
          </a:p>
          <a:p>
            <a:pPr lvl="1"/>
            <a:r>
              <a:rPr lang="en-US" b="1" dirty="0" err="1">
                <a:solidFill>
                  <a:srgbClr val="0033CC"/>
                </a:solidFill>
                <a:latin typeface="Courier New"/>
                <a:cs typeface="Courier New"/>
              </a:rPr>
              <a:t>ui</a:t>
            </a:r>
            <a:r>
              <a:rPr lang="en-US" b="1" dirty="0">
                <a:solidFill>
                  <a:srgbClr val="0033CC"/>
                </a:solidFill>
                <a:latin typeface="Courier New"/>
                <a:cs typeface="Courier New"/>
              </a:rPr>
              <a:t>-</a:t>
            </a:r>
            <a:r>
              <a:rPr lang="en-US" b="1" dirty="0" smtClean="0">
                <a:solidFill>
                  <a:srgbClr val="0033CC"/>
                </a:solidFill>
                <a:latin typeface="Courier New"/>
                <a:cs typeface="Courier New"/>
              </a:rPr>
              <a:t>widget</a:t>
            </a:r>
          </a:p>
          <a:p>
            <a:pPr lvl="1"/>
            <a:r>
              <a:rPr lang="en-US" b="1" dirty="0" err="1">
                <a:solidFill>
                  <a:srgbClr val="0033CC"/>
                </a:solidFill>
                <a:latin typeface="Courier New"/>
                <a:cs typeface="Courier New"/>
              </a:rPr>
              <a:t>ui</a:t>
            </a:r>
            <a:r>
              <a:rPr lang="en-US" b="1" dirty="0">
                <a:solidFill>
                  <a:srgbClr val="0033CC"/>
                </a:solidFill>
                <a:latin typeface="Courier New"/>
                <a:cs typeface="Courier New"/>
              </a:rPr>
              <a:t>-widget-content</a:t>
            </a:r>
          </a:p>
          <a:p>
            <a:pPr lvl="1"/>
            <a:r>
              <a:rPr lang="en-US" b="1" dirty="0" err="1">
                <a:solidFill>
                  <a:srgbClr val="0033CC"/>
                </a:solidFill>
                <a:latin typeface="Courier New"/>
                <a:cs typeface="Courier New"/>
              </a:rPr>
              <a:t>ui</a:t>
            </a:r>
            <a:r>
              <a:rPr lang="en-US" b="1" dirty="0">
                <a:solidFill>
                  <a:srgbClr val="0033CC"/>
                </a:solidFill>
                <a:latin typeface="Courier New"/>
                <a:cs typeface="Courier New"/>
              </a:rPr>
              <a:t>-corner-all</a:t>
            </a:r>
          </a:p>
          <a:p>
            <a:pPr lvl="4"/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F0376-0E54-9843-B673-E00D6670E830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345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jQuery UI Toolkit Classes for CSS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F0376-0E54-9843-B673-E00D6670E830}" type="slidenum">
              <a:rPr lang="en-US" smtClean="0"/>
              <a:pPr/>
              <a:t>23</a:t>
            </a:fld>
            <a:endParaRPr lang="en-US"/>
          </a:p>
        </p:txBody>
      </p:sp>
      <p:pic>
        <p:nvPicPr>
          <p:cNvPr id="6" name="Picture 5" descr="Screen Shot 2015-04-09 at 1.04.21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8757" y="1233285"/>
            <a:ext cx="6309291" cy="5619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628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Resize an </a:t>
            </a:r>
            <a:r>
              <a:rPr lang="en-US" dirty="0" smtClean="0"/>
              <a:t>Object</a:t>
            </a:r>
            <a:r>
              <a:rPr lang="en-US" i="1" dirty="0" smtClean="0"/>
              <a:t>, cont’d</a:t>
            </a:r>
            <a:endParaRPr lang="en-US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F0376-0E54-9843-B673-E00D6670E830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61979" y="1246850"/>
            <a:ext cx="7941898" cy="5016759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 New"/>
                <a:cs typeface="Courier New"/>
              </a:rPr>
              <a:t>&lt;head&gt;</a:t>
            </a:r>
          </a:p>
          <a:p>
            <a:r>
              <a:rPr lang="en-US" b="1" dirty="0">
                <a:latin typeface="Courier New"/>
                <a:cs typeface="Courier New"/>
              </a:rPr>
              <a:t>   </a:t>
            </a:r>
            <a:r>
              <a:rPr lang="en-US" b="1" dirty="0" smtClean="0">
                <a:latin typeface="Courier New"/>
                <a:cs typeface="Courier New"/>
              </a:rPr>
              <a:t> &lt;meta http-</a:t>
            </a:r>
            <a:r>
              <a:rPr lang="en-US" b="1" dirty="0" err="1" smtClean="0">
                <a:latin typeface="Courier New"/>
                <a:cs typeface="Courier New"/>
              </a:rPr>
              <a:t>equiv</a:t>
            </a:r>
            <a:r>
              <a:rPr lang="en-US" b="1" dirty="0" smtClean="0">
                <a:latin typeface="Courier New"/>
                <a:cs typeface="Courier New"/>
              </a:rPr>
              <a:t>="content-type" </a:t>
            </a:r>
          </a:p>
          <a:p>
            <a:r>
              <a:rPr lang="en-US" b="1" dirty="0">
                <a:latin typeface="Courier New"/>
                <a:cs typeface="Courier New"/>
              </a:rPr>
              <a:t> </a:t>
            </a:r>
            <a:r>
              <a:rPr lang="en-US" b="1" dirty="0" smtClean="0">
                <a:latin typeface="Courier New"/>
                <a:cs typeface="Courier New"/>
              </a:rPr>
              <a:t>         content="text/xml; charset=utf-8" /&gt;</a:t>
            </a:r>
            <a:endParaRPr lang="en-US" b="1" dirty="0">
              <a:latin typeface="Courier New"/>
              <a:cs typeface="Courier New"/>
            </a:endParaRPr>
          </a:p>
          <a:p>
            <a:r>
              <a:rPr lang="en-US" b="1" dirty="0">
                <a:latin typeface="Courier New"/>
                <a:cs typeface="Courier New"/>
              </a:rPr>
              <a:t>    &lt;link </a:t>
            </a:r>
            <a:r>
              <a:rPr lang="en-US" b="1" dirty="0" err="1">
                <a:latin typeface="Courier New"/>
                <a:cs typeface="Courier New"/>
              </a:rPr>
              <a:t>rel</a:t>
            </a:r>
            <a:r>
              <a:rPr lang="en-US" b="1" dirty="0">
                <a:latin typeface="Courier New"/>
                <a:cs typeface="Courier New"/>
              </a:rPr>
              <a:t> = "</a:t>
            </a:r>
            <a:r>
              <a:rPr lang="en-US" b="1" dirty="0" err="1">
                <a:latin typeface="Courier New"/>
                <a:cs typeface="Courier New"/>
              </a:rPr>
              <a:t>stylesheet</a:t>
            </a:r>
            <a:r>
              <a:rPr lang="en-US" b="1" dirty="0">
                <a:latin typeface="Courier New"/>
                <a:cs typeface="Courier New"/>
              </a:rPr>
              <a:t>"</a:t>
            </a:r>
          </a:p>
          <a:p>
            <a:r>
              <a:rPr lang="hu-HU" b="1" dirty="0">
                <a:latin typeface="Courier New"/>
                <a:cs typeface="Courier New"/>
              </a:rPr>
              <a:t>          type = "text/css"</a:t>
            </a:r>
          </a:p>
          <a:p>
            <a:r>
              <a:rPr lang="en-US" b="1" dirty="0">
                <a:latin typeface="Courier New"/>
                <a:cs typeface="Courier New"/>
              </a:rPr>
              <a:t>          </a:t>
            </a:r>
            <a:r>
              <a:rPr lang="en-US" b="1" dirty="0" err="1">
                <a:latin typeface="Courier New"/>
                <a:cs typeface="Courier New"/>
              </a:rPr>
              <a:t>href</a:t>
            </a:r>
            <a:r>
              <a:rPr lang="en-US" b="1" dirty="0">
                <a:latin typeface="Courier New"/>
                <a:cs typeface="Courier New"/>
              </a:rPr>
              <a:t> = </a:t>
            </a:r>
            <a:r>
              <a:rPr lang="en-US" b="1" dirty="0">
                <a:solidFill>
                  <a:srgbClr val="B23C00"/>
                </a:solidFill>
                <a:latin typeface="Courier New"/>
                <a:cs typeface="Courier New"/>
              </a:rPr>
              <a:t>"</a:t>
            </a:r>
            <a:r>
              <a:rPr lang="en-US" b="1" dirty="0" err="1">
                <a:solidFill>
                  <a:srgbClr val="B23C00"/>
                </a:solidFill>
                <a:latin typeface="Courier New"/>
                <a:cs typeface="Courier New"/>
              </a:rPr>
              <a:t>css</a:t>
            </a:r>
            <a:r>
              <a:rPr lang="en-US" b="1" dirty="0">
                <a:solidFill>
                  <a:srgbClr val="B23C00"/>
                </a:solidFill>
                <a:latin typeface="Courier New"/>
                <a:cs typeface="Courier New"/>
              </a:rPr>
              <a:t>/</a:t>
            </a:r>
            <a:r>
              <a:rPr lang="en-US" b="1" dirty="0" err="1">
                <a:solidFill>
                  <a:srgbClr val="B23C00"/>
                </a:solidFill>
                <a:latin typeface="Courier New"/>
                <a:cs typeface="Courier New"/>
              </a:rPr>
              <a:t>jquery</a:t>
            </a:r>
            <a:r>
              <a:rPr lang="en-US" b="1" dirty="0">
                <a:solidFill>
                  <a:srgbClr val="B23C00"/>
                </a:solidFill>
                <a:latin typeface="Courier New"/>
                <a:cs typeface="Courier New"/>
              </a:rPr>
              <a:t>-</a:t>
            </a:r>
            <a:r>
              <a:rPr lang="en-US" b="1" dirty="0" err="1">
                <a:solidFill>
                  <a:srgbClr val="B23C00"/>
                </a:solidFill>
                <a:latin typeface="Courier New"/>
                <a:cs typeface="Courier New"/>
              </a:rPr>
              <a:t>ui</a:t>
            </a:r>
            <a:r>
              <a:rPr lang="en-US" b="1" dirty="0">
                <a:solidFill>
                  <a:srgbClr val="B23C00"/>
                </a:solidFill>
                <a:latin typeface="Courier New"/>
                <a:cs typeface="Courier New"/>
              </a:rPr>
              <a:t>-lightness/</a:t>
            </a:r>
            <a:r>
              <a:rPr lang="en-US" b="1" dirty="0" err="1">
                <a:solidFill>
                  <a:srgbClr val="B23C00"/>
                </a:solidFill>
                <a:latin typeface="Courier New"/>
                <a:cs typeface="Courier New"/>
              </a:rPr>
              <a:t>jquery-ui.min.css</a:t>
            </a:r>
            <a:r>
              <a:rPr lang="en-US" b="1" dirty="0">
                <a:solidFill>
                  <a:srgbClr val="B23C00"/>
                </a:solidFill>
                <a:latin typeface="Courier New"/>
                <a:cs typeface="Courier New"/>
              </a:rPr>
              <a:t>" </a:t>
            </a:r>
            <a:r>
              <a:rPr lang="en-US" b="1" dirty="0">
                <a:latin typeface="Courier New"/>
                <a:cs typeface="Courier New"/>
              </a:rPr>
              <a:t>/&gt;</a:t>
            </a:r>
          </a:p>
          <a:p>
            <a:r>
              <a:rPr lang="en-US" b="1" dirty="0">
                <a:latin typeface="Courier New"/>
                <a:cs typeface="Courier New"/>
              </a:rPr>
              <a:t>    </a:t>
            </a:r>
            <a:r>
              <a:rPr lang="en-US" b="1" dirty="0" smtClean="0">
                <a:latin typeface="Courier New"/>
                <a:cs typeface="Courier New"/>
              </a:rPr>
              <a:t>&lt;link </a:t>
            </a:r>
            <a:r>
              <a:rPr lang="en-US" b="1" dirty="0" err="1" smtClean="0">
                <a:latin typeface="Courier New"/>
                <a:cs typeface="Courier New"/>
              </a:rPr>
              <a:t>rel</a:t>
            </a:r>
            <a:r>
              <a:rPr lang="en-US" b="1" dirty="0" smtClean="0">
                <a:latin typeface="Courier New"/>
                <a:cs typeface="Courier New"/>
              </a:rPr>
              <a:t> = "</a:t>
            </a:r>
            <a:r>
              <a:rPr lang="en-US" b="1" dirty="0" err="1" smtClean="0">
                <a:latin typeface="Courier New"/>
                <a:cs typeface="Courier New"/>
              </a:rPr>
              <a:t>stylesheet</a:t>
            </a:r>
            <a:r>
              <a:rPr lang="en-US" b="1" dirty="0" smtClean="0">
                <a:latin typeface="Courier New"/>
                <a:cs typeface="Courier New"/>
              </a:rPr>
              <a:t>"</a:t>
            </a:r>
          </a:p>
          <a:p>
            <a:r>
              <a:rPr lang="hu-HU" b="1" dirty="0" smtClean="0">
                <a:latin typeface="Courier New"/>
                <a:cs typeface="Courier New"/>
              </a:rPr>
              <a:t>          type = "text/css"</a:t>
            </a:r>
          </a:p>
          <a:p>
            <a:r>
              <a:rPr lang="is-IS" b="1" dirty="0" smtClean="0">
                <a:latin typeface="Courier New"/>
                <a:cs typeface="Courier New"/>
              </a:rPr>
              <a:t>          href = "css/resize.css" /&gt;</a:t>
            </a:r>
          </a:p>
          <a:p>
            <a:r>
              <a:rPr lang="en-US" b="1" dirty="0" smtClean="0">
                <a:latin typeface="Courier New"/>
                <a:cs typeface="Courier New"/>
              </a:rPr>
              <a:t>    &lt;script type = "text/</a:t>
            </a:r>
            <a:r>
              <a:rPr lang="en-US" b="1" dirty="0" err="1" smtClean="0">
                <a:latin typeface="Courier New"/>
                <a:cs typeface="Courier New"/>
              </a:rPr>
              <a:t>javascript</a:t>
            </a:r>
            <a:r>
              <a:rPr lang="en-US" b="1" dirty="0" smtClean="0">
                <a:latin typeface="Courier New"/>
                <a:cs typeface="Courier New"/>
              </a:rPr>
              <a:t>"</a:t>
            </a:r>
          </a:p>
          <a:p>
            <a:r>
              <a:rPr lang="cs-CZ" b="1" dirty="0" smtClean="0">
                <a:latin typeface="Courier New"/>
                <a:cs typeface="Courier New"/>
              </a:rPr>
              <a:t>            </a:t>
            </a:r>
            <a:r>
              <a:rPr lang="cs-CZ" b="1" dirty="0" err="1" smtClean="0">
                <a:latin typeface="Courier New"/>
                <a:cs typeface="Courier New"/>
              </a:rPr>
              <a:t>src</a:t>
            </a:r>
            <a:r>
              <a:rPr lang="cs-CZ" b="1" dirty="0" smtClean="0">
                <a:latin typeface="Courier New"/>
                <a:cs typeface="Courier New"/>
              </a:rPr>
              <a:t> = "</a:t>
            </a:r>
            <a:r>
              <a:rPr lang="cs-CZ" b="1" dirty="0" err="1" smtClean="0">
                <a:latin typeface="Courier New"/>
                <a:cs typeface="Courier New"/>
              </a:rPr>
              <a:t>js</a:t>
            </a:r>
            <a:r>
              <a:rPr lang="cs-CZ" b="1" dirty="0" smtClean="0">
                <a:latin typeface="Courier New"/>
                <a:cs typeface="Courier New"/>
              </a:rPr>
              <a:t>/</a:t>
            </a:r>
            <a:r>
              <a:rPr lang="cs-CZ" b="1" dirty="0" err="1" smtClean="0">
                <a:latin typeface="Courier New"/>
                <a:cs typeface="Courier New"/>
              </a:rPr>
              <a:t>jquery.js</a:t>
            </a:r>
            <a:r>
              <a:rPr lang="cs-CZ" b="1" dirty="0" smtClean="0">
                <a:latin typeface="Courier New"/>
                <a:cs typeface="Courier New"/>
              </a:rPr>
              <a:t>"&gt;</a:t>
            </a:r>
          </a:p>
          <a:p>
            <a:r>
              <a:rPr lang="cs-CZ" b="1" dirty="0">
                <a:latin typeface="Courier New"/>
                <a:cs typeface="Courier New"/>
              </a:rPr>
              <a:t> </a:t>
            </a:r>
            <a:r>
              <a:rPr lang="cs-CZ" b="1" dirty="0" smtClean="0">
                <a:latin typeface="Courier New"/>
                <a:cs typeface="Courier New"/>
              </a:rPr>
              <a:t>   &lt;/</a:t>
            </a:r>
            <a:r>
              <a:rPr lang="cs-CZ" b="1" dirty="0" err="1" smtClean="0">
                <a:latin typeface="Courier New"/>
                <a:cs typeface="Courier New"/>
              </a:rPr>
              <a:t>script</a:t>
            </a:r>
            <a:r>
              <a:rPr lang="cs-CZ" b="1" dirty="0" smtClean="0">
                <a:latin typeface="Courier New"/>
                <a:cs typeface="Courier New"/>
              </a:rPr>
              <a:t>&gt;</a:t>
            </a:r>
          </a:p>
          <a:p>
            <a:r>
              <a:rPr lang="cs-CZ" b="1" dirty="0" smtClean="0">
                <a:latin typeface="Courier New"/>
                <a:cs typeface="Courier New"/>
              </a:rPr>
              <a:t>    </a:t>
            </a:r>
            <a:r>
              <a:rPr lang="cs-CZ" b="1" dirty="0">
                <a:latin typeface="Courier New"/>
                <a:cs typeface="Courier New"/>
              </a:rPr>
              <a:t>&lt;</a:t>
            </a:r>
            <a:r>
              <a:rPr lang="cs-CZ" b="1" dirty="0" err="1">
                <a:latin typeface="Courier New"/>
                <a:cs typeface="Courier New"/>
              </a:rPr>
              <a:t>script</a:t>
            </a:r>
            <a:r>
              <a:rPr lang="cs-CZ" b="1" dirty="0">
                <a:latin typeface="Courier New"/>
                <a:cs typeface="Courier New"/>
              </a:rPr>
              <a:t> type = "text/</a:t>
            </a:r>
            <a:r>
              <a:rPr lang="cs-CZ" b="1" dirty="0" err="1">
                <a:latin typeface="Courier New"/>
                <a:cs typeface="Courier New"/>
              </a:rPr>
              <a:t>javascript</a:t>
            </a:r>
            <a:r>
              <a:rPr lang="cs-CZ" b="1" dirty="0">
                <a:latin typeface="Courier New"/>
                <a:cs typeface="Courier New"/>
              </a:rPr>
              <a:t>"</a:t>
            </a:r>
          </a:p>
          <a:p>
            <a:r>
              <a:rPr lang="cs-CZ" b="1" dirty="0">
                <a:latin typeface="Courier New"/>
                <a:cs typeface="Courier New"/>
              </a:rPr>
              <a:t>            </a:t>
            </a:r>
            <a:r>
              <a:rPr lang="cs-CZ" b="1" dirty="0" err="1">
                <a:latin typeface="Courier New"/>
                <a:cs typeface="Courier New"/>
              </a:rPr>
              <a:t>src</a:t>
            </a:r>
            <a:r>
              <a:rPr lang="cs-CZ" b="1" dirty="0">
                <a:latin typeface="Courier New"/>
                <a:cs typeface="Courier New"/>
              </a:rPr>
              <a:t> = </a:t>
            </a:r>
            <a:r>
              <a:rPr lang="cs-CZ" b="1" dirty="0">
                <a:solidFill>
                  <a:srgbClr val="B23C00"/>
                </a:solidFill>
                <a:latin typeface="Courier New"/>
                <a:cs typeface="Courier New"/>
              </a:rPr>
              <a:t>"</a:t>
            </a:r>
            <a:r>
              <a:rPr lang="cs-CZ" b="1" dirty="0" err="1">
                <a:solidFill>
                  <a:srgbClr val="B23C00"/>
                </a:solidFill>
                <a:latin typeface="Courier New"/>
                <a:cs typeface="Courier New"/>
              </a:rPr>
              <a:t>js</a:t>
            </a:r>
            <a:r>
              <a:rPr lang="cs-CZ" b="1" dirty="0">
                <a:solidFill>
                  <a:srgbClr val="B23C00"/>
                </a:solidFill>
                <a:latin typeface="Courier New"/>
                <a:cs typeface="Courier New"/>
              </a:rPr>
              <a:t>/</a:t>
            </a:r>
            <a:r>
              <a:rPr lang="cs-CZ" b="1" dirty="0" err="1">
                <a:solidFill>
                  <a:srgbClr val="B23C00"/>
                </a:solidFill>
                <a:latin typeface="Courier New"/>
                <a:cs typeface="Courier New"/>
              </a:rPr>
              <a:t>jquery-ui-lightness</a:t>
            </a:r>
            <a:r>
              <a:rPr lang="cs-CZ" b="1" dirty="0">
                <a:solidFill>
                  <a:srgbClr val="B23C00"/>
                </a:solidFill>
                <a:latin typeface="Courier New"/>
                <a:cs typeface="Courier New"/>
              </a:rPr>
              <a:t>/</a:t>
            </a:r>
            <a:r>
              <a:rPr lang="cs-CZ" b="1" dirty="0" err="1">
                <a:solidFill>
                  <a:srgbClr val="B23C00"/>
                </a:solidFill>
                <a:latin typeface="Courier New"/>
                <a:cs typeface="Courier New"/>
              </a:rPr>
              <a:t>jquery-ui.min.js</a:t>
            </a:r>
            <a:r>
              <a:rPr lang="cs-CZ" b="1" dirty="0">
                <a:solidFill>
                  <a:srgbClr val="B23C00"/>
                </a:solidFill>
                <a:latin typeface="Courier New"/>
                <a:cs typeface="Courier New"/>
              </a:rPr>
              <a:t>"</a:t>
            </a:r>
            <a:r>
              <a:rPr lang="cs-CZ" b="1" dirty="0" smtClean="0">
                <a:latin typeface="Courier New"/>
                <a:cs typeface="Courier New"/>
              </a:rPr>
              <a:t>&gt;</a:t>
            </a:r>
          </a:p>
          <a:p>
            <a:r>
              <a:rPr lang="cs-CZ" b="1" dirty="0">
                <a:latin typeface="Courier New"/>
                <a:cs typeface="Courier New"/>
              </a:rPr>
              <a:t> </a:t>
            </a:r>
            <a:r>
              <a:rPr lang="cs-CZ" b="1" dirty="0" smtClean="0">
                <a:latin typeface="Courier New"/>
                <a:cs typeface="Courier New"/>
              </a:rPr>
              <a:t>   &lt;</a:t>
            </a:r>
            <a:r>
              <a:rPr lang="cs-CZ" b="1" dirty="0">
                <a:latin typeface="Courier New"/>
                <a:cs typeface="Courier New"/>
              </a:rPr>
              <a:t>/</a:t>
            </a:r>
            <a:r>
              <a:rPr lang="cs-CZ" b="1" dirty="0" err="1">
                <a:latin typeface="Courier New"/>
                <a:cs typeface="Courier New"/>
              </a:rPr>
              <a:t>script</a:t>
            </a:r>
            <a:r>
              <a:rPr lang="cs-CZ" b="1" dirty="0">
                <a:latin typeface="Courier New"/>
                <a:cs typeface="Courier New"/>
              </a:rPr>
              <a:t>&gt;</a:t>
            </a:r>
          </a:p>
          <a:p>
            <a:r>
              <a:rPr lang="cs-CZ" b="1" dirty="0">
                <a:latin typeface="Courier New"/>
                <a:cs typeface="Courier New"/>
              </a:rPr>
              <a:t>    &lt;</a:t>
            </a:r>
            <a:r>
              <a:rPr lang="cs-CZ" b="1" dirty="0" err="1">
                <a:latin typeface="Courier New"/>
                <a:cs typeface="Courier New"/>
              </a:rPr>
              <a:t>script</a:t>
            </a:r>
            <a:r>
              <a:rPr lang="cs-CZ" b="1" dirty="0">
                <a:latin typeface="Courier New"/>
                <a:cs typeface="Courier New"/>
              </a:rPr>
              <a:t> type = "text/</a:t>
            </a:r>
            <a:r>
              <a:rPr lang="cs-CZ" b="1" dirty="0" err="1">
                <a:latin typeface="Courier New"/>
                <a:cs typeface="Courier New"/>
              </a:rPr>
              <a:t>javascript</a:t>
            </a:r>
            <a:r>
              <a:rPr lang="cs-CZ" b="1" dirty="0">
                <a:latin typeface="Courier New"/>
                <a:cs typeface="Courier New"/>
              </a:rPr>
              <a:t>"</a:t>
            </a:r>
          </a:p>
          <a:p>
            <a:r>
              <a:rPr lang="hr-HR" b="1" dirty="0">
                <a:latin typeface="Courier New"/>
                <a:cs typeface="Courier New"/>
              </a:rPr>
              <a:t>            src="js/resize.js"&gt;</a:t>
            </a:r>
          </a:p>
          <a:p>
            <a:r>
              <a:rPr lang="hr-HR" b="1" dirty="0">
                <a:latin typeface="Courier New"/>
                <a:cs typeface="Courier New"/>
              </a:rPr>
              <a:t>    &lt;/script&gt;</a:t>
            </a:r>
          </a:p>
          <a:p>
            <a:r>
              <a:rPr lang="en-US" b="1" dirty="0">
                <a:latin typeface="Courier New"/>
                <a:cs typeface="Courier New"/>
              </a:rPr>
              <a:t>    &lt;title&gt;</a:t>
            </a:r>
            <a:r>
              <a:rPr lang="en-US" b="1" dirty="0" err="1">
                <a:latin typeface="Courier New"/>
                <a:cs typeface="Courier New"/>
              </a:rPr>
              <a:t>resize.html</a:t>
            </a:r>
            <a:r>
              <a:rPr lang="en-US" b="1" dirty="0">
                <a:latin typeface="Courier New"/>
                <a:cs typeface="Courier New"/>
              </a:rPr>
              <a:t>&lt;/title&gt;</a:t>
            </a:r>
          </a:p>
          <a:p>
            <a:r>
              <a:rPr lang="en-US" b="1" dirty="0">
                <a:latin typeface="Courier New"/>
                <a:cs typeface="Courier New"/>
              </a:rPr>
              <a:t>&lt;/head</a:t>
            </a:r>
            <a:r>
              <a:rPr lang="en-US" b="1" dirty="0" smtClean="0">
                <a:latin typeface="Courier New"/>
                <a:cs typeface="Courier New"/>
              </a:rPr>
              <a:t>&gt;</a:t>
            </a:r>
            <a:endParaRPr lang="en-US" b="1" dirty="0">
              <a:latin typeface="Courier New"/>
              <a:cs typeface="Courier New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418692" y="1353105"/>
            <a:ext cx="1176624" cy="338554"/>
          </a:xfrm>
          <a:prstGeom prst="rect">
            <a:avLst/>
          </a:prstGeom>
          <a:solidFill>
            <a:srgbClr val="0033CC"/>
          </a:solidFill>
        </p:spPr>
        <p:txBody>
          <a:bodyPr wrap="none" rtlCol="0">
            <a:spAutoFit/>
          </a:bodyPr>
          <a:lstStyle/>
          <a:p>
            <a:r>
              <a:rPr lang="en-US" dirty="0" err="1" smtClean="0">
                <a:solidFill>
                  <a:srgbClr val="FFFF00"/>
                </a:solidFill>
              </a:rPr>
              <a:t>resize.html</a:t>
            </a:r>
            <a:endParaRPr lang="en-US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2098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Resize an Object</a:t>
            </a:r>
            <a:r>
              <a:rPr lang="en-US" i="1" dirty="0"/>
              <a:t>, cont’d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F0376-0E54-9843-B673-E00D6670E830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91489" y="1402638"/>
            <a:ext cx="8957726" cy="4093428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Courier New"/>
                <a:cs typeface="Courier New"/>
              </a:rPr>
              <a:t>&lt;body&gt;</a:t>
            </a:r>
          </a:p>
          <a:p>
            <a:r>
              <a:rPr lang="tr-TR" sz="2000" b="1" dirty="0">
                <a:latin typeface="Courier New"/>
                <a:cs typeface="Courier New"/>
              </a:rPr>
              <a:t>    &lt;h1&gt;</a:t>
            </a:r>
            <a:r>
              <a:rPr lang="tr-TR" sz="2000" b="1" dirty="0" err="1">
                <a:latin typeface="Courier New"/>
                <a:cs typeface="Courier New"/>
              </a:rPr>
              <a:t>Resize</a:t>
            </a:r>
            <a:r>
              <a:rPr lang="tr-TR" sz="2000" b="1" dirty="0">
                <a:latin typeface="Courier New"/>
                <a:cs typeface="Courier New"/>
              </a:rPr>
              <a:t> Demo&lt;/h1&gt;</a:t>
            </a:r>
          </a:p>
          <a:p>
            <a:r>
              <a:rPr lang="it-IT" sz="2000" b="1" dirty="0">
                <a:latin typeface="Courier New"/>
                <a:cs typeface="Courier New"/>
              </a:rPr>
              <a:t>    &lt;div id = "</a:t>
            </a:r>
            <a:r>
              <a:rPr lang="it-IT" sz="2000" b="1" dirty="0" err="1">
                <a:latin typeface="Courier New"/>
                <a:cs typeface="Courier New"/>
              </a:rPr>
              <a:t>resizeMe</a:t>
            </a:r>
            <a:r>
              <a:rPr lang="it-IT" sz="2000" b="1" dirty="0">
                <a:latin typeface="Courier New"/>
                <a:cs typeface="Courier New"/>
              </a:rPr>
              <a:t>"&gt;</a:t>
            </a:r>
          </a:p>
          <a:p>
            <a:r>
              <a:rPr lang="it-IT" sz="2000" b="1" dirty="0">
                <a:latin typeface="Courier New"/>
                <a:cs typeface="Courier New"/>
              </a:rPr>
              <a:t>        &lt;h2&gt;</a:t>
            </a:r>
          </a:p>
          <a:p>
            <a:r>
              <a:rPr lang="it-IT" sz="2000" b="1" dirty="0">
                <a:latin typeface="Courier New"/>
                <a:cs typeface="Courier New"/>
              </a:rPr>
              <a:t>            </a:t>
            </a:r>
            <a:r>
              <a:rPr lang="it-IT" sz="2000" b="1" dirty="0">
                <a:solidFill>
                  <a:srgbClr val="B23C00"/>
                </a:solidFill>
                <a:latin typeface="Courier New"/>
                <a:cs typeface="Courier New"/>
              </a:rPr>
              <a:t>&lt;</a:t>
            </a:r>
            <a:r>
              <a:rPr lang="it-IT" sz="2000" b="1" dirty="0" err="1">
                <a:solidFill>
                  <a:srgbClr val="B23C00"/>
                </a:solidFill>
                <a:latin typeface="Courier New"/>
                <a:cs typeface="Courier New"/>
              </a:rPr>
              <a:t>span</a:t>
            </a:r>
            <a:r>
              <a:rPr lang="it-IT" sz="2000" b="1" dirty="0">
                <a:solidFill>
                  <a:srgbClr val="B23C00"/>
                </a:solidFill>
                <a:latin typeface="Courier New"/>
                <a:cs typeface="Courier New"/>
              </a:rPr>
              <a:t> </a:t>
            </a:r>
            <a:r>
              <a:rPr lang="it-IT" sz="2000" b="1" dirty="0" err="1">
                <a:solidFill>
                  <a:srgbClr val="B23C00"/>
                </a:solidFill>
                <a:latin typeface="Courier New"/>
                <a:cs typeface="Courier New"/>
              </a:rPr>
              <a:t>class</a:t>
            </a:r>
            <a:r>
              <a:rPr lang="it-IT" sz="2000" b="1" dirty="0">
                <a:solidFill>
                  <a:srgbClr val="B23C00"/>
                </a:solidFill>
                <a:latin typeface="Courier New"/>
                <a:cs typeface="Courier New"/>
              </a:rPr>
              <a:t> = "</a:t>
            </a:r>
            <a:r>
              <a:rPr lang="it-IT" sz="2000" b="1" dirty="0" err="1">
                <a:solidFill>
                  <a:srgbClr val="B23C00"/>
                </a:solidFill>
                <a:latin typeface="Courier New"/>
                <a:cs typeface="Courier New"/>
              </a:rPr>
              <a:t>ui-icon</a:t>
            </a:r>
            <a:r>
              <a:rPr lang="it-IT" sz="2000" b="1" dirty="0">
                <a:solidFill>
                  <a:srgbClr val="B23C00"/>
                </a:solidFill>
                <a:latin typeface="Courier New"/>
                <a:cs typeface="Courier New"/>
              </a:rPr>
              <a:t> </a:t>
            </a:r>
            <a:r>
              <a:rPr lang="it-IT" sz="2000" b="1" dirty="0" err="1">
                <a:solidFill>
                  <a:srgbClr val="B23C00"/>
                </a:solidFill>
                <a:latin typeface="Courier New"/>
                <a:cs typeface="Courier New"/>
              </a:rPr>
              <a:t>ui-icon-heart</a:t>
            </a:r>
            <a:r>
              <a:rPr lang="it-IT" sz="2000" b="1" dirty="0">
                <a:solidFill>
                  <a:srgbClr val="B23C00"/>
                </a:solidFill>
                <a:latin typeface="Courier New"/>
                <a:cs typeface="Courier New"/>
              </a:rPr>
              <a:t>"&gt;&lt;/</a:t>
            </a:r>
            <a:r>
              <a:rPr lang="it-IT" sz="2000" b="1" dirty="0" err="1">
                <a:solidFill>
                  <a:srgbClr val="B23C00"/>
                </a:solidFill>
                <a:latin typeface="Courier New"/>
                <a:cs typeface="Courier New"/>
              </a:rPr>
              <a:t>span</a:t>
            </a:r>
            <a:r>
              <a:rPr lang="it-IT" sz="2000" b="1" dirty="0">
                <a:latin typeface="Courier New"/>
                <a:cs typeface="Courier New"/>
              </a:rPr>
              <a:t>&gt;</a:t>
            </a:r>
          </a:p>
          <a:p>
            <a:r>
              <a:rPr lang="tr-TR" sz="2000" b="1" dirty="0">
                <a:latin typeface="Courier New"/>
                <a:cs typeface="Courier New"/>
              </a:rPr>
              <a:t>            </a:t>
            </a:r>
            <a:r>
              <a:rPr lang="tr-TR" sz="2000" b="1" dirty="0" err="1">
                <a:latin typeface="Courier New"/>
                <a:cs typeface="Courier New"/>
              </a:rPr>
              <a:t>Resize</a:t>
            </a:r>
            <a:r>
              <a:rPr lang="tr-TR" sz="2000" b="1" dirty="0">
                <a:latin typeface="Courier New"/>
                <a:cs typeface="Courier New"/>
              </a:rPr>
              <a:t> me</a:t>
            </a:r>
          </a:p>
          <a:p>
            <a:r>
              <a:rPr lang="tr-TR" sz="2000" b="1" dirty="0">
                <a:solidFill>
                  <a:srgbClr val="B23C00"/>
                </a:solidFill>
                <a:latin typeface="Courier New"/>
                <a:cs typeface="Courier New"/>
              </a:rPr>
              <a:t>            &lt;</a:t>
            </a:r>
            <a:r>
              <a:rPr lang="tr-TR" sz="2000" b="1" dirty="0" err="1">
                <a:solidFill>
                  <a:srgbClr val="B23C00"/>
                </a:solidFill>
                <a:latin typeface="Courier New"/>
                <a:cs typeface="Courier New"/>
              </a:rPr>
              <a:t>span</a:t>
            </a:r>
            <a:r>
              <a:rPr lang="tr-TR" sz="2000" b="1" dirty="0">
                <a:solidFill>
                  <a:srgbClr val="B23C00"/>
                </a:solidFill>
                <a:latin typeface="Courier New"/>
                <a:cs typeface="Courier New"/>
              </a:rPr>
              <a:t> </a:t>
            </a:r>
            <a:r>
              <a:rPr lang="tr-TR" sz="2000" b="1" dirty="0" err="1">
                <a:solidFill>
                  <a:srgbClr val="B23C00"/>
                </a:solidFill>
                <a:latin typeface="Courier New"/>
                <a:cs typeface="Courier New"/>
              </a:rPr>
              <a:t>class</a:t>
            </a:r>
            <a:r>
              <a:rPr lang="tr-TR" sz="2000" b="1" dirty="0">
                <a:solidFill>
                  <a:srgbClr val="B23C00"/>
                </a:solidFill>
                <a:latin typeface="Courier New"/>
                <a:cs typeface="Courier New"/>
              </a:rPr>
              <a:t> = "</a:t>
            </a:r>
            <a:r>
              <a:rPr lang="tr-TR" sz="2000" b="1" dirty="0" err="1">
                <a:solidFill>
                  <a:srgbClr val="B23C00"/>
                </a:solidFill>
                <a:latin typeface="Courier New"/>
                <a:cs typeface="Courier New"/>
              </a:rPr>
              <a:t>ui-icon</a:t>
            </a:r>
            <a:r>
              <a:rPr lang="tr-TR" sz="2000" b="1" dirty="0">
                <a:solidFill>
                  <a:srgbClr val="B23C00"/>
                </a:solidFill>
                <a:latin typeface="Courier New"/>
                <a:cs typeface="Courier New"/>
              </a:rPr>
              <a:t> </a:t>
            </a:r>
            <a:r>
              <a:rPr lang="tr-TR" sz="2000" b="1" dirty="0" err="1">
                <a:solidFill>
                  <a:srgbClr val="B23C00"/>
                </a:solidFill>
                <a:latin typeface="Courier New"/>
                <a:cs typeface="Courier New"/>
              </a:rPr>
              <a:t>ui</a:t>
            </a:r>
            <a:r>
              <a:rPr lang="tr-TR" sz="2000" b="1" dirty="0">
                <a:solidFill>
                  <a:srgbClr val="B23C00"/>
                </a:solidFill>
                <a:latin typeface="Courier New"/>
                <a:cs typeface="Courier New"/>
              </a:rPr>
              <a:t>-</a:t>
            </a:r>
            <a:r>
              <a:rPr lang="tr-TR" sz="2000" b="1" dirty="0" err="1">
                <a:solidFill>
                  <a:srgbClr val="B23C00"/>
                </a:solidFill>
                <a:latin typeface="Courier New"/>
                <a:cs typeface="Courier New"/>
              </a:rPr>
              <a:t>icon</a:t>
            </a:r>
            <a:r>
              <a:rPr lang="tr-TR" sz="2000" b="1" dirty="0">
                <a:solidFill>
                  <a:srgbClr val="B23C00"/>
                </a:solidFill>
                <a:latin typeface="Courier New"/>
                <a:cs typeface="Courier New"/>
              </a:rPr>
              <a:t>-star"&gt;&lt;/</a:t>
            </a:r>
            <a:r>
              <a:rPr lang="tr-TR" sz="2000" b="1" dirty="0" err="1">
                <a:solidFill>
                  <a:srgbClr val="B23C00"/>
                </a:solidFill>
                <a:latin typeface="Courier New"/>
                <a:cs typeface="Courier New"/>
              </a:rPr>
              <a:t>span</a:t>
            </a:r>
            <a:r>
              <a:rPr lang="tr-TR" sz="2000" b="1" dirty="0">
                <a:solidFill>
                  <a:srgbClr val="B23C00"/>
                </a:solidFill>
                <a:latin typeface="Courier New"/>
                <a:cs typeface="Courier New"/>
              </a:rPr>
              <a:t>&gt;</a:t>
            </a:r>
          </a:p>
          <a:p>
            <a:r>
              <a:rPr lang="tr-TR" sz="2000" b="1" dirty="0">
                <a:latin typeface="Courier New"/>
                <a:cs typeface="Courier New"/>
              </a:rPr>
              <a:t>        &lt;/h2&gt;</a:t>
            </a:r>
          </a:p>
          <a:p>
            <a:r>
              <a:rPr lang="tr-TR" sz="2000" b="1" dirty="0">
                <a:latin typeface="Courier New"/>
                <a:cs typeface="Courier New"/>
              </a:rPr>
              <a:t>        &lt;p&gt;</a:t>
            </a:r>
          </a:p>
          <a:p>
            <a:r>
              <a:rPr lang="tr-TR" sz="2000" b="1" dirty="0">
                <a:latin typeface="Courier New"/>
                <a:cs typeface="Courier New"/>
              </a:rPr>
              <a:t>            </a:t>
            </a:r>
            <a:r>
              <a:rPr lang="tr-TR" sz="2000" b="1" dirty="0" err="1">
                <a:latin typeface="Courier New"/>
                <a:cs typeface="Courier New"/>
              </a:rPr>
              <a:t>Drag</a:t>
            </a:r>
            <a:r>
              <a:rPr lang="tr-TR" sz="2000" b="1" dirty="0">
                <a:latin typeface="Courier New"/>
                <a:cs typeface="Courier New"/>
              </a:rPr>
              <a:t> a </a:t>
            </a:r>
            <a:r>
              <a:rPr lang="tr-TR" sz="2000" b="1" dirty="0" err="1">
                <a:latin typeface="Courier New"/>
                <a:cs typeface="Courier New"/>
              </a:rPr>
              <a:t>corner</a:t>
            </a:r>
            <a:r>
              <a:rPr lang="tr-TR" sz="2000" b="1" dirty="0">
                <a:latin typeface="Courier New"/>
                <a:cs typeface="Courier New"/>
              </a:rPr>
              <a:t> </a:t>
            </a:r>
            <a:r>
              <a:rPr lang="tr-TR" sz="2000" b="1" dirty="0" err="1">
                <a:latin typeface="Courier New"/>
                <a:cs typeface="Courier New"/>
              </a:rPr>
              <a:t>or</a:t>
            </a:r>
            <a:r>
              <a:rPr lang="tr-TR" sz="2000" b="1" dirty="0">
                <a:latin typeface="Courier New"/>
                <a:cs typeface="Courier New"/>
              </a:rPr>
              <a:t> </a:t>
            </a:r>
            <a:r>
              <a:rPr lang="tr-TR" sz="2000" b="1" dirty="0" err="1">
                <a:latin typeface="Courier New"/>
                <a:cs typeface="Courier New"/>
              </a:rPr>
              <a:t>side</a:t>
            </a:r>
            <a:r>
              <a:rPr lang="tr-TR" sz="2000" b="1" dirty="0">
                <a:latin typeface="Courier New"/>
                <a:cs typeface="Courier New"/>
              </a:rPr>
              <a:t> </a:t>
            </a:r>
            <a:r>
              <a:rPr lang="tr-TR" sz="2000" b="1" dirty="0" err="1">
                <a:latin typeface="Courier New"/>
                <a:cs typeface="Courier New"/>
              </a:rPr>
              <a:t>to</a:t>
            </a:r>
            <a:r>
              <a:rPr lang="tr-TR" sz="2000" b="1" dirty="0">
                <a:latin typeface="Courier New"/>
                <a:cs typeface="Courier New"/>
              </a:rPr>
              <a:t> </a:t>
            </a:r>
            <a:r>
              <a:rPr lang="tr-TR" sz="2000" b="1" dirty="0" err="1">
                <a:latin typeface="Courier New"/>
                <a:cs typeface="Courier New"/>
              </a:rPr>
              <a:t>resize</a:t>
            </a:r>
            <a:r>
              <a:rPr lang="tr-TR" sz="2000" b="1" dirty="0">
                <a:latin typeface="Courier New"/>
                <a:cs typeface="Courier New"/>
              </a:rPr>
              <a:t>.</a:t>
            </a:r>
          </a:p>
          <a:p>
            <a:r>
              <a:rPr lang="tr-TR" sz="2000" b="1" dirty="0">
                <a:latin typeface="Courier New"/>
                <a:cs typeface="Courier New"/>
              </a:rPr>
              <a:t>        &lt;/p&gt;</a:t>
            </a:r>
          </a:p>
          <a:p>
            <a:r>
              <a:rPr lang="tr-TR" sz="2000" b="1" dirty="0">
                <a:latin typeface="Courier New"/>
                <a:cs typeface="Courier New"/>
              </a:rPr>
              <a:t>    &lt;/div&gt;</a:t>
            </a:r>
          </a:p>
          <a:p>
            <a:r>
              <a:rPr lang="tr-TR" sz="2000" b="1" dirty="0">
                <a:latin typeface="Courier New"/>
                <a:cs typeface="Courier New"/>
              </a:rPr>
              <a:t>&lt;/body</a:t>
            </a:r>
            <a:r>
              <a:rPr lang="tr-TR" sz="2000" b="1" dirty="0" smtClean="0">
                <a:latin typeface="Courier New"/>
                <a:cs typeface="Courier New"/>
              </a:rPr>
              <a:t>&gt;</a:t>
            </a:r>
            <a:endParaRPr lang="tr-TR" sz="2000" b="1" dirty="0">
              <a:latin typeface="Courier New"/>
              <a:cs typeface="Courier New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84448" y="1508781"/>
            <a:ext cx="1176624" cy="338554"/>
          </a:xfrm>
          <a:prstGeom prst="rect">
            <a:avLst/>
          </a:prstGeom>
          <a:solidFill>
            <a:srgbClr val="0033CC"/>
          </a:solidFill>
        </p:spPr>
        <p:txBody>
          <a:bodyPr wrap="none" rtlCol="0">
            <a:spAutoFit/>
          </a:bodyPr>
          <a:lstStyle/>
          <a:p>
            <a:r>
              <a:rPr lang="en-US" dirty="0" err="1" smtClean="0">
                <a:solidFill>
                  <a:srgbClr val="FFFF00"/>
                </a:solidFill>
              </a:rPr>
              <a:t>resize.html</a:t>
            </a:r>
            <a:endParaRPr lang="en-US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3284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Resize an Object</a:t>
            </a:r>
            <a:r>
              <a:rPr lang="en-US" i="1" dirty="0"/>
              <a:t>, cont’d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F0376-0E54-9843-B673-E00D6670E830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914440" y="1508781"/>
            <a:ext cx="7110765" cy="378565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Courier New"/>
                <a:cs typeface="Courier New"/>
              </a:rPr>
              <a:t>$(</a:t>
            </a:r>
            <a:r>
              <a:rPr lang="en-US" sz="2000" b="1" dirty="0" err="1">
                <a:latin typeface="Courier New"/>
                <a:cs typeface="Courier New"/>
              </a:rPr>
              <a:t>init</a:t>
            </a:r>
            <a:r>
              <a:rPr lang="en-US" sz="2000" b="1" dirty="0">
                <a:latin typeface="Courier New"/>
                <a:cs typeface="Courier New"/>
              </a:rPr>
              <a:t>);</a:t>
            </a:r>
          </a:p>
          <a:p>
            <a:endParaRPr lang="en-US" sz="2000" b="1" dirty="0">
              <a:latin typeface="Courier New"/>
              <a:cs typeface="Courier New"/>
            </a:endParaRPr>
          </a:p>
          <a:p>
            <a:r>
              <a:rPr lang="en-US" sz="2000" b="1" dirty="0">
                <a:latin typeface="Courier New"/>
                <a:cs typeface="Courier New"/>
              </a:rPr>
              <a:t>function </a:t>
            </a:r>
            <a:r>
              <a:rPr lang="en-US" sz="2000" b="1" dirty="0" err="1">
                <a:latin typeface="Courier New"/>
                <a:cs typeface="Courier New"/>
              </a:rPr>
              <a:t>init</a:t>
            </a:r>
            <a:r>
              <a:rPr lang="en-US" sz="2000" b="1" dirty="0">
                <a:latin typeface="Courier New"/>
                <a:cs typeface="Courier New"/>
              </a:rPr>
              <a:t>()</a:t>
            </a:r>
          </a:p>
          <a:p>
            <a:r>
              <a:rPr lang="en-US" sz="2000" b="1" dirty="0">
                <a:latin typeface="Courier New"/>
                <a:cs typeface="Courier New"/>
              </a:rPr>
              <a:t>{</a:t>
            </a:r>
          </a:p>
          <a:p>
            <a:r>
              <a:rPr lang="en-US" sz="2000" b="1" dirty="0">
                <a:latin typeface="Courier New"/>
                <a:cs typeface="Courier New"/>
              </a:rPr>
              <a:t>    $("#</a:t>
            </a:r>
            <a:r>
              <a:rPr lang="en-US" sz="2000" b="1" dirty="0" err="1">
                <a:latin typeface="Courier New"/>
                <a:cs typeface="Courier New"/>
              </a:rPr>
              <a:t>resizeMe</a:t>
            </a:r>
            <a:r>
              <a:rPr lang="en-US" sz="2000" b="1" dirty="0">
                <a:latin typeface="Courier New"/>
                <a:cs typeface="Courier New"/>
              </a:rPr>
              <a:t>").</a:t>
            </a:r>
            <a:r>
              <a:rPr lang="en-US" sz="2000" b="1" dirty="0">
                <a:solidFill>
                  <a:srgbClr val="B23C00"/>
                </a:solidFill>
                <a:latin typeface="Courier New"/>
                <a:cs typeface="Courier New"/>
              </a:rPr>
              <a:t>resizable()</a:t>
            </a:r>
            <a:r>
              <a:rPr lang="en-US" sz="2000" b="1" dirty="0">
                <a:latin typeface="Courier New"/>
                <a:cs typeface="Courier New"/>
              </a:rPr>
              <a:t>;</a:t>
            </a:r>
          </a:p>
          <a:p>
            <a:endParaRPr lang="en-US" sz="2000" b="1" dirty="0">
              <a:latin typeface="Courier New"/>
              <a:cs typeface="Courier New"/>
            </a:endParaRPr>
          </a:p>
          <a:p>
            <a:r>
              <a:rPr lang="en-US" sz="2000" b="1" dirty="0">
                <a:latin typeface="Courier New"/>
                <a:cs typeface="Courier New"/>
              </a:rPr>
              <a:t>    $("div").</a:t>
            </a:r>
            <a:r>
              <a:rPr lang="en-US" sz="2000" b="1" dirty="0" err="1">
                <a:latin typeface="Courier New"/>
                <a:cs typeface="Courier New"/>
              </a:rPr>
              <a:t>addClass</a:t>
            </a:r>
            <a:r>
              <a:rPr lang="en-US" sz="2000" b="1" dirty="0">
                <a:latin typeface="Courier New"/>
                <a:cs typeface="Courier New"/>
              </a:rPr>
              <a:t>("</a:t>
            </a:r>
            <a:r>
              <a:rPr lang="en-US" sz="2000" b="1" dirty="0" err="1">
                <a:solidFill>
                  <a:srgbClr val="B23C00"/>
                </a:solidFill>
                <a:latin typeface="Courier New"/>
                <a:cs typeface="Courier New"/>
              </a:rPr>
              <a:t>ui</a:t>
            </a:r>
            <a:r>
              <a:rPr lang="en-US" sz="2000" b="1" dirty="0">
                <a:solidFill>
                  <a:srgbClr val="B23C00"/>
                </a:solidFill>
                <a:latin typeface="Courier New"/>
                <a:cs typeface="Courier New"/>
              </a:rPr>
              <a:t>-widget</a:t>
            </a:r>
            <a:r>
              <a:rPr lang="en-US" sz="2000" b="1" dirty="0">
                <a:latin typeface="Courier New"/>
                <a:cs typeface="Courier New"/>
              </a:rPr>
              <a:t>")</a:t>
            </a:r>
          </a:p>
          <a:p>
            <a:r>
              <a:rPr lang="en-US" sz="2000" b="1" dirty="0">
                <a:latin typeface="Courier New"/>
                <a:cs typeface="Courier New"/>
              </a:rPr>
              <a:t>            .</a:t>
            </a:r>
            <a:r>
              <a:rPr lang="en-US" sz="2000" b="1" dirty="0" err="1">
                <a:latin typeface="Courier New"/>
                <a:cs typeface="Courier New"/>
              </a:rPr>
              <a:t>addClass</a:t>
            </a:r>
            <a:r>
              <a:rPr lang="en-US" sz="2000" b="1" dirty="0">
                <a:latin typeface="Courier New"/>
                <a:cs typeface="Courier New"/>
              </a:rPr>
              <a:t>("</a:t>
            </a:r>
            <a:r>
              <a:rPr lang="en-US" sz="2000" b="1" dirty="0" err="1">
                <a:solidFill>
                  <a:srgbClr val="B23C00"/>
                </a:solidFill>
                <a:latin typeface="Courier New"/>
                <a:cs typeface="Courier New"/>
              </a:rPr>
              <a:t>ui</a:t>
            </a:r>
            <a:r>
              <a:rPr lang="en-US" sz="2000" b="1" dirty="0">
                <a:solidFill>
                  <a:srgbClr val="B23C00"/>
                </a:solidFill>
                <a:latin typeface="Courier New"/>
                <a:cs typeface="Courier New"/>
              </a:rPr>
              <a:t>-widget-content</a:t>
            </a:r>
            <a:r>
              <a:rPr lang="en-US" sz="2000" b="1" dirty="0">
                <a:latin typeface="Courier New"/>
                <a:cs typeface="Courier New"/>
              </a:rPr>
              <a:t>")</a:t>
            </a:r>
          </a:p>
          <a:p>
            <a:r>
              <a:rPr lang="nb-NO" sz="2000" b="1" dirty="0">
                <a:latin typeface="Courier New"/>
                <a:cs typeface="Courier New"/>
              </a:rPr>
              <a:t>            .</a:t>
            </a:r>
            <a:r>
              <a:rPr lang="nb-NO" sz="2000" b="1" dirty="0" err="1">
                <a:latin typeface="Courier New"/>
                <a:cs typeface="Courier New"/>
              </a:rPr>
              <a:t>addClass</a:t>
            </a:r>
            <a:r>
              <a:rPr lang="nb-NO" sz="2000" b="1" dirty="0">
                <a:latin typeface="Courier New"/>
                <a:cs typeface="Courier New"/>
              </a:rPr>
              <a:t>("</a:t>
            </a:r>
            <a:r>
              <a:rPr lang="nb-NO" sz="2000" b="1" dirty="0" err="1">
                <a:solidFill>
                  <a:srgbClr val="B23C00"/>
                </a:solidFill>
                <a:latin typeface="Courier New"/>
                <a:cs typeface="Courier New"/>
              </a:rPr>
              <a:t>ui</a:t>
            </a:r>
            <a:r>
              <a:rPr lang="nb-NO" sz="2000" b="1" dirty="0">
                <a:solidFill>
                  <a:srgbClr val="B23C00"/>
                </a:solidFill>
                <a:latin typeface="Courier New"/>
                <a:cs typeface="Courier New"/>
              </a:rPr>
              <a:t>-corner-all</a:t>
            </a:r>
            <a:r>
              <a:rPr lang="nb-NO" sz="2000" b="1" dirty="0">
                <a:latin typeface="Courier New"/>
                <a:cs typeface="Courier New"/>
              </a:rPr>
              <a:t>");</a:t>
            </a:r>
          </a:p>
          <a:p>
            <a:r>
              <a:rPr lang="nb-NO" sz="2000" b="1" dirty="0">
                <a:latin typeface="Courier New"/>
                <a:cs typeface="Courier New"/>
              </a:rPr>
              <a:t>    $(":header").</a:t>
            </a:r>
            <a:r>
              <a:rPr lang="nb-NO" sz="2000" b="1" dirty="0" err="1">
                <a:latin typeface="Courier New"/>
                <a:cs typeface="Courier New"/>
              </a:rPr>
              <a:t>addClass</a:t>
            </a:r>
            <a:r>
              <a:rPr lang="nb-NO" sz="2000" b="1" dirty="0">
                <a:latin typeface="Courier New"/>
                <a:cs typeface="Courier New"/>
              </a:rPr>
              <a:t>("</a:t>
            </a:r>
            <a:r>
              <a:rPr lang="nb-NO" sz="2000" b="1" dirty="0" err="1">
                <a:solidFill>
                  <a:srgbClr val="B23C00"/>
                </a:solidFill>
                <a:latin typeface="Courier New"/>
                <a:cs typeface="Courier New"/>
              </a:rPr>
              <a:t>ui</a:t>
            </a:r>
            <a:r>
              <a:rPr lang="nb-NO" sz="2000" b="1" dirty="0">
                <a:solidFill>
                  <a:srgbClr val="B23C00"/>
                </a:solidFill>
                <a:latin typeface="Courier New"/>
                <a:cs typeface="Courier New"/>
              </a:rPr>
              <a:t>-</a:t>
            </a:r>
            <a:r>
              <a:rPr lang="nb-NO" sz="2000" b="1" dirty="0" err="1">
                <a:solidFill>
                  <a:srgbClr val="B23C00"/>
                </a:solidFill>
                <a:latin typeface="Courier New"/>
                <a:cs typeface="Courier New"/>
              </a:rPr>
              <a:t>widget</a:t>
            </a:r>
            <a:r>
              <a:rPr lang="nb-NO" sz="2000" b="1" dirty="0">
                <a:solidFill>
                  <a:srgbClr val="B23C00"/>
                </a:solidFill>
                <a:latin typeface="Courier New"/>
                <a:cs typeface="Courier New"/>
              </a:rPr>
              <a:t>-header</a:t>
            </a:r>
            <a:r>
              <a:rPr lang="nb-NO" sz="2000" b="1" dirty="0">
                <a:latin typeface="Courier New"/>
                <a:cs typeface="Courier New"/>
              </a:rPr>
              <a:t>")</a:t>
            </a:r>
          </a:p>
          <a:p>
            <a:r>
              <a:rPr lang="nb-NO" sz="2000" b="1" dirty="0">
                <a:latin typeface="Courier New"/>
                <a:cs typeface="Courier New"/>
              </a:rPr>
              <a:t>                .</a:t>
            </a:r>
            <a:r>
              <a:rPr lang="nb-NO" sz="2000" b="1" dirty="0" err="1">
                <a:latin typeface="Courier New"/>
                <a:cs typeface="Courier New"/>
              </a:rPr>
              <a:t>addClass</a:t>
            </a:r>
            <a:r>
              <a:rPr lang="nb-NO" sz="2000" b="1" dirty="0">
                <a:latin typeface="Courier New"/>
                <a:cs typeface="Courier New"/>
              </a:rPr>
              <a:t>("</a:t>
            </a:r>
            <a:r>
              <a:rPr lang="nb-NO" sz="2000" b="1" dirty="0" err="1">
                <a:solidFill>
                  <a:srgbClr val="B23C00"/>
                </a:solidFill>
                <a:latin typeface="Courier New"/>
                <a:cs typeface="Courier New"/>
              </a:rPr>
              <a:t>ui</a:t>
            </a:r>
            <a:r>
              <a:rPr lang="nb-NO" sz="2000" b="1" dirty="0">
                <a:solidFill>
                  <a:srgbClr val="B23C00"/>
                </a:solidFill>
                <a:latin typeface="Courier New"/>
                <a:cs typeface="Courier New"/>
              </a:rPr>
              <a:t>-corner-all</a:t>
            </a:r>
            <a:r>
              <a:rPr lang="nb-NO" sz="2000" b="1" dirty="0">
                <a:latin typeface="Courier New"/>
                <a:cs typeface="Courier New"/>
              </a:rPr>
              <a:t>");</a:t>
            </a:r>
          </a:p>
          <a:p>
            <a:r>
              <a:rPr lang="nb-NO" sz="2000" b="1" dirty="0">
                <a:latin typeface="Courier New"/>
                <a:cs typeface="Courier New"/>
              </a:rPr>
              <a:t>}</a:t>
            </a:r>
            <a:endParaRPr lang="en-US" sz="2000" b="1" dirty="0">
              <a:latin typeface="Courier New"/>
              <a:cs typeface="Courier New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132292" y="1325903"/>
            <a:ext cx="937176" cy="338554"/>
          </a:xfrm>
          <a:prstGeom prst="rect">
            <a:avLst/>
          </a:prstGeom>
          <a:solidFill>
            <a:srgbClr val="0033CC"/>
          </a:solidFill>
        </p:spPr>
        <p:txBody>
          <a:bodyPr wrap="none" rtlCol="0">
            <a:spAutoFit/>
          </a:bodyPr>
          <a:lstStyle/>
          <a:p>
            <a:r>
              <a:rPr lang="en-US" dirty="0" err="1" smtClean="0">
                <a:solidFill>
                  <a:srgbClr val="FFFF00"/>
                </a:solidFill>
              </a:rPr>
              <a:t>resize.js</a:t>
            </a:r>
            <a:endParaRPr lang="en-US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166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Drag and Drop an Object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Call a jQuery object’s </a:t>
            </a:r>
            <a:r>
              <a:rPr lang="en-US" b="1" dirty="0" smtClean="0">
                <a:solidFill>
                  <a:srgbClr val="0033CC"/>
                </a:solidFill>
                <a:latin typeface="Courier New"/>
                <a:cs typeface="Courier New"/>
              </a:rPr>
              <a:t>droppable(</a:t>
            </a:r>
            <a:r>
              <a:rPr lang="en-US" b="1" dirty="0">
                <a:solidFill>
                  <a:srgbClr val="0033CC"/>
                </a:solidFill>
                <a:latin typeface="Courier New"/>
                <a:cs typeface="Courier New"/>
              </a:rPr>
              <a:t>)</a:t>
            </a:r>
            <a:r>
              <a:rPr lang="en-US" dirty="0"/>
              <a:t> function </a:t>
            </a:r>
            <a:br>
              <a:rPr lang="en-US" dirty="0"/>
            </a:br>
            <a:r>
              <a:rPr lang="en-US" dirty="0"/>
              <a:t>to an object to enable it to be </a:t>
            </a:r>
            <a:r>
              <a:rPr lang="en-US" dirty="0" smtClean="0"/>
              <a:t>a drop target.</a:t>
            </a:r>
          </a:p>
          <a:p>
            <a:pPr lvl="5"/>
            <a:endParaRPr lang="en-US" dirty="0" smtClean="0"/>
          </a:p>
          <a:p>
            <a:r>
              <a:rPr lang="en-US" dirty="0" smtClean="0"/>
              <a:t>Use the </a:t>
            </a:r>
            <a:r>
              <a:rPr lang="en-US" b="1" dirty="0" smtClean="0">
                <a:solidFill>
                  <a:srgbClr val="0033CC"/>
                </a:solidFill>
                <a:latin typeface="Courier New"/>
                <a:cs typeface="Courier New"/>
              </a:rPr>
              <a:t>bind()</a:t>
            </a:r>
            <a:r>
              <a:rPr lang="en-US" dirty="0" smtClean="0"/>
              <a:t> function to bind </a:t>
            </a:r>
            <a:r>
              <a:rPr lang="en-US" u="sng" dirty="0"/>
              <a:t>drop-in</a:t>
            </a:r>
            <a:r>
              <a:rPr lang="en-US" dirty="0" smtClean="0">
                <a:solidFill>
                  <a:srgbClr val="B23C00"/>
                </a:solidFill>
              </a:rPr>
              <a:t>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and </a:t>
            </a:r>
            <a:r>
              <a:rPr lang="en-US" u="sng" dirty="0"/>
              <a:t>drop-out events</a:t>
            </a:r>
            <a:r>
              <a:rPr lang="en-US" dirty="0"/>
              <a:t> </a:t>
            </a:r>
            <a:r>
              <a:rPr lang="en-US" dirty="0" smtClean="0"/>
              <a:t>to </a:t>
            </a:r>
            <a:r>
              <a:rPr lang="en-US" dirty="0" smtClean="0"/>
              <a:t>the object.</a:t>
            </a:r>
          </a:p>
          <a:p>
            <a:pPr lvl="1"/>
            <a:r>
              <a:rPr lang="en-US" dirty="0" smtClean="0"/>
              <a:t>Attach a callback function to each event.</a:t>
            </a:r>
          </a:p>
          <a:p>
            <a:pPr lvl="5"/>
            <a:endParaRPr lang="en-US" dirty="0"/>
          </a:p>
          <a:p>
            <a:r>
              <a:rPr lang="en-US" dirty="0" smtClean="0"/>
              <a:t>UI variable </a:t>
            </a:r>
            <a:r>
              <a:rPr lang="en-US" b="1" dirty="0" err="1" smtClean="0">
                <a:solidFill>
                  <a:srgbClr val="0033CC"/>
                </a:solidFill>
                <a:latin typeface="Courier New"/>
                <a:cs typeface="Courier New"/>
              </a:rPr>
              <a:t>ui-draggable</a:t>
            </a:r>
            <a:r>
              <a:rPr lang="en-US" b="1" dirty="0" smtClean="0">
                <a:solidFill>
                  <a:srgbClr val="0033CC"/>
                </a:solidFill>
                <a:latin typeface="Courier New"/>
                <a:cs typeface="Courier New"/>
              </a:rPr>
              <a:t> </a:t>
            </a:r>
            <a:r>
              <a:rPr lang="en-US" dirty="0" smtClean="0"/>
              <a:t>refers to the object that triggered the </a:t>
            </a:r>
            <a:r>
              <a:rPr lang="en-US" u="sng" dirty="0" smtClean="0"/>
              <a:t>drop-in callback function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F0376-0E54-9843-B673-E00D6670E830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813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Drag and Drop an </a:t>
            </a:r>
            <a:r>
              <a:rPr lang="en-US" dirty="0" smtClean="0"/>
              <a:t>Object</a:t>
            </a:r>
            <a:r>
              <a:rPr lang="en-US" i="1" dirty="0" smtClean="0"/>
              <a:t>, cont’d</a:t>
            </a:r>
            <a:endParaRPr lang="en-US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F0376-0E54-9843-B673-E00D6670E830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554513" y="1508781"/>
            <a:ext cx="5923066" cy="4524315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Courier New"/>
                <a:cs typeface="Courier New"/>
              </a:rPr>
              <a:t>&lt;body&gt;</a:t>
            </a:r>
          </a:p>
          <a:p>
            <a:r>
              <a:rPr lang="en-US" sz="2400" b="1" dirty="0">
                <a:latin typeface="Courier New"/>
                <a:cs typeface="Courier New"/>
              </a:rPr>
              <a:t>    &lt;h1&gt;Drag and Drop Demo&lt;/h1</a:t>
            </a:r>
            <a:r>
              <a:rPr lang="en-US" sz="2400" b="1" dirty="0" smtClean="0">
                <a:latin typeface="Courier New"/>
                <a:cs typeface="Courier New"/>
              </a:rPr>
              <a:t>&gt;</a:t>
            </a:r>
          </a:p>
          <a:p>
            <a:endParaRPr lang="en-US" sz="2400" b="1" dirty="0">
              <a:latin typeface="Courier New"/>
              <a:cs typeface="Courier New"/>
            </a:endParaRPr>
          </a:p>
          <a:p>
            <a:r>
              <a:rPr lang="en-US" sz="2400" b="1" dirty="0">
                <a:latin typeface="Courier New"/>
                <a:cs typeface="Courier New"/>
              </a:rPr>
              <a:t>    &lt;div class="</a:t>
            </a:r>
            <a:r>
              <a:rPr lang="en-US" sz="2400" b="1" dirty="0" err="1">
                <a:solidFill>
                  <a:srgbClr val="0033CC"/>
                </a:solidFill>
                <a:latin typeface="Courier New"/>
                <a:cs typeface="Courier New"/>
              </a:rPr>
              <a:t>dragMe</a:t>
            </a:r>
            <a:r>
              <a:rPr lang="en-US" sz="2400" b="1" dirty="0">
                <a:latin typeface="Courier New"/>
                <a:cs typeface="Courier New"/>
              </a:rPr>
              <a:t>"&gt;</a:t>
            </a:r>
          </a:p>
          <a:p>
            <a:r>
              <a:rPr lang="en-US" sz="2400" b="1" dirty="0">
                <a:latin typeface="Courier New"/>
                <a:cs typeface="Courier New"/>
              </a:rPr>
              <a:t>        DRAG ME</a:t>
            </a:r>
          </a:p>
          <a:p>
            <a:r>
              <a:rPr lang="en-US" sz="2400" b="1" dirty="0">
                <a:latin typeface="Courier New"/>
                <a:cs typeface="Courier New"/>
              </a:rPr>
              <a:t>    &lt;/div</a:t>
            </a:r>
            <a:r>
              <a:rPr lang="en-US" sz="2400" b="1" dirty="0" smtClean="0">
                <a:latin typeface="Courier New"/>
                <a:cs typeface="Courier New"/>
              </a:rPr>
              <a:t>&gt;</a:t>
            </a:r>
          </a:p>
          <a:p>
            <a:endParaRPr lang="en-US" sz="2400" b="1" dirty="0">
              <a:latin typeface="Courier New"/>
              <a:cs typeface="Courier New"/>
            </a:endParaRPr>
          </a:p>
          <a:p>
            <a:r>
              <a:rPr lang="en-US" sz="2400" b="1" dirty="0">
                <a:latin typeface="Courier New"/>
                <a:cs typeface="Courier New"/>
              </a:rPr>
              <a:t>    &lt;div id="</a:t>
            </a:r>
            <a:r>
              <a:rPr lang="en-US" sz="2400" b="1" dirty="0">
                <a:solidFill>
                  <a:srgbClr val="008000"/>
                </a:solidFill>
                <a:latin typeface="Courier New"/>
                <a:cs typeface="Courier New"/>
              </a:rPr>
              <a:t>target</a:t>
            </a:r>
            <a:r>
              <a:rPr lang="en-US" sz="2400" b="1" dirty="0">
                <a:latin typeface="Courier New"/>
                <a:cs typeface="Courier New"/>
              </a:rPr>
              <a:t>"&gt;</a:t>
            </a:r>
          </a:p>
          <a:p>
            <a:r>
              <a:rPr lang="en-US" sz="2400" b="1" dirty="0">
                <a:latin typeface="Courier New"/>
                <a:cs typeface="Courier New"/>
              </a:rPr>
              <a:t>        DROP HERE</a:t>
            </a:r>
          </a:p>
          <a:p>
            <a:r>
              <a:rPr lang="en-US" sz="2400" b="1" dirty="0">
                <a:latin typeface="Courier New"/>
                <a:cs typeface="Courier New"/>
              </a:rPr>
              <a:t>    &lt;/div&gt;</a:t>
            </a:r>
          </a:p>
          <a:p>
            <a:r>
              <a:rPr lang="en-US" sz="2400" b="1" dirty="0">
                <a:latin typeface="Courier New"/>
                <a:cs typeface="Courier New"/>
              </a:rPr>
              <a:t>&lt;/body&gt;</a:t>
            </a:r>
          </a:p>
          <a:p>
            <a:r>
              <a:rPr lang="en-US" sz="2400" b="1" dirty="0">
                <a:latin typeface="Courier New"/>
                <a:cs typeface="Courier New"/>
              </a:rPr>
              <a:t>&lt;/html&gt;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02" y="1325903"/>
            <a:ext cx="1450638" cy="338554"/>
          </a:xfrm>
          <a:prstGeom prst="rect">
            <a:avLst/>
          </a:prstGeom>
          <a:solidFill>
            <a:srgbClr val="0033CC"/>
          </a:solidFill>
        </p:spPr>
        <p:txBody>
          <a:bodyPr wrap="none" rtlCol="0">
            <a:spAutoFit/>
          </a:bodyPr>
          <a:lstStyle/>
          <a:p>
            <a:r>
              <a:rPr lang="en-US" dirty="0" err="1" smtClean="0">
                <a:solidFill>
                  <a:srgbClr val="FFFF00"/>
                </a:solidFill>
              </a:rPr>
              <a:t>dragdrop.html</a:t>
            </a:r>
            <a:endParaRPr lang="en-US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613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Drag and Drop an Object</a:t>
            </a:r>
            <a:r>
              <a:rPr lang="en-US" i="1" dirty="0"/>
              <a:t>, cont’d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62B2D-F854-104A-9535-9A504E5923E0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751630" y="1237670"/>
            <a:ext cx="3640740" cy="50167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33CC"/>
                </a:solidFill>
                <a:latin typeface="Courier New" charset="0"/>
                <a:ea typeface="Courier New" charset="0"/>
                <a:cs typeface="Courier New" charset="0"/>
              </a:rPr>
              <a:t>.</a:t>
            </a:r>
            <a:r>
              <a:rPr lang="en-US" b="1" dirty="0" err="1">
                <a:solidFill>
                  <a:srgbClr val="0033CC"/>
                </a:solidFill>
                <a:latin typeface="Courier New" charset="0"/>
                <a:ea typeface="Courier New" charset="0"/>
                <a:cs typeface="Courier New" charset="0"/>
              </a:rPr>
              <a:t>dragMe</a:t>
            </a:r>
            <a:r>
              <a:rPr lang="en-US" b="1" dirty="0">
                <a:solidFill>
                  <a:srgbClr val="0033CC"/>
                </a:solidFill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b="1" dirty="0">
                <a:latin typeface="Courier New" charset="0"/>
                <a:ea typeface="Courier New" charset="0"/>
                <a:cs typeface="Courier New" charset="0"/>
              </a:rPr>
              <a:t>{</a:t>
            </a:r>
          </a:p>
          <a:p>
            <a:r>
              <a:rPr lang="en-US" b="1" dirty="0">
                <a:latin typeface="Courier New" charset="0"/>
                <a:ea typeface="Courier New" charset="0"/>
                <a:cs typeface="Courier New" charset="0"/>
              </a:rPr>
              <a:t>    width: 100px;</a:t>
            </a:r>
          </a:p>
          <a:p>
            <a:r>
              <a:rPr lang="en-US" b="1" dirty="0">
                <a:latin typeface="Courier New" charset="0"/>
                <a:ea typeface="Courier New" charset="0"/>
                <a:cs typeface="Courier New" charset="0"/>
              </a:rPr>
              <a:t>    height: 100px;</a:t>
            </a:r>
          </a:p>
          <a:p>
            <a:r>
              <a:rPr lang="en-US" b="1" dirty="0">
                <a:latin typeface="Courier New" charset="0"/>
                <a:ea typeface="Courier New" charset="0"/>
                <a:cs typeface="Courier New" charset="0"/>
              </a:rPr>
              <a:t>    border: 1px solid blue;</a:t>
            </a:r>
          </a:p>
          <a:p>
            <a:r>
              <a:rPr lang="en-US" b="1" dirty="0">
                <a:latin typeface="Courier New" charset="0"/>
                <a:ea typeface="Courier New" charset="0"/>
                <a:cs typeface="Courier New" charset="0"/>
              </a:rPr>
              <a:t>    text-align: center;</a:t>
            </a:r>
          </a:p>
          <a:p>
            <a:r>
              <a:rPr lang="en-US" b="1" dirty="0">
                <a:latin typeface="Courier New" charset="0"/>
                <a:ea typeface="Courier New" charset="0"/>
                <a:cs typeface="Courier New" charset="0"/>
              </a:rPr>
              <a:t>    background-color: white;</a:t>
            </a:r>
          </a:p>
          <a:p>
            <a:r>
              <a:rPr lang="en-US" b="1" dirty="0">
                <a:latin typeface="Courier New" charset="0"/>
                <a:ea typeface="Courier New" charset="0"/>
                <a:cs typeface="Courier New" charset="0"/>
              </a:rPr>
              <a:t>    position: absolute;</a:t>
            </a:r>
          </a:p>
          <a:p>
            <a:r>
              <a:rPr lang="en-US" b="1" dirty="0">
                <a:latin typeface="Courier New" charset="0"/>
                <a:ea typeface="Courier New" charset="0"/>
                <a:cs typeface="Courier New" charset="0"/>
              </a:rPr>
              <a:t>    z-index: 100;</a:t>
            </a:r>
          </a:p>
          <a:p>
            <a:r>
              <a:rPr lang="en-US" b="1" dirty="0">
                <a:latin typeface="Courier New" charset="0"/>
                <a:ea typeface="Courier New" charset="0"/>
                <a:cs typeface="Courier New" charset="0"/>
              </a:rPr>
              <a:t>}</a:t>
            </a:r>
          </a:p>
          <a:p>
            <a:endParaRPr lang="en-US" b="1" dirty="0">
              <a:latin typeface="Courier New" charset="0"/>
              <a:ea typeface="Courier New" charset="0"/>
              <a:cs typeface="Courier New" charset="0"/>
            </a:endParaRPr>
          </a:p>
          <a:p>
            <a:r>
              <a:rPr lang="en-US" b="1" dirty="0">
                <a:solidFill>
                  <a:srgbClr val="008000"/>
                </a:solidFill>
                <a:latin typeface="Courier New" charset="0"/>
                <a:ea typeface="Courier New" charset="0"/>
                <a:cs typeface="Courier New" charset="0"/>
              </a:rPr>
              <a:t>#target </a:t>
            </a:r>
            <a:r>
              <a:rPr lang="en-US" b="1" dirty="0">
                <a:latin typeface="Courier New" charset="0"/>
                <a:ea typeface="Courier New" charset="0"/>
                <a:cs typeface="Courier New" charset="0"/>
              </a:rPr>
              <a:t>{</a:t>
            </a:r>
          </a:p>
          <a:p>
            <a:r>
              <a:rPr lang="en-US" b="1" dirty="0">
                <a:latin typeface="Courier New" charset="0"/>
                <a:ea typeface="Courier New" charset="0"/>
                <a:cs typeface="Courier New" charset="0"/>
              </a:rPr>
              <a:t>    width: 200px;</a:t>
            </a:r>
          </a:p>
          <a:p>
            <a:r>
              <a:rPr lang="en-US" b="1" dirty="0">
                <a:latin typeface="Courier New" charset="0"/>
                <a:ea typeface="Courier New" charset="0"/>
                <a:cs typeface="Courier New" charset="0"/>
              </a:rPr>
              <a:t>    height: 200px;</a:t>
            </a:r>
          </a:p>
          <a:p>
            <a:r>
              <a:rPr lang="en-US" b="1" dirty="0">
                <a:latin typeface="Courier New" charset="0"/>
                <a:ea typeface="Courier New" charset="0"/>
                <a:cs typeface="Courier New" charset="0"/>
              </a:rPr>
              <a:t>    border: 1px solid red;</a:t>
            </a:r>
          </a:p>
          <a:p>
            <a:r>
              <a:rPr lang="en-US" b="1" dirty="0">
                <a:latin typeface="Courier New" charset="0"/>
                <a:ea typeface="Courier New" charset="0"/>
                <a:cs typeface="Courier New" charset="0"/>
              </a:rPr>
              <a:t>    text-align: center;</a:t>
            </a:r>
          </a:p>
          <a:p>
            <a:r>
              <a:rPr lang="en-US" b="1" dirty="0">
                <a:latin typeface="Courier New" charset="0"/>
                <a:ea typeface="Courier New" charset="0"/>
                <a:cs typeface="Courier New" charset="0"/>
              </a:rPr>
              <a:t>    position: absolute;</a:t>
            </a:r>
          </a:p>
          <a:p>
            <a:r>
              <a:rPr lang="en-US" b="1" dirty="0">
                <a:latin typeface="Courier New" charset="0"/>
                <a:ea typeface="Courier New" charset="0"/>
                <a:cs typeface="Courier New" charset="0"/>
              </a:rPr>
              <a:t>    left: 300px;</a:t>
            </a:r>
          </a:p>
          <a:p>
            <a:r>
              <a:rPr lang="en-US" b="1" dirty="0">
                <a:latin typeface="Courier New" charset="0"/>
                <a:ea typeface="Courier New" charset="0"/>
                <a:cs typeface="Courier New" charset="0"/>
              </a:rPr>
              <a:t>    top: 100px;</a:t>
            </a:r>
          </a:p>
          <a:p>
            <a:r>
              <a:rPr lang="en-US" b="1" dirty="0">
                <a:latin typeface="Courier New" charset="0"/>
                <a:ea typeface="Courier New" charset="0"/>
                <a:cs typeface="Courier New" charset="0"/>
              </a:rPr>
              <a:t>    z-index: 0;</a:t>
            </a:r>
          </a:p>
          <a:p>
            <a:r>
              <a:rPr lang="en-US" b="1" dirty="0" smtClean="0">
                <a:latin typeface="Courier New" charset="0"/>
                <a:ea typeface="Courier New" charset="0"/>
                <a:cs typeface="Courier New" charset="0"/>
              </a:rPr>
              <a:t>}</a:t>
            </a:r>
            <a:endParaRPr lang="en-US" b="1" dirty="0">
              <a:latin typeface="Courier New" charset="0"/>
              <a:ea typeface="Courier New" charset="0"/>
              <a:cs typeface="Courier New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94951" y="1325903"/>
            <a:ext cx="1370888" cy="338554"/>
          </a:xfrm>
          <a:prstGeom prst="rect">
            <a:avLst/>
          </a:prstGeom>
          <a:solidFill>
            <a:srgbClr val="0033CC"/>
          </a:solidFill>
        </p:spPr>
        <p:txBody>
          <a:bodyPr wrap="none" rtlCol="0">
            <a:spAutoFit/>
          </a:bodyPr>
          <a:lstStyle/>
          <a:p>
            <a:r>
              <a:rPr lang="en-US" smtClean="0">
                <a:solidFill>
                  <a:srgbClr val="FFFF00"/>
                </a:solidFill>
              </a:rPr>
              <a:t>dragdrop.css</a:t>
            </a:r>
            <a:endParaRPr lang="en-US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58015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Drag and Drop an Object</a:t>
            </a:r>
            <a:r>
              <a:rPr lang="en-US" i="1" dirty="0"/>
              <a:t>, cont’d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F0376-0E54-9843-B673-E00D6670E830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23545" y="1412115"/>
            <a:ext cx="7880332" cy="378565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Courier New"/>
                <a:cs typeface="Courier New"/>
              </a:rPr>
              <a:t>$(</a:t>
            </a:r>
            <a:r>
              <a:rPr lang="en-US" sz="2000" b="1" dirty="0" err="1">
                <a:latin typeface="Courier New"/>
                <a:cs typeface="Courier New"/>
              </a:rPr>
              <a:t>init</a:t>
            </a:r>
            <a:r>
              <a:rPr lang="en-US" sz="2000" b="1" dirty="0">
                <a:latin typeface="Courier New"/>
                <a:cs typeface="Courier New"/>
              </a:rPr>
              <a:t>);</a:t>
            </a:r>
          </a:p>
          <a:p>
            <a:endParaRPr lang="en-US" sz="2000" b="1" dirty="0">
              <a:latin typeface="Courier New"/>
              <a:cs typeface="Courier New"/>
            </a:endParaRPr>
          </a:p>
          <a:p>
            <a:r>
              <a:rPr lang="en-US" sz="2000" b="1" dirty="0">
                <a:latin typeface="Courier New"/>
                <a:cs typeface="Courier New"/>
              </a:rPr>
              <a:t>function </a:t>
            </a:r>
            <a:r>
              <a:rPr lang="en-US" sz="2000" b="1" dirty="0" err="1">
                <a:latin typeface="Courier New"/>
                <a:cs typeface="Courier New"/>
              </a:rPr>
              <a:t>init</a:t>
            </a:r>
            <a:r>
              <a:rPr lang="en-US" sz="2000" b="1" dirty="0">
                <a:latin typeface="Courier New"/>
                <a:cs typeface="Courier New"/>
              </a:rPr>
              <a:t>()</a:t>
            </a:r>
          </a:p>
          <a:p>
            <a:r>
              <a:rPr lang="en-US" sz="2000" b="1" dirty="0">
                <a:latin typeface="Courier New"/>
                <a:cs typeface="Courier New"/>
              </a:rPr>
              <a:t>{</a:t>
            </a:r>
          </a:p>
          <a:p>
            <a:r>
              <a:rPr lang="en-US" sz="2000" b="1" dirty="0">
                <a:latin typeface="Courier New"/>
                <a:cs typeface="Courier New"/>
              </a:rPr>
              <a:t>    </a:t>
            </a:r>
            <a:r>
              <a:rPr lang="en-US" sz="2000" b="1" dirty="0" err="1">
                <a:latin typeface="Courier New"/>
                <a:cs typeface="Courier New"/>
              </a:rPr>
              <a:t>cloneDragMe</a:t>
            </a:r>
            <a:r>
              <a:rPr lang="en-US" sz="2000" b="1" dirty="0">
                <a:latin typeface="Courier New"/>
                <a:cs typeface="Courier New"/>
              </a:rPr>
              <a:t>();</a:t>
            </a:r>
          </a:p>
          <a:p>
            <a:endParaRPr lang="en-US" sz="2000" b="1" dirty="0">
              <a:latin typeface="Courier New"/>
              <a:cs typeface="Courier New"/>
            </a:endParaRPr>
          </a:p>
          <a:p>
            <a:r>
              <a:rPr lang="is-IS" sz="2000" b="1" dirty="0">
                <a:latin typeface="Courier New"/>
                <a:cs typeface="Courier New"/>
              </a:rPr>
              <a:t>    $("</a:t>
            </a:r>
            <a:r>
              <a:rPr lang="is-IS" sz="2000" b="1" dirty="0">
                <a:solidFill>
                  <a:srgbClr val="0033CC"/>
                </a:solidFill>
                <a:latin typeface="Courier New"/>
                <a:cs typeface="Courier New"/>
              </a:rPr>
              <a:t>.dragMe</a:t>
            </a:r>
            <a:r>
              <a:rPr lang="is-IS" sz="2000" b="1" dirty="0">
                <a:latin typeface="Courier New"/>
                <a:cs typeface="Courier New"/>
              </a:rPr>
              <a:t>").draggable();</a:t>
            </a:r>
          </a:p>
          <a:p>
            <a:r>
              <a:rPr lang="is-IS" sz="2000" b="1" dirty="0">
                <a:solidFill>
                  <a:srgbClr val="B23C00"/>
                </a:solidFill>
                <a:latin typeface="Courier New"/>
                <a:cs typeface="Courier New"/>
              </a:rPr>
              <a:t>    </a:t>
            </a:r>
            <a:r>
              <a:rPr lang="is-IS" sz="2000" b="1" dirty="0">
                <a:latin typeface="Courier New"/>
                <a:cs typeface="Courier New"/>
              </a:rPr>
              <a:t>$("</a:t>
            </a:r>
            <a:r>
              <a:rPr lang="is-IS" sz="2000" b="1" dirty="0">
                <a:solidFill>
                  <a:srgbClr val="008000"/>
                </a:solidFill>
                <a:latin typeface="Courier New"/>
                <a:cs typeface="Courier New"/>
              </a:rPr>
              <a:t>#target</a:t>
            </a:r>
            <a:r>
              <a:rPr lang="is-IS" sz="2000" b="1" dirty="0">
                <a:latin typeface="Courier New"/>
                <a:cs typeface="Courier New"/>
              </a:rPr>
              <a:t>").</a:t>
            </a:r>
            <a:r>
              <a:rPr lang="is-IS" sz="2000" b="1" dirty="0">
                <a:solidFill>
                  <a:srgbClr val="B23C00"/>
                </a:solidFill>
                <a:latin typeface="Courier New"/>
                <a:cs typeface="Courier New"/>
              </a:rPr>
              <a:t>droppable();</a:t>
            </a:r>
          </a:p>
          <a:p>
            <a:endParaRPr lang="is-IS" sz="2000" b="1" dirty="0">
              <a:latin typeface="Courier New"/>
              <a:cs typeface="Courier New"/>
            </a:endParaRPr>
          </a:p>
          <a:p>
            <a:r>
              <a:rPr lang="en-US" sz="2000" b="1" dirty="0">
                <a:latin typeface="Courier New"/>
                <a:cs typeface="Courier New"/>
              </a:rPr>
              <a:t>    $("</a:t>
            </a:r>
            <a:r>
              <a:rPr lang="en-US" sz="2000" b="1" dirty="0">
                <a:solidFill>
                  <a:srgbClr val="008000"/>
                </a:solidFill>
                <a:latin typeface="Courier New"/>
                <a:cs typeface="Courier New"/>
              </a:rPr>
              <a:t>#target</a:t>
            </a:r>
            <a:r>
              <a:rPr lang="en-US" sz="2000" b="1" dirty="0">
                <a:latin typeface="Courier New"/>
                <a:cs typeface="Courier New"/>
              </a:rPr>
              <a:t>").bind("</a:t>
            </a:r>
            <a:r>
              <a:rPr lang="en-US" sz="2000" b="1" dirty="0">
                <a:solidFill>
                  <a:srgbClr val="B23C00"/>
                </a:solidFill>
                <a:latin typeface="Courier New"/>
                <a:cs typeface="Courier New"/>
              </a:rPr>
              <a:t>drop</a:t>
            </a:r>
            <a:r>
              <a:rPr lang="en-US" sz="2000" b="1" dirty="0">
                <a:latin typeface="Courier New"/>
                <a:cs typeface="Courier New"/>
              </a:rPr>
              <a:t>",    </a:t>
            </a:r>
            <a:r>
              <a:rPr lang="en-US" sz="2000" b="1" dirty="0" err="1">
                <a:solidFill>
                  <a:srgbClr val="7030A0"/>
                </a:solidFill>
                <a:latin typeface="Courier New"/>
                <a:cs typeface="Courier New"/>
              </a:rPr>
              <a:t>highlightTarget</a:t>
            </a:r>
            <a:r>
              <a:rPr lang="en-US" sz="2000" b="1" dirty="0">
                <a:latin typeface="Courier New"/>
                <a:cs typeface="Courier New"/>
              </a:rPr>
              <a:t>);</a:t>
            </a:r>
          </a:p>
          <a:p>
            <a:r>
              <a:rPr lang="en-US" sz="2000" b="1" dirty="0">
                <a:latin typeface="Courier New"/>
                <a:cs typeface="Courier New"/>
              </a:rPr>
              <a:t>    $("</a:t>
            </a:r>
            <a:r>
              <a:rPr lang="en-US" sz="2000" b="1" dirty="0">
                <a:solidFill>
                  <a:srgbClr val="008000"/>
                </a:solidFill>
                <a:latin typeface="Courier New"/>
                <a:cs typeface="Courier New"/>
              </a:rPr>
              <a:t>#target</a:t>
            </a:r>
            <a:r>
              <a:rPr lang="en-US" sz="2000" b="1" dirty="0">
                <a:latin typeface="Courier New"/>
                <a:cs typeface="Courier New"/>
              </a:rPr>
              <a:t>").bind("</a:t>
            </a:r>
            <a:r>
              <a:rPr lang="en-US" sz="2000" b="1" dirty="0">
                <a:solidFill>
                  <a:srgbClr val="B23C00"/>
                </a:solidFill>
                <a:latin typeface="Courier New"/>
                <a:cs typeface="Courier New"/>
              </a:rPr>
              <a:t>dropout</a:t>
            </a:r>
            <a:r>
              <a:rPr lang="en-US" sz="2000" b="1" dirty="0">
                <a:latin typeface="Courier New"/>
                <a:cs typeface="Courier New"/>
              </a:rPr>
              <a:t>", </a:t>
            </a:r>
            <a:r>
              <a:rPr lang="en-US" sz="2000" b="1" dirty="0" err="1">
                <a:solidFill>
                  <a:srgbClr val="7030A0"/>
                </a:solidFill>
                <a:latin typeface="Courier New"/>
                <a:cs typeface="Courier New"/>
              </a:rPr>
              <a:t>resetTarget</a:t>
            </a:r>
            <a:r>
              <a:rPr lang="en-US" sz="2000" b="1" dirty="0">
                <a:latin typeface="Courier New"/>
                <a:cs typeface="Courier New"/>
              </a:rPr>
              <a:t>);</a:t>
            </a:r>
          </a:p>
          <a:p>
            <a:r>
              <a:rPr lang="en-US" sz="2000" b="1" dirty="0" smtClean="0">
                <a:latin typeface="Courier New"/>
                <a:cs typeface="Courier New"/>
              </a:rPr>
              <a:t>}</a:t>
            </a:r>
            <a:endParaRPr lang="en-US" sz="2000" b="1" dirty="0">
              <a:latin typeface="Courier New"/>
              <a:cs typeface="Courier New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406609" y="1325903"/>
            <a:ext cx="1211189" cy="338554"/>
          </a:xfrm>
          <a:prstGeom prst="rect">
            <a:avLst/>
          </a:prstGeom>
          <a:solidFill>
            <a:srgbClr val="0033CC"/>
          </a:solidFill>
        </p:spPr>
        <p:txBody>
          <a:bodyPr wrap="none" rtlCol="0">
            <a:spAutoFit/>
          </a:bodyPr>
          <a:lstStyle/>
          <a:p>
            <a:r>
              <a:rPr lang="en-US" dirty="0" err="1" smtClean="0">
                <a:solidFill>
                  <a:srgbClr val="FFFF00"/>
                </a:solidFill>
              </a:rPr>
              <a:t>dragdrop.js</a:t>
            </a:r>
            <a:endParaRPr lang="en-US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732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Drag and Drop an Object</a:t>
            </a:r>
            <a:r>
              <a:rPr lang="en-US" i="1" dirty="0"/>
              <a:t>, cont’d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F0376-0E54-9843-B673-E00D6670E830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63467" y="1402638"/>
            <a:ext cx="7880332" cy="378565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Courier New"/>
                <a:cs typeface="Courier New"/>
              </a:rPr>
              <a:t>function </a:t>
            </a:r>
            <a:r>
              <a:rPr lang="en-US" sz="2000" b="1" dirty="0" err="1">
                <a:solidFill>
                  <a:srgbClr val="7030A0"/>
                </a:solidFill>
                <a:latin typeface="Courier New"/>
                <a:cs typeface="Courier New"/>
              </a:rPr>
              <a:t>highlightTarget</a:t>
            </a:r>
            <a:r>
              <a:rPr lang="en-US" sz="2000" b="1" dirty="0">
                <a:latin typeface="Courier New"/>
                <a:cs typeface="Courier New"/>
              </a:rPr>
              <a:t>(event, </a:t>
            </a:r>
            <a:r>
              <a:rPr lang="en-US" sz="2000" b="1" dirty="0" err="1">
                <a:latin typeface="Courier New"/>
                <a:cs typeface="Courier New"/>
              </a:rPr>
              <a:t>ui</a:t>
            </a:r>
            <a:r>
              <a:rPr lang="en-US" sz="2000" b="1" dirty="0">
                <a:latin typeface="Courier New"/>
                <a:cs typeface="Courier New"/>
              </a:rPr>
              <a:t>)</a:t>
            </a:r>
          </a:p>
          <a:p>
            <a:r>
              <a:rPr lang="en-US" sz="2000" b="1" dirty="0">
                <a:latin typeface="Courier New"/>
                <a:cs typeface="Courier New"/>
              </a:rPr>
              <a:t>{</a:t>
            </a:r>
          </a:p>
          <a:p>
            <a:r>
              <a:rPr lang="en-US" sz="2000" b="1" dirty="0">
                <a:latin typeface="Courier New"/>
                <a:cs typeface="Courier New"/>
              </a:rPr>
              <a:t>    $("#target").</a:t>
            </a:r>
            <a:r>
              <a:rPr lang="en-US" sz="2000" b="1" dirty="0" err="1">
                <a:latin typeface="Courier New"/>
                <a:cs typeface="Courier New"/>
              </a:rPr>
              <a:t>addClass</a:t>
            </a:r>
            <a:r>
              <a:rPr lang="en-US" sz="2000" b="1" dirty="0">
                <a:latin typeface="Courier New"/>
                <a:cs typeface="Courier New"/>
              </a:rPr>
              <a:t>("</a:t>
            </a:r>
            <a:r>
              <a:rPr lang="en-US" sz="2000" b="1" dirty="0" err="1">
                <a:solidFill>
                  <a:srgbClr val="B23C00"/>
                </a:solidFill>
                <a:latin typeface="Courier New"/>
                <a:cs typeface="Courier New"/>
              </a:rPr>
              <a:t>ui</a:t>
            </a:r>
            <a:r>
              <a:rPr lang="en-US" sz="2000" b="1" dirty="0">
                <a:solidFill>
                  <a:srgbClr val="B23C00"/>
                </a:solidFill>
                <a:latin typeface="Courier New"/>
                <a:cs typeface="Courier New"/>
              </a:rPr>
              <a:t>-state-highlight</a:t>
            </a:r>
            <a:r>
              <a:rPr lang="en-US" sz="2000" b="1" dirty="0">
                <a:latin typeface="Courier New"/>
                <a:cs typeface="Courier New"/>
              </a:rPr>
              <a:t>")</a:t>
            </a:r>
          </a:p>
          <a:p>
            <a:r>
              <a:rPr lang="en-US" sz="2000" b="1" dirty="0">
                <a:latin typeface="Courier New"/>
                <a:cs typeface="Courier New"/>
              </a:rPr>
              <a:t>                .html("Dropped ")</a:t>
            </a:r>
          </a:p>
          <a:p>
            <a:r>
              <a:rPr lang="it-IT" sz="2000" b="1" dirty="0">
                <a:latin typeface="Courier New"/>
                <a:cs typeface="Courier New"/>
              </a:rPr>
              <a:t>                .</a:t>
            </a:r>
            <a:r>
              <a:rPr lang="it-IT" sz="2000" b="1" dirty="0" err="1">
                <a:latin typeface="Courier New"/>
                <a:cs typeface="Courier New"/>
              </a:rPr>
              <a:t>append</a:t>
            </a:r>
            <a:r>
              <a:rPr lang="it-IT" sz="2000" b="1" dirty="0">
                <a:latin typeface="Courier New"/>
                <a:cs typeface="Courier New"/>
              </a:rPr>
              <a:t>(</a:t>
            </a:r>
            <a:r>
              <a:rPr lang="it-IT" sz="2000" b="1" dirty="0" err="1">
                <a:solidFill>
                  <a:srgbClr val="B23C00"/>
                </a:solidFill>
                <a:latin typeface="Courier New"/>
                <a:cs typeface="Courier New"/>
              </a:rPr>
              <a:t>ui.draggable</a:t>
            </a:r>
            <a:r>
              <a:rPr lang="it-IT" sz="2000" b="1" dirty="0" err="1">
                <a:latin typeface="Courier New"/>
                <a:cs typeface="Courier New"/>
              </a:rPr>
              <a:t>.text</a:t>
            </a:r>
            <a:r>
              <a:rPr lang="it-IT" sz="2000" b="1" dirty="0">
                <a:latin typeface="Courier New"/>
                <a:cs typeface="Courier New"/>
              </a:rPr>
              <a:t>());</a:t>
            </a:r>
          </a:p>
          <a:p>
            <a:r>
              <a:rPr lang="it-IT" sz="2000" b="1" dirty="0">
                <a:latin typeface="Courier New"/>
                <a:cs typeface="Courier New"/>
              </a:rPr>
              <a:t>} </a:t>
            </a:r>
          </a:p>
          <a:p>
            <a:endParaRPr lang="it-IT" sz="2000" b="1" dirty="0">
              <a:latin typeface="Courier New"/>
              <a:cs typeface="Courier New"/>
            </a:endParaRPr>
          </a:p>
          <a:p>
            <a:r>
              <a:rPr lang="it-IT" sz="2000" b="1" dirty="0" err="1">
                <a:latin typeface="Courier New"/>
                <a:cs typeface="Courier New"/>
              </a:rPr>
              <a:t>function</a:t>
            </a:r>
            <a:r>
              <a:rPr lang="it-IT" sz="2000" b="1" dirty="0">
                <a:latin typeface="Courier New"/>
                <a:cs typeface="Courier New"/>
              </a:rPr>
              <a:t> </a:t>
            </a:r>
            <a:r>
              <a:rPr lang="it-IT" sz="2000" b="1" dirty="0" err="1">
                <a:solidFill>
                  <a:srgbClr val="7030A0"/>
                </a:solidFill>
                <a:latin typeface="Courier New"/>
                <a:cs typeface="Courier New"/>
              </a:rPr>
              <a:t>resetTarget</a:t>
            </a:r>
            <a:r>
              <a:rPr lang="it-IT" sz="2000" b="1" dirty="0">
                <a:latin typeface="Courier New"/>
                <a:cs typeface="Courier New"/>
              </a:rPr>
              <a:t>(</a:t>
            </a:r>
            <a:r>
              <a:rPr lang="it-IT" sz="2000" b="1" dirty="0" err="1">
                <a:latin typeface="Courier New"/>
                <a:cs typeface="Courier New"/>
              </a:rPr>
              <a:t>event</a:t>
            </a:r>
            <a:r>
              <a:rPr lang="it-IT" sz="2000" b="1" dirty="0">
                <a:latin typeface="Courier New"/>
                <a:cs typeface="Courier New"/>
              </a:rPr>
              <a:t>, </a:t>
            </a:r>
            <a:r>
              <a:rPr lang="it-IT" sz="2000" b="1" dirty="0" err="1">
                <a:latin typeface="Courier New"/>
                <a:cs typeface="Courier New"/>
              </a:rPr>
              <a:t>ui</a:t>
            </a:r>
            <a:r>
              <a:rPr lang="it-IT" sz="2000" b="1" dirty="0">
                <a:latin typeface="Courier New"/>
                <a:cs typeface="Courier New"/>
              </a:rPr>
              <a:t>)</a:t>
            </a:r>
          </a:p>
          <a:p>
            <a:r>
              <a:rPr lang="it-IT" sz="2000" b="1" dirty="0">
                <a:latin typeface="Courier New"/>
                <a:cs typeface="Courier New"/>
              </a:rPr>
              <a:t>{</a:t>
            </a:r>
          </a:p>
          <a:p>
            <a:r>
              <a:rPr lang="it-IT" sz="2000" b="1" dirty="0">
                <a:latin typeface="Courier New"/>
                <a:cs typeface="Courier New"/>
              </a:rPr>
              <a:t>    $("#target").</a:t>
            </a:r>
            <a:r>
              <a:rPr lang="it-IT" sz="2000" b="1" dirty="0" err="1">
                <a:latin typeface="Courier New"/>
                <a:cs typeface="Courier New"/>
              </a:rPr>
              <a:t>removeClass</a:t>
            </a:r>
            <a:r>
              <a:rPr lang="it-IT" sz="2000" b="1" dirty="0">
                <a:latin typeface="Courier New"/>
                <a:cs typeface="Courier New"/>
              </a:rPr>
              <a:t>("</a:t>
            </a:r>
            <a:r>
              <a:rPr lang="it-IT" sz="2000" b="1" dirty="0" err="1">
                <a:latin typeface="Courier New"/>
                <a:cs typeface="Courier New"/>
              </a:rPr>
              <a:t>ui</a:t>
            </a:r>
            <a:r>
              <a:rPr lang="it-IT" sz="2000" b="1" dirty="0">
                <a:latin typeface="Courier New"/>
                <a:cs typeface="Courier New"/>
              </a:rPr>
              <a:t>-state-</a:t>
            </a:r>
            <a:r>
              <a:rPr lang="it-IT" sz="2000" b="1" dirty="0" err="1">
                <a:latin typeface="Courier New"/>
                <a:cs typeface="Courier New"/>
              </a:rPr>
              <a:t>highlight</a:t>
            </a:r>
            <a:r>
              <a:rPr lang="it-IT" sz="2000" b="1" dirty="0">
                <a:latin typeface="Courier New"/>
                <a:cs typeface="Courier New"/>
              </a:rPr>
              <a:t>")</a:t>
            </a:r>
          </a:p>
          <a:p>
            <a:r>
              <a:rPr lang="fi-FI" sz="2000" b="1" dirty="0">
                <a:latin typeface="Courier New"/>
                <a:cs typeface="Courier New"/>
              </a:rPr>
              <a:t>                .</a:t>
            </a:r>
            <a:r>
              <a:rPr lang="fi-FI" sz="2000" b="1" dirty="0" err="1">
                <a:latin typeface="Courier New"/>
                <a:cs typeface="Courier New"/>
              </a:rPr>
              <a:t>html("Drop</a:t>
            </a:r>
            <a:r>
              <a:rPr lang="fi-FI" sz="2000" b="1" dirty="0">
                <a:latin typeface="Courier New"/>
                <a:cs typeface="Courier New"/>
              </a:rPr>
              <a:t> on me");</a:t>
            </a:r>
          </a:p>
          <a:p>
            <a:r>
              <a:rPr lang="fi-FI" sz="2000" b="1" dirty="0">
                <a:latin typeface="Courier New"/>
                <a:cs typeface="Courier New"/>
              </a:rPr>
              <a:t>}</a:t>
            </a:r>
            <a:endParaRPr lang="en-US" sz="2000" b="1" dirty="0">
              <a:latin typeface="Courier New"/>
              <a:cs typeface="Courier New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406609" y="1325903"/>
            <a:ext cx="1211189" cy="338554"/>
          </a:xfrm>
          <a:prstGeom prst="rect">
            <a:avLst/>
          </a:prstGeom>
          <a:solidFill>
            <a:srgbClr val="0033CC"/>
          </a:solidFill>
        </p:spPr>
        <p:txBody>
          <a:bodyPr wrap="none" rtlCol="0">
            <a:spAutoFit/>
          </a:bodyPr>
          <a:lstStyle/>
          <a:p>
            <a:r>
              <a:rPr lang="en-US" dirty="0" err="1" smtClean="0">
                <a:solidFill>
                  <a:srgbClr val="FFFF00"/>
                </a:solidFill>
              </a:rPr>
              <a:t>dragdrop.js</a:t>
            </a:r>
            <a:endParaRPr lang="en-US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2738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Drag and Drop an Object</a:t>
            </a:r>
            <a:r>
              <a:rPr lang="en-US" i="1"/>
              <a:t>, cont’d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F0376-0E54-9843-B673-E00D6670E830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914440" y="1472128"/>
            <a:ext cx="7263527" cy="4401205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Courier New"/>
                <a:cs typeface="Courier New"/>
              </a:rPr>
              <a:t>function </a:t>
            </a:r>
            <a:r>
              <a:rPr lang="en-US" sz="2000" b="1" dirty="0" err="1">
                <a:latin typeface="Courier New"/>
                <a:cs typeface="Courier New"/>
              </a:rPr>
              <a:t>cloneDragMe</a:t>
            </a:r>
            <a:r>
              <a:rPr lang="en-US" sz="2000" b="1" dirty="0">
                <a:latin typeface="Courier New"/>
                <a:cs typeface="Courier New"/>
              </a:rPr>
              <a:t>()</a:t>
            </a:r>
          </a:p>
          <a:p>
            <a:r>
              <a:rPr lang="en-US" sz="2000" b="1" dirty="0">
                <a:latin typeface="Courier New"/>
                <a:cs typeface="Courier New"/>
              </a:rPr>
              <a:t>{</a:t>
            </a:r>
          </a:p>
          <a:p>
            <a:r>
              <a:rPr lang="da-DK" sz="2000" b="1" dirty="0">
                <a:latin typeface="Courier New"/>
                <a:cs typeface="Courier New"/>
              </a:rPr>
              <a:t>    for (i = 1; i &lt;= 4; i++){</a:t>
            </a:r>
          </a:p>
          <a:p>
            <a:r>
              <a:rPr lang="fi-FI" sz="2000" b="1" dirty="0">
                <a:latin typeface="Courier New"/>
                <a:cs typeface="Courier New"/>
              </a:rPr>
              <a:t>        </a:t>
            </a:r>
            <a:r>
              <a:rPr lang="fi-FI" sz="2000" b="1" dirty="0" err="1">
                <a:latin typeface="Courier New"/>
                <a:cs typeface="Courier New"/>
              </a:rPr>
              <a:t>zValue</a:t>
            </a:r>
            <a:r>
              <a:rPr lang="fi-FI" sz="2000" b="1" dirty="0">
                <a:latin typeface="Courier New"/>
                <a:cs typeface="Courier New"/>
              </a:rPr>
              <a:t> = 101 + i;</a:t>
            </a:r>
          </a:p>
          <a:p>
            <a:r>
              <a:rPr lang="mr-IN" sz="2000" b="1" dirty="0">
                <a:latin typeface="Courier New"/>
                <a:cs typeface="Courier New"/>
              </a:rPr>
              <a:t> </a:t>
            </a:r>
            <a:r>
              <a:rPr lang="en-US" sz="2000" b="1" dirty="0" smtClean="0">
                <a:latin typeface="Courier New"/>
                <a:cs typeface="Courier New"/>
              </a:rPr>
              <a:t>	  </a:t>
            </a:r>
            <a:r>
              <a:rPr lang="mr-IN" sz="2000" b="1" dirty="0" err="1" smtClean="0">
                <a:latin typeface="Courier New"/>
                <a:cs typeface="Courier New"/>
              </a:rPr>
              <a:t>xPos</a:t>
            </a:r>
            <a:r>
              <a:rPr lang="mr-IN" sz="2000" b="1" dirty="0" smtClean="0">
                <a:latin typeface="Courier New"/>
                <a:cs typeface="Courier New"/>
              </a:rPr>
              <a:t> </a:t>
            </a:r>
            <a:r>
              <a:rPr lang="mr-IN" sz="2000" b="1" dirty="0">
                <a:latin typeface="Courier New"/>
                <a:cs typeface="Courier New"/>
              </a:rPr>
              <a:t>= 20*</a:t>
            </a:r>
            <a:r>
              <a:rPr lang="mr-IN" sz="2000" b="1" dirty="0" err="1">
                <a:latin typeface="Courier New"/>
                <a:cs typeface="Courier New"/>
              </a:rPr>
              <a:t>i</a:t>
            </a:r>
            <a:r>
              <a:rPr lang="mr-IN" sz="2000" b="1" dirty="0">
                <a:latin typeface="Courier New"/>
                <a:cs typeface="Courier New"/>
              </a:rPr>
              <a:t>;</a:t>
            </a:r>
            <a:r>
              <a:rPr lang="es-ES_tradnl" sz="2000" b="1" dirty="0" smtClean="0">
                <a:latin typeface="Courier New"/>
                <a:cs typeface="Courier New"/>
              </a:rPr>
              <a:t>        </a:t>
            </a:r>
          </a:p>
          <a:p>
            <a:r>
              <a:rPr lang="es-ES_tradnl" sz="2000" b="1" dirty="0">
                <a:latin typeface="Courier New"/>
                <a:cs typeface="Courier New"/>
              </a:rPr>
              <a:t> </a:t>
            </a:r>
            <a:r>
              <a:rPr lang="es-ES_tradnl" sz="2000" b="1" dirty="0" smtClean="0">
                <a:latin typeface="Courier New"/>
                <a:cs typeface="Courier New"/>
              </a:rPr>
              <a:t>       </a:t>
            </a:r>
            <a:r>
              <a:rPr lang="es-ES_tradnl" sz="2000" b="1" dirty="0" err="1" smtClean="0">
                <a:latin typeface="Courier New"/>
                <a:cs typeface="Courier New"/>
              </a:rPr>
              <a:t>yPos</a:t>
            </a:r>
            <a:r>
              <a:rPr lang="es-ES_tradnl" sz="2000" b="1" dirty="0" smtClean="0">
                <a:latin typeface="Courier New"/>
                <a:cs typeface="Courier New"/>
              </a:rPr>
              <a:t> </a:t>
            </a:r>
            <a:r>
              <a:rPr lang="es-ES_tradnl" sz="2000" b="1" dirty="0">
                <a:latin typeface="Courier New"/>
                <a:cs typeface="Courier New"/>
              </a:rPr>
              <a:t>= 80 + 20*i + "</a:t>
            </a:r>
            <a:r>
              <a:rPr lang="es-ES_tradnl" sz="2000" b="1" dirty="0" err="1">
                <a:latin typeface="Courier New"/>
                <a:cs typeface="Courier New"/>
              </a:rPr>
              <a:t>px</a:t>
            </a:r>
            <a:r>
              <a:rPr lang="es-ES_tradnl" sz="2000" b="1" dirty="0">
                <a:latin typeface="Courier New"/>
                <a:cs typeface="Courier New"/>
              </a:rPr>
              <a:t>";</a:t>
            </a:r>
          </a:p>
          <a:p>
            <a:r>
              <a:rPr lang="en-US" sz="2000" b="1" dirty="0">
                <a:latin typeface="Courier New"/>
                <a:cs typeface="Courier New"/>
              </a:rPr>
              <a:t>        $("</a:t>
            </a:r>
            <a:r>
              <a:rPr lang="en-US" sz="2000" b="1" dirty="0" err="1">
                <a:solidFill>
                  <a:srgbClr val="B23C00"/>
                </a:solidFill>
                <a:latin typeface="Courier New"/>
                <a:cs typeface="Courier New"/>
              </a:rPr>
              <a:t>div:first</a:t>
            </a:r>
            <a:r>
              <a:rPr lang="en-US" sz="2000" b="1" dirty="0">
                <a:latin typeface="Courier New"/>
                <a:cs typeface="Courier New"/>
              </a:rPr>
              <a:t>").clone()</a:t>
            </a:r>
          </a:p>
          <a:p>
            <a:r>
              <a:rPr lang="nb-NO" sz="2000" b="1" dirty="0">
                <a:latin typeface="Courier New"/>
                <a:cs typeface="Courier New"/>
              </a:rPr>
              <a:t>                      .</a:t>
            </a:r>
            <a:r>
              <a:rPr lang="nb-NO" sz="2000" b="1" dirty="0" err="1">
                <a:latin typeface="Courier New"/>
                <a:cs typeface="Courier New"/>
              </a:rPr>
              <a:t>insertAfter</a:t>
            </a:r>
            <a:r>
              <a:rPr lang="nb-NO" sz="2000" b="1" dirty="0">
                <a:latin typeface="Courier New"/>
                <a:cs typeface="Courier New"/>
              </a:rPr>
              <a:t>("</a:t>
            </a:r>
            <a:r>
              <a:rPr lang="nb-NO" sz="2000" b="1" dirty="0" err="1">
                <a:solidFill>
                  <a:srgbClr val="B23C00"/>
                </a:solidFill>
                <a:latin typeface="Courier New"/>
                <a:cs typeface="Courier New"/>
              </a:rPr>
              <a:t>div:last</a:t>
            </a:r>
            <a:r>
              <a:rPr lang="nb-NO" sz="2000" b="1" dirty="0">
                <a:latin typeface="Courier New"/>
                <a:cs typeface="Courier New"/>
              </a:rPr>
              <a:t>")</a:t>
            </a:r>
          </a:p>
          <a:p>
            <a:r>
              <a:rPr lang="nb-NO" sz="2000" b="1" dirty="0" smtClean="0">
                <a:latin typeface="Courier New"/>
                <a:cs typeface="Courier New"/>
              </a:rPr>
              <a:t>			    .</a:t>
            </a:r>
            <a:r>
              <a:rPr lang="nb-NO" sz="2000" b="1" dirty="0" err="1">
                <a:latin typeface="Courier New"/>
                <a:cs typeface="Courier New"/>
              </a:rPr>
              <a:t>css</a:t>
            </a:r>
            <a:r>
              <a:rPr lang="nb-NO" sz="2000" b="1" dirty="0">
                <a:latin typeface="Courier New"/>
                <a:cs typeface="Courier New"/>
              </a:rPr>
              <a:t>("</a:t>
            </a:r>
            <a:r>
              <a:rPr lang="nb-NO" sz="2000" b="1" dirty="0" err="1">
                <a:latin typeface="Courier New"/>
                <a:cs typeface="Courier New"/>
              </a:rPr>
              <a:t>left</a:t>
            </a:r>
            <a:r>
              <a:rPr lang="nb-NO" sz="2000" b="1" dirty="0">
                <a:latin typeface="Courier New"/>
                <a:cs typeface="Courier New"/>
              </a:rPr>
              <a:t>", </a:t>
            </a:r>
            <a:r>
              <a:rPr lang="nb-NO" sz="2000" b="1" dirty="0" err="1">
                <a:latin typeface="Courier New"/>
                <a:cs typeface="Courier New"/>
              </a:rPr>
              <a:t>xPos</a:t>
            </a:r>
            <a:r>
              <a:rPr lang="nb-NO" sz="2000" b="1" dirty="0" smtClean="0">
                <a:latin typeface="Courier New"/>
                <a:cs typeface="Courier New"/>
              </a:rPr>
              <a:t>)</a:t>
            </a:r>
          </a:p>
          <a:p>
            <a:r>
              <a:rPr lang="hu-HU" sz="2000" b="1" dirty="0" smtClean="0">
                <a:latin typeface="Courier New"/>
                <a:cs typeface="Courier New"/>
              </a:rPr>
              <a:t>                      </a:t>
            </a:r>
            <a:r>
              <a:rPr lang="hu-HU" sz="2000" b="1" dirty="0">
                <a:latin typeface="Courier New"/>
                <a:cs typeface="Courier New"/>
              </a:rPr>
              <a:t>.css("top", yPos)</a:t>
            </a:r>
          </a:p>
          <a:p>
            <a:r>
              <a:rPr lang="en-US" sz="2000" b="1" dirty="0">
                <a:latin typeface="Courier New"/>
                <a:cs typeface="Courier New"/>
              </a:rPr>
              <a:t>                      .</a:t>
            </a:r>
            <a:r>
              <a:rPr lang="en-US" sz="2000" b="1" dirty="0" err="1">
                <a:latin typeface="Courier New"/>
                <a:cs typeface="Courier New"/>
              </a:rPr>
              <a:t>css</a:t>
            </a:r>
            <a:r>
              <a:rPr lang="en-US" sz="2000" b="1" dirty="0">
                <a:latin typeface="Courier New"/>
                <a:cs typeface="Courier New"/>
              </a:rPr>
              <a:t>("</a:t>
            </a:r>
            <a:r>
              <a:rPr lang="en-US" sz="2000" b="1" dirty="0" err="1">
                <a:latin typeface="Courier New"/>
                <a:cs typeface="Courier New"/>
              </a:rPr>
              <a:t>zIndex</a:t>
            </a:r>
            <a:r>
              <a:rPr lang="en-US" sz="2000" b="1" dirty="0">
                <a:latin typeface="Courier New"/>
                <a:cs typeface="Courier New"/>
              </a:rPr>
              <a:t>", </a:t>
            </a:r>
            <a:r>
              <a:rPr lang="en-US" sz="2000" b="1" dirty="0" err="1">
                <a:latin typeface="Courier New"/>
                <a:cs typeface="Courier New"/>
              </a:rPr>
              <a:t>zValue</a:t>
            </a:r>
            <a:r>
              <a:rPr lang="en-US" sz="2000" b="1" dirty="0">
                <a:latin typeface="Courier New"/>
                <a:cs typeface="Courier New"/>
              </a:rPr>
              <a:t>)</a:t>
            </a:r>
          </a:p>
          <a:p>
            <a:r>
              <a:rPr lang="nl-NL" sz="2000" b="1" dirty="0">
                <a:latin typeface="Courier New"/>
                <a:cs typeface="Courier New"/>
              </a:rPr>
              <a:t>                      .</a:t>
            </a:r>
            <a:r>
              <a:rPr lang="nl-NL" sz="2000" b="1" dirty="0" err="1">
                <a:latin typeface="Courier New"/>
                <a:cs typeface="Courier New"/>
              </a:rPr>
              <a:t>append</a:t>
            </a:r>
            <a:r>
              <a:rPr lang="nl-NL" sz="2000" b="1" dirty="0">
                <a:latin typeface="Courier New"/>
                <a:cs typeface="Courier New"/>
              </a:rPr>
              <a:t>(" #" + i);</a:t>
            </a:r>
          </a:p>
          <a:p>
            <a:r>
              <a:rPr lang="nl-NL" sz="2000" b="1" dirty="0">
                <a:latin typeface="Courier New"/>
                <a:cs typeface="Courier New"/>
              </a:rPr>
              <a:t>    }</a:t>
            </a:r>
          </a:p>
          <a:p>
            <a:r>
              <a:rPr lang="nl-NL" sz="2000" b="1" dirty="0" smtClean="0">
                <a:latin typeface="Courier New"/>
                <a:cs typeface="Courier New"/>
              </a:rPr>
              <a:t>}</a:t>
            </a:r>
            <a:endParaRPr lang="nl-NL" sz="2000" b="1" dirty="0">
              <a:latin typeface="Courier New"/>
              <a:cs typeface="Courier New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040853" y="1325903"/>
            <a:ext cx="1211189" cy="338554"/>
          </a:xfrm>
          <a:prstGeom prst="rect">
            <a:avLst/>
          </a:prstGeom>
          <a:solidFill>
            <a:srgbClr val="0033CC"/>
          </a:solidFill>
        </p:spPr>
        <p:txBody>
          <a:bodyPr wrap="none" rtlCol="0">
            <a:spAutoFit/>
          </a:bodyPr>
          <a:lstStyle/>
          <a:p>
            <a:r>
              <a:rPr lang="en-US" dirty="0" err="1" smtClean="0">
                <a:solidFill>
                  <a:srgbClr val="FFFF00"/>
                </a:solidFill>
              </a:rPr>
              <a:t>dragdrop.js</a:t>
            </a:r>
            <a:endParaRPr lang="en-US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4747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jQuery UI Widgets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Popular jQuery UI widgets include:</a:t>
            </a:r>
          </a:p>
          <a:p>
            <a:pPr lvl="5"/>
            <a:endParaRPr lang="en-US" dirty="0" smtClean="0"/>
          </a:p>
          <a:p>
            <a:pPr lvl="1"/>
            <a:r>
              <a:rPr lang="en-US" dirty="0" smtClean="0"/>
              <a:t>accordion</a:t>
            </a:r>
          </a:p>
          <a:p>
            <a:pPr lvl="1"/>
            <a:r>
              <a:rPr lang="en-US" dirty="0" smtClean="0"/>
              <a:t>tabs</a:t>
            </a:r>
          </a:p>
          <a:p>
            <a:pPr lvl="1"/>
            <a:r>
              <a:rPr lang="en-US" dirty="0" smtClean="0"/>
              <a:t>date picker</a:t>
            </a:r>
          </a:p>
          <a:p>
            <a:pPr lvl="1"/>
            <a:r>
              <a:rPr lang="en-US" dirty="0" smtClean="0"/>
              <a:t>slider</a:t>
            </a:r>
          </a:p>
          <a:p>
            <a:pPr lvl="1"/>
            <a:r>
              <a:rPr lang="en-US" dirty="0" smtClean="0"/>
              <a:t>selectable elements</a:t>
            </a:r>
          </a:p>
          <a:p>
            <a:pPr lvl="1"/>
            <a:r>
              <a:rPr lang="en-US" dirty="0" smtClean="0"/>
              <a:t>sortable lists</a:t>
            </a:r>
          </a:p>
          <a:p>
            <a:pPr lvl="1"/>
            <a:r>
              <a:rPr lang="en-US" dirty="0" smtClean="0"/>
              <a:t>dialog boxes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F0376-0E54-9843-B673-E00D6670E830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457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Accordion Widget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Create an </a:t>
            </a:r>
            <a:r>
              <a:rPr lang="en-US" u="sng" dirty="0" smtClean="0"/>
              <a:t>outer div</a:t>
            </a:r>
            <a:r>
              <a:rPr lang="en-US" dirty="0" smtClean="0"/>
              <a:t> to be the </a:t>
            </a:r>
            <a:r>
              <a:rPr lang="en-US" dirty="0" smtClean="0">
                <a:solidFill>
                  <a:srgbClr val="B23C00"/>
                </a:solidFill>
              </a:rPr>
              <a:t>accordion widget</a:t>
            </a:r>
            <a:r>
              <a:rPr lang="en-US" dirty="0" smtClean="0"/>
              <a:t>.</a:t>
            </a:r>
          </a:p>
          <a:p>
            <a:pPr lvl="5"/>
            <a:endParaRPr lang="en-US" dirty="0" smtClean="0"/>
          </a:p>
          <a:p>
            <a:r>
              <a:rPr lang="en-US" dirty="0" smtClean="0"/>
              <a:t>Create a heading for each collapsible element of the accordion widget.</a:t>
            </a:r>
          </a:p>
          <a:p>
            <a:pPr lvl="1"/>
            <a:r>
              <a:rPr lang="en-US" dirty="0" smtClean="0"/>
              <a:t>The headings are contained in the outer div.</a:t>
            </a:r>
          </a:p>
          <a:p>
            <a:pPr lvl="1"/>
            <a:r>
              <a:rPr lang="en-US" dirty="0" smtClean="0"/>
              <a:t>Make all the headings at the same level.</a:t>
            </a:r>
          </a:p>
          <a:p>
            <a:pPr lvl="6"/>
            <a:endParaRPr lang="en-US" dirty="0" smtClean="0"/>
          </a:p>
          <a:p>
            <a:r>
              <a:rPr lang="en-US" dirty="0" smtClean="0"/>
              <a:t>Follow each heading with an </a:t>
            </a:r>
            <a:r>
              <a:rPr lang="en-US" u="sng" dirty="0" smtClean="0"/>
              <a:t>inner div</a:t>
            </a:r>
            <a:r>
              <a:rPr lang="en-US" dirty="0" smtClean="0"/>
              <a:t> to contain the contents of the </a:t>
            </a:r>
            <a:r>
              <a:rPr lang="en-US" u="sng" dirty="0" smtClean="0"/>
              <a:t>collapsible element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F0376-0E54-9843-B673-E00D6670E830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501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Accordion Widget</a:t>
            </a:r>
            <a:r>
              <a:rPr lang="en-US" i="1" dirty="0" smtClean="0"/>
              <a:t>, cont’d</a:t>
            </a:r>
            <a:endParaRPr lang="en-US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F0376-0E54-9843-B673-E00D6670E830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91489" y="1325903"/>
            <a:ext cx="8911551" cy="53553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BFBFBF"/>
            </a:solidFill>
          </a:ln>
        </p:spPr>
        <p:txBody>
          <a:bodyPr wrap="none" rtlCol="0">
            <a:spAutoFit/>
          </a:bodyPr>
          <a:lstStyle/>
          <a:p>
            <a:r>
              <a:rPr lang="en-US" sz="1800" b="1" dirty="0">
                <a:latin typeface="Courier New"/>
                <a:cs typeface="Courier New"/>
              </a:rPr>
              <a:t>&lt;body&gt;</a:t>
            </a:r>
          </a:p>
          <a:p>
            <a:r>
              <a:rPr lang="en-US" sz="1800" b="1" dirty="0">
                <a:latin typeface="Courier New"/>
                <a:cs typeface="Courier New"/>
              </a:rPr>
              <a:t>    &lt;h1&gt;Accordion Demo&lt;/h1&gt;</a:t>
            </a:r>
          </a:p>
          <a:p>
            <a:r>
              <a:rPr lang="en-US" sz="1800" b="1" dirty="0">
                <a:latin typeface="Courier New"/>
                <a:cs typeface="Courier New"/>
              </a:rPr>
              <a:t>    &lt;div </a:t>
            </a:r>
            <a:r>
              <a:rPr lang="en-US" sz="1800" b="1" dirty="0" smtClean="0">
                <a:latin typeface="Courier New"/>
                <a:cs typeface="Courier New"/>
              </a:rPr>
              <a:t>id="</a:t>
            </a:r>
            <a:r>
              <a:rPr lang="en-US" sz="1800" b="1" dirty="0">
                <a:solidFill>
                  <a:srgbClr val="B23C00"/>
                </a:solidFill>
                <a:latin typeface="Courier New"/>
                <a:cs typeface="Courier New"/>
              </a:rPr>
              <a:t>accordion</a:t>
            </a:r>
            <a:r>
              <a:rPr lang="en-US" sz="1800" b="1" dirty="0">
                <a:latin typeface="Courier New"/>
                <a:cs typeface="Courier New"/>
              </a:rPr>
              <a:t>"&gt;</a:t>
            </a:r>
          </a:p>
          <a:p>
            <a:r>
              <a:rPr lang="en-US" sz="1800" b="1" dirty="0">
                <a:latin typeface="Courier New"/>
                <a:cs typeface="Courier New"/>
              </a:rPr>
              <a:t>        </a:t>
            </a:r>
            <a:r>
              <a:rPr lang="en-US" sz="1800" b="1" dirty="0">
                <a:solidFill>
                  <a:srgbClr val="0033CC"/>
                </a:solidFill>
                <a:latin typeface="Courier New"/>
                <a:cs typeface="Courier New"/>
              </a:rPr>
              <a:t>&lt;h2&gt;CS 149 Operating Systems&lt;/h2&gt;</a:t>
            </a:r>
          </a:p>
          <a:p>
            <a:r>
              <a:rPr lang="en-US" sz="1800" b="1" dirty="0">
                <a:solidFill>
                  <a:srgbClr val="0033CC"/>
                </a:solidFill>
                <a:latin typeface="Courier New"/>
                <a:cs typeface="Courier New"/>
              </a:rPr>
              <a:t>        &lt;div&gt;</a:t>
            </a:r>
          </a:p>
          <a:p>
            <a:r>
              <a:rPr lang="en-US" sz="1800" b="1" dirty="0">
                <a:solidFill>
                  <a:srgbClr val="0033CC"/>
                </a:solidFill>
                <a:latin typeface="Courier New"/>
                <a:cs typeface="Courier New"/>
              </a:rPr>
              <a:t>            &lt;p&gt;</a:t>
            </a:r>
          </a:p>
          <a:p>
            <a:r>
              <a:rPr lang="en-US" sz="1800" b="1" dirty="0">
                <a:solidFill>
                  <a:srgbClr val="0033CC"/>
                </a:solidFill>
                <a:latin typeface="Courier New"/>
                <a:cs typeface="Courier New"/>
              </a:rPr>
              <a:t>                Fundamentals: Contiguous and non-contiguous </a:t>
            </a:r>
          </a:p>
          <a:p>
            <a:r>
              <a:rPr lang="en-US" sz="1800" b="1" dirty="0">
                <a:solidFill>
                  <a:srgbClr val="0033CC"/>
                </a:solidFill>
                <a:latin typeface="Courier New"/>
                <a:cs typeface="Courier New"/>
              </a:rPr>
              <a:t>               </a:t>
            </a:r>
            <a:r>
              <a:rPr lang="en-US" sz="1800" b="1" dirty="0" smtClean="0">
                <a:solidFill>
                  <a:srgbClr val="0033CC"/>
                </a:solidFill>
                <a:latin typeface="Courier New"/>
                <a:cs typeface="Courier New"/>
              </a:rPr>
              <a:t> ... </a:t>
            </a:r>
            <a:endParaRPr lang="en-US" sz="1800" b="1" dirty="0">
              <a:solidFill>
                <a:srgbClr val="0033CC"/>
              </a:solidFill>
              <a:latin typeface="Courier New"/>
              <a:cs typeface="Courier New"/>
            </a:endParaRPr>
          </a:p>
          <a:p>
            <a:r>
              <a:rPr lang="en-US" sz="1800" b="1" dirty="0">
                <a:solidFill>
                  <a:srgbClr val="0033CC"/>
                </a:solidFill>
                <a:latin typeface="Courier New"/>
                <a:cs typeface="Courier New"/>
              </a:rPr>
              <a:t>            &lt;/p&gt;</a:t>
            </a:r>
          </a:p>
          <a:p>
            <a:r>
              <a:rPr lang="en-US" sz="1800" b="1" dirty="0">
                <a:solidFill>
                  <a:srgbClr val="0033CC"/>
                </a:solidFill>
                <a:latin typeface="Courier New"/>
                <a:cs typeface="Courier New"/>
              </a:rPr>
              <a:t>            &lt;p&gt;</a:t>
            </a:r>
          </a:p>
          <a:p>
            <a:r>
              <a:rPr lang="en-US" sz="1800" b="1" dirty="0">
                <a:solidFill>
                  <a:srgbClr val="0033CC"/>
                </a:solidFill>
                <a:latin typeface="Courier New"/>
                <a:cs typeface="Courier New"/>
              </a:rPr>
              <a:t>                &lt;strong&gt;Prerequisite:&lt;/strong&gt; CS 146 or SE 146 </a:t>
            </a:r>
          </a:p>
          <a:p>
            <a:r>
              <a:rPr lang="en-US" sz="1800" b="1" dirty="0">
                <a:solidFill>
                  <a:srgbClr val="0033CC"/>
                </a:solidFill>
                <a:latin typeface="Courier New"/>
                <a:cs typeface="Courier New"/>
              </a:rPr>
              <a:t>                (with a grade of "C-" or better).</a:t>
            </a:r>
          </a:p>
          <a:p>
            <a:r>
              <a:rPr lang="en-US" sz="1800" b="1" dirty="0">
                <a:solidFill>
                  <a:srgbClr val="0033CC"/>
                </a:solidFill>
                <a:latin typeface="Courier New"/>
                <a:cs typeface="Courier New"/>
              </a:rPr>
              <a:t>            &lt;/p&gt;        </a:t>
            </a:r>
          </a:p>
          <a:p>
            <a:r>
              <a:rPr lang="en-US" sz="1800" b="1" dirty="0">
                <a:solidFill>
                  <a:srgbClr val="0033CC"/>
                </a:solidFill>
                <a:latin typeface="Courier New"/>
                <a:cs typeface="Courier New"/>
              </a:rPr>
              <a:t>        &lt;/div&gt;</a:t>
            </a:r>
          </a:p>
          <a:p>
            <a:r>
              <a:rPr lang="tr-TR" sz="1800" b="1" dirty="0">
                <a:latin typeface="Courier New"/>
                <a:cs typeface="Courier New"/>
              </a:rPr>
              <a:t>        </a:t>
            </a:r>
            <a:r>
              <a:rPr lang="tr-TR" sz="1800" b="1" dirty="0">
                <a:solidFill>
                  <a:srgbClr val="008000"/>
                </a:solidFill>
                <a:latin typeface="Courier New"/>
                <a:cs typeface="Courier New"/>
              </a:rPr>
              <a:t>&lt;h2&gt;CS 153 Compiler Design&lt;/h2&gt;</a:t>
            </a:r>
          </a:p>
          <a:p>
            <a:r>
              <a:rPr lang="tr-TR" sz="1800" b="1" dirty="0">
                <a:solidFill>
                  <a:srgbClr val="008000"/>
                </a:solidFill>
                <a:latin typeface="Courier New"/>
                <a:cs typeface="Courier New"/>
              </a:rPr>
              <a:t>        &lt;div</a:t>
            </a:r>
            <a:r>
              <a:rPr lang="tr-TR" sz="1800" b="1" dirty="0" smtClean="0">
                <a:solidFill>
                  <a:srgbClr val="008000"/>
                </a:solidFill>
                <a:latin typeface="Courier New"/>
                <a:cs typeface="Courier New"/>
              </a:rPr>
              <a:t>&gt; ... &lt;/div&gt;</a:t>
            </a:r>
          </a:p>
          <a:p>
            <a:r>
              <a:rPr lang="tr-TR" sz="1800" b="1" dirty="0">
                <a:latin typeface="Courier New"/>
                <a:cs typeface="Courier New"/>
              </a:rPr>
              <a:t> </a:t>
            </a:r>
            <a:r>
              <a:rPr lang="tr-TR" sz="1800" b="1" dirty="0" smtClean="0">
                <a:latin typeface="Courier New"/>
                <a:cs typeface="Courier New"/>
              </a:rPr>
              <a:t>       ...</a:t>
            </a:r>
            <a:endParaRPr lang="tr-TR" sz="1800" b="1" dirty="0">
              <a:latin typeface="Courier New"/>
              <a:cs typeface="Courier New"/>
            </a:endParaRPr>
          </a:p>
          <a:p>
            <a:r>
              <a:rPr lang="en-US" sz="1800" b="1" dirty="0">
                <a:latin typeface="Courier New"/>
                <a:cs typeface="Courier New"/>
              </a:rPr>
              <a:t> </a:t>
            </a:r>
            <a:r>
              <a:rPr lang="en-US" sz="1800" b="1" dirty="0" smtClean="0">
                <a:latin typeface="Courier New"/>
                <a:cs typeface="Courier New"/>
              </a:rPr>
              <a:t>   &lt;</a:t>
            </a:r>
            <a:r>
              <a:rPr lang="en-US" sz="1800" b="1" dirty="0">
                <a:latin typeface="Courier New"/>
                <a:cs typeface="Courier New"/>
              </a:rPr>
              <a:t>/div&gt;</a:t>
            </a:r>
          </a:p>
          <a:p>
            <a:r>
              <a:rPr lang="en-US" sz="1800" b="1" dirty="0">
                <a:latin typeface="Courier New"/>
                <a:cs typeface="Courier New"/>
              </a:rPr>
              <a:t>&lt;/body&gt;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09" y="1444544"/>
            <a:ext cx="1518965" cy="338554"/>
          </a:xfrm>
          <a:prstGeom prst="rect">
            <a:avLst/>
          </a:prstGeom>
          <a:solidFill>
            <a:srgbClr val="0033CC"/>
          </a:solidFill>
        </p:spPr>
        <p:txBody>
          <a:bodyPr wrap="none" rtlCol="0">
            <a:spAutoFit/>
          </a:bodyPr>
          <a:lstStyle/>
          <a:p>
            <a:r>
              <a:rPr lang="en-US" dirty="0" err="1" smtClean="0">
                <a:solidFill>
                  <a:srgbClr val="FFFF00"/>
                </a:solidFill>
              </a:rPr>
              <a:t>accordion.html</a:t>
            </a:r>
            <a:endParaRPr lang="en-US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6431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Accordion Widget</a:t>
            </a:r>
            <a:r>
              <a:rPr lang="en-US" i="1" dirty="0"/>
              <a:t>, cont’d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F0376-0E54-9843-B673-E00D6670E830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828830" y="1417342"/>
            <a:ext cx="5109893" cy="193899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Courier New"/>
                <a:cs typeface="Courier New"/>
              </a:rPr>
              <a:t>$(</a:t>
            </a:r>
            <a:r>
              <a:rPr lang="en-US" sz="2000" b="1" dirty="0" err="1">
                <a:latin typeface="Courier New"/>
                <a:cs typeface="Courier New"/>
              </a:rPr>
              <a:t>init</a:t>
            </a:r>
            <a:r>
              <a:rPr lang="en-US" sz="2000" b="1" dirty="0">
                <a:latin typeface="Courier New"/>
                <a:cs typeface="Courier New"/>
              </a:rPr>
              <a:t>);</a:t>
            </a:r>
          </a:p>
          <a:p>
            <a:endParaRPr lang="en-US" sz="2000" b="1" dirty="0">
              <a:latin typeface="Courier New"/>
              <a:cs typeface="Courier New"/>
            </a:endParaRPr>
          </a:p>
          <a:p>
            <a:r>
              <a:rPr lang="en-US" sz="2000" b="1" dirty="0">
                <a:latin typeface="Courier New"/>
                <a:cs typeface="Courier New"/>
              </a:rPr>
              <a:t>function </a:t>
            </a:r>
            <a:r>
              <a:rPr lang="en-US" sz="2000" b="1" dirty="0" err="1">
                <a:latin typeface="Courier New"/>
                <a:cs typeface="Courier New"/>
              </a:rPr>
              <a:t>init</a:t>
            </a:r>
            <a:r>
              <a:rPr lang="en-US" sz="2000" b="1" dirty="0">
                <a:latin typeface="Courier New"/>
                <a:cs typeface="Courier New"/>
              </a:rPr>
              <a:t>()</a:t>
            </a:r>
          </a:p>
          <a:p>
            <a:r>
              <a:rPr lang="en-US" sz="2000" b="1" dirty="0">
                <a:latin typeface="Courier New"/>
                <a:cs typeface="Courier New"/>
              </a:rPr>
              <a:t>{</a:t>
            </a:r>
          </a:p>
          <a:p>
            <a:r>
              <a:rPr lang="en-US" sz="2000" b="1" dirty="0">
                <a:latin typeface="Courier New"/>
                <a:cs typeface="Courier New"/>
              </a:rPr>
              <a:t>    $("#accordion").</a:t>
            </a:r>
            <a:r>
              <a:rPr lang="en-US" sz="2000" b="1" dirty="0">
                <a:solidFill>
                  <a:srgbClr val="B23C00"/>
                </a:solidFill>
                <a:latin typeface="Courier New"/>
                <a:cs typeface="Courier New"/>
              </a:rPr>
              <a:t>accordion()</a:t>
            </a:r>
            <a:r>
              <a:rPr lang="en-US" sz="2000" b="1" dirty="0">
                <a:latin typeface="Courier New"/>
                <a:cs typeface="Courier New"/>
              </a:rPr>
              <a:t>;</a:t>
            </a:r>
          </a:p>
          <a:p>
            <a:r>
              <a:rPr lang="en-US" sz="2000" b="1" dirty="0">
                <a:latin typeface="Courier New"/>
                <a:cs typeface="Courier New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07" y="1234464"/>
            <a:ext cx="1279517" cy="338554"/>
          </a:xfrm>
          <a:prstGeom prst="rect">
            <a:avLst/>
          </a:prstGeom>
          <a:solidFill>
            <a:srgbClr val="0033CC"/>
          </a:solidFill>
        </p:spPr>
        <p:txBody>
          <a:bodyPr wrap="none" rtlCol="0">
            <a:spAutoFit/>
          </a:bodyPr>
          <a:lstStyle/>
          <a:p>
            <a:r>
              <a:rPr lang="en-US" dirty="0" err="1" smtClean="0">
                <a:solidFill>
                  <a:srgbClr val="FFFF00"/>
                </a:solidFill>
              </a:rPr>
              <a:t>accordion.js</a:t>
            </a:r>
            <a:endParaRPr lang="en-US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8986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Tabs Widget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an </a:t>
            </a:r>
            <a:r>
              <a:rPr lang="en-US" u="sng" dirty="0"/>
              <a:t>outer div</a:t>
            </a:r>
            <a:r>
              <a:rPr lang="en-US" dirty="0"/>
              <a:t> to be the </a:t>
            </a:r>
            <a:r>
              <a:rPr lang="en-US" dirty="0" smtClean="0"/>
              <a:t>tabs widget.</a:t>
            </a:r>
          </a:p>
          <a:p>
            <a:pPr lvl="5"/>
            <a:endParaRPr lang="en-US" dirty="0"/>
          </a:p>
          <a:p>
            <a:r>
              <a:rPr lang="en-US" dirty="0" smtClean="0"/>
              <a:t>The first element contained in the div must be an ordered or unordered list to serve as the tabs directory.</a:t>
            </a:r>
          </a:p>
          <a:p>
            <a:pPr lvl="5"/>
            <a:endParaRPr lang="en-US" dirty="0" smtClean="0"/>
          </a:p>
          <a:p>
            <a:r>
              <a:rPr lang="en-US" dirty="0" smtClean="0"/>
              <a:t>Each list item is a </a:t>
            </a:r>
            <a:r>
              <a:rPr lang="en-US" u="sng" dirty="0"/>
              <a:t>local link</a:t>
            </a:r>
            <a:r>
              <a:rPr lang="en-US" dirty="0"/>
              <a:t> </a:t>
            </a:r>
            <a:r>
              <a:rPr lang="en-US" dirty="0" smtClean="0"/>
              <a:t>to an </a:t>
            </a:r>
            <a:r>
              <a:rPr lang="en-US" u="sng" dirty="0" smtClean="0"/>
              <a:t>inner div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en-US" dirty="0" smtClean="0"/>
              <a:t>that contains the tab contents.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F0376-0E54-9843-B673-E00D6670E830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139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Tabs </a:t>
            </a:r>
            <a:r>
              <a:rPr lang="en-US" dirty="0" smtClean="0"/>
              <a:t>Widget</a:t>
            </a:r>
            <a:r>
              <a:rPr lang="en-US" i="1" dirty="0" smtClean="0"/>
              <a:t>, cont’d</a:t>
            </a:r>
            <a:endParaRPr lang="en-US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F0376-0E54-9843-B673-E00D6670E830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365806" y="1179932"/>
            <a:ext cx="7572506" cy="5632311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Courier New"/>
                <a:cs typeface="Courier New"/>
              </a:rPr>
              <a:t>&lt;body&gt;</a:t>
            </a:r>
          </a:p>
          <a:p>
            <a:r>
              <a:rPr lang="en-US" sz="2000" b="1" dirty="0">
                <a:latin typeface="Courier New"/>
                <a:cs typeface="Courier New"/>
              </a:rPr>
              <a:t>    &lt;h1 class="</a:t>
            </a:r>
            <a:r>
              <a:rPr lang="en-US" sz="2000" b="1" dirty="0" err="1">
                <a:latin typeface="Courier New"/>
                <a:cs typeface="Courier New"/>
              </a:rPr>
              <a:t>ui</a:t>
            </a:r>
            <a:r>
              <a:rPr lang="en-US" sz="2000" b="1" dirty="0">
                <a:latin typeface="Courier New"/>
                <a:cs typeface="Courier New"/>
              </a:rPr>
              <a:t>-state-default"&gt;Tabs Demo&lt;/h1&gt;</a:t>
            </a:r>
          </a:p>
          <a:p>
            <a:r>
              <a:rPr lang="en-US" sz="2000" b="1" dirty="0">
                <a:latin typeface="Courier New"/>
                <a:cs typeface="Courier New"/>
              </a:rPr>
              <a:t>    &lt;div id="</a:t>
            </a:r>
            <a:r>
              <a:rPr lang="en-US" sz="2000" b="1" dirty="0">
                <a:solidFill>
                  <a:srgbClr val="B23C00"/>
                </a:solidFill>
                <a:latin typeface="Courier New"/>
                <a:cs typeface="Courier New"/>
              </a:rPr>
              <a:t>tabs</a:t>
            </a:r>
            <a:r>
              <a:rPr lang="en-US" sz="2000" b="1" dirty="0">
                <a:latin typeface="Courier New"/>
                <a:cs typeface="Courier New"/>
              </a:rPr>
              <a:t>"&gt;</a:t>
            </a:r>
          </a:p>
          <a:p>
            <a:r>
              <a:rPr lang="en-US" sz="2000" b="1" dirty="0">
                <a:latin typeface="Courier New"/>
                <a:cs typeface="Courier New"/>
              </a:rPr>
              <a:t>        &lt;</a:t>
            </a:r>
            <a:r>
              <a:rPr lang="en-US" sz="2000" b="1" dirty="0" err="1">
                <a:latin typeface="Courier New"/>
                <a:cs typeface="Courier New"/>
              </a:rPr>
              <a:t>ul</a:t>
            </a:r>
            <a:r>
              <a:rPr lang="en-US" sz="2000" b="1" dirty="0">
                <a:latin typeface="Courier New"/>
                <a:cs typeface="Courier New"/>
              </a:rPr>
              <a:t>&gt;</a:t>
            </a:r>
          </a:p>
          <a:p>
            <a:r>
              <a:rPr lang="is-IS" sz="2000" b="1" dirty="0">
                <a:latin typeface="Courier New"/>
                <a:cs typeface="Courier New"/>
              </a:rPr>
              <a:t>            &lt;li&gt;&lt;a href="</a:t>
            </a:r>
            <a:r>
              <a:rPr lang="is-IS" sz="2000" b="1" dirty="0">
                <a:solidFill>
                  <a:srgbClr val="B23C00"/>
                </a:solidFill>
                <a:latin typeface="Courier New"/>
                <a:cs typeface="Courier New"/>
              </a:rPr>
              <a:t>#CS149</a:t>
            </a:r>
            <a:r>
              <a:rPr lang="is-IS" sz="2000" b="1" dirty="0">
                <a:latin typeface="Courier New"/>
                <a:cs typeface="Courier New"/>
              </a:rPr>
              <a:t>"&gt;CS 149&lt;/a&gt;&lt;/li&gt;</a:t>
            </a:r>
          </a:p>
          <a:p>
            <a:r>
              <a:rPr lang="is-IS" sz="2000" b="1" dirty="0">
                <a:latin typeface="Courier New"/>
                <a:cs typeface="Courier New"/>
              </a:rPr>
              <a:t>            &lt;li&gt;&lt;a href="</a:t>
            </a:r>
            <a:r>
              <a:rPr lang="is-IS" sz="2000" b="1" dirty="0">
                <a:solidFill>
                  <a:srgbClr val="B23C00"/>
                </a:solidFill>
                <a:latin typeface="Courier New"/>
                <a:cs typeface="Courier New"/>
              </a:rPr>
              <a:t>#CS153</a:t>
            </a:r>
            <a:r>
              <a:rPr lang="is-IS" sz="2000" b="1" dirty="0">
                <a:latin typeface="Courier New"/>
                <a:cs typeface="Courier New"/>
              </a:rPr>
              <a:t>"&gt;CS 153&lt;/a&gt;&lt;/li&gt;</a:t>
            </a:r>
          </a:p>
          <a:p>
            <a:r>
              <a:rPr lang="is-IS" sz="2000" b="1" dirty="0">
                <a:latin typeface="Courier New"/>
                <a:cs typeface="Courier New"/>
              </a:rPr>
              <a:t>            &lt;li&gt;&lt;a href="</a:t>
            </a:r>
            <a:r>
              <a:rPr lang="is-IS" sz="2000" b="1" dirty="0">
                <a:solidFill>
                  <a:srgbClr val="B23C00"/>
                </a:solidFill>
                <a:latin typeface="Courier New"/>
                <a:cs typeface="Courier New"/>
              </a:rPr>
              <a:t>#CS174</a:t>
            </a:r>
            <a:r>
              <a:rPr lang="is-IS" sz="2000" b="1" dirty="0">
                <a:latin typeface="Courier New"/>
                <a:cs typeface="Courier New"/>
              </a:rPr>
              <a:t>"&gt;CS 174&lt;/a&gt;&lt;/li&gt;</a:t>
            </a:r>
          </a:p>
          <a:p>
            <a:r>
              <a:rPr lang="is-IS" sz="2000" b="1" dirty="0">
                <a:latin typeface="Courier New"/>
                <a:cs typeface="Courier New"/>
              </a:rPr>
              <a:t>            &lt;li&gt;&lt;a href="</a:t>
            </a:r>
            <a:r>
              <a:rPr lang="is-IS" sz="2000" b="1" dirty="0">
                <a:solidFill>
                  <a:srgbClr val="B23C00"/>
                </a:solidFill>
                <a:latin typeface="Courier New"/>
                <a:cs typeface="Courier New"/>
              </a:rPr>
              <a:t>#CS235</a:t>
            </a:r>
            <a:r>
              <a:rPr lang="is-IS" sz="2000" b="1" dirty="0">
                <a:latin typeface="Courier New"/>
                <a:cs typeface="Courier New"/>
              </a:rPr>
              <a:t>"&gt;CS 235&lt;/a&gt;&lt;/li&gt;</a:t>
            </a:r>
          </a:p>
          <a:p>
            <a:r>
              <a:rPr lang="is-IS" sz="2000" b="1" dirty="0">
                <a:latin typeface="Courier New"/>
                <a:cs typeface="Courier New"/>
              </a:rPr>
              <a:t>        &lt;/ul&gt;</a:t>
            </a:r>
          </a:p>
          <a:p>
            <a:r>
              <a:rPr lang="is-IS" sz="2000" b="1" dirty="0">
                <a:latin typeface="Courier New"/>
                <a:cs typeface="Courier New"/>
              </a:rPr>
              <a:t>        &lt;div id="</a:t>
            </a:r>
            <a:r>
              <a:rPr lang="is-IS" sz="2000" b="1" dirty="0">
                <a:solidFill>
                  <a:srgbClr val="B23C00"/>
                </a:solidFill>
                <a:latin typeface="Courier New"/>
                <a:cs typeface="Courier New"/>
              </a:rPr>
              <a:t>CS149</a:t>
            </a:r>
            <a:r>
              <a:rPr lang="is-IS" sz="2000" b="1" dirty="0">
                <a:latin typeface="Courier New"/>
                <a:cs typeface="Courier New"/>
              </a:rPr>
              <a:t>"</a:t>
            </a:r>
            <a:r>
              <a:rPr lang="is-IS" sz="2000" b="1" dirty="0" smtClean="0">
                <a:latin typeface="Courier New"/>
                <a:cs typeface="Courier New"/>
              </a:rPr>
              <a:t>&gt;</a:t>
            </a:r>
          </a:p>
          <a:p>
            <a:r>
              <a:rPr lang="is-IS" sz="2000" b="1" dirty="0">
                <a:latin typeface="Courier New"/>
                <a:cs typeface="Courier New"/>
              </a:rPr>
              <a:t> </a:t>
            </a:r>
            <a:r>
              <a:rPr lang="is-IS" sz="2000" b="1" dirty="0" smtClean="0">
                <a:latin typeface="Courier New"/>
                <a:cs typeface="Courier New"/>
              </a:rPr>
              <a:t>           ...</a:t>
            </a:r>
          </a:p>
          <a:p>
            <a:r>
              <a:rPr lang="is-IS" sz="2000" b="1" dirty="0">
                <a:latin typeface="Courier New"/>
                <a:cs typeface="Courier New"/>
              </a:rPr>
              <a:t> </a:t>
            </a:r>
            <a:r>
              <a:rPr lang="is-IS" sz="2000" b="1" dirty="0" smtClean="0">
                <a:latin typeface="Courier New"/>
                <a:cs typeface="Courier New"/>
              </a:rPr>
              <a:t>       &lt;/div&gt;</a:t>
            </a:r>
          </a:p>
          <a:p>
            <a:r>
              <a:rPr lang="is-IS" sz="2000" b="1" dirty="0" smtClean="0">
                <a:latin typeface="Courier New"/>
                <a:cs typeface="Courier New"/>
              </a:rPr>
              <a:t>        &lt;</a:t>
            </a:r>
            <a:r>
              <a:rPr lang="is-IS" sz="2000" b="1" dirty="0">
                <a:latin typeface="Courier New"/>
                <a:cs typeface="Courier New"/>
              </a:rPr>
              <a:t>div id="</a:t>
            </a:r>
            <a:r>
              <a:rPr lang="is-IS" sz="2000" b="1" dirty="0" smtClean="0">
                <a:solidFill>
                  <a:srgbClr val="B23C00"/>
                </a:solidFill>
                <a:latin typeface="Courier New"/>
                <a:cs typeface="Courier New"/>
              </a:rPr>
              <a:t>CS153</a:t>
            </a:r>
            <a:r>
              <a:rPr lang="is-IS" sz="2000" b="1" dirty="0" smtClean="0">
                <a:latin typeface="Courier New"/>
                <a:cs typeface="Courier New"/>
              </a:rPr>
              <a:t>"</a:t>
            </a:r>
            <a:r>
              <a:rPr lang="is-IS" sz="2000" b="1" dirty="0">
                <a:latin typeface="Courier New"/>
                <a:cs typeface="Courier New"/>
              </a:rPr>
              <a:t>&gt;</a:t>
            </a:r>
          </a:p>
          <a:p>
            <a:r>
              <a:rPr lang="is-IS" sz="2000" b="1" dirty="0">
                <a:latin typeface="Courier New"/>
                <a:cs typeface="Courier New"/>
              </a:rPr>
              <a:t>            ...</a:t>
            </a:r>
          </a:p>
          <a:p>
            <a:r>
              <a:rPr lang="is-IS" sz="2000" b="1" dirty="0">
                <a:latin typeface="Courier New"/>
                <a:cs typeface="Courier New"/>
              </a:rPr>
              <a:t>        &lt;/div</a:t>
            </a:r>
            <a:r>
              <a:rPr lang="is-IS" sz="2000" b="1" dirty="0" smtClean="0">
                <a:latin typeface="Courier New"/>
                <a:cs typeface="Courier New"/>
              </a:rPr>
              <a:t>&gt;</a:t>
            </a:r>
          </a:p>
          <a:p>
            <a:r>
              <a:rPr lang="is-IS" sz="2000" b="1" dirty="0">
                <a:latin typeface="Courier New"/>
                <a:cs typeface="Courier New"/>
              </a:rPr>
              <a:t> </a:t>
            </a:r>
            <a:r>
              <a:rPr lang="is-IS" sz="2000" b="1" dirty="0" smtClean="0">
                <a:latin typeface="Courier New"/>
                <a:cs typeface="Courier New"/>
              </a:rPr>
              <a:t>       ...</a:t>
            </a:r>
          </a:p>
          <a:p>
            <a:r>
              <a:rPr lang="is-IS" sz="2000" b="1" dirty="0">
                <a:latin typeface="Courier New"/>
                <a:cs typeface="Courier New"/>
              </a:rPr>
              <a:t> </a:t>
            </a:r>
            <a:r>
              <a:rPr lang="is-IS" sz="2000" b="1" dirty="0" smtClean="0">
                <a:latin typeface="Courier New"/>
                <a:cs typeface="Courier New"/>
              </a:rPr>
              <a:t>   &lt;/div&gt;</a:t>
            </a:r>
          </a:p>
          <a:p>
            <a:r>
              <a:rPr lang="is-IS" sz="2000" b="1" dirty="0" smtClean="0">
                <a:latin typeface="Courier New"/>
                <a:cs typeface="Courier New"/>
              </a:rPr>
              <a:t>&lt;/body&gt;</a:t>
            </a:r>
            <a:endParaRPr lang="is-IS" sz="2000" b="1" dirty="0">
              <a:latin typeface="Courier New"/>
              <a:cs typeface="Courier New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663439" y="3977634"/>
            <a:ext cx="3570759" cy="1938992"/>
          </a:xfrm>
          <a:prstGeom prst="rect">
            <a:avLst/>
          </a:prstGeom>
          <a:solidFill>
            <a:srgbClr val="E2EAFF"/>
          </a:solidFill>
          <a:ln>
            <a:solidFill>
              <a:srgbClr val="0033CC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Courier New"/>
                <a:cs typeface="Courier New"/>
              </a:rPr>
              <a:t>$(</a:t>
            </a:r>
            <a:r>
              <a:rPr lang="en-US" sz="2000" b="1" dirty="0" err="1">
                <a:latin typeface="Courier New"/>
                <a:cs typeface="Courier New"/>
              </a:rPr>
              <a:t>init</a:t>
            </a:r>
            <a:r>
              <a:rPr lang="en-US" sz="2000" b="1" dirty="0">
                <a:latin typeface="Courier New"/>
                <a:cs typeface="Courier New"/>
              </a:rPr>
              <a:t>);</a:t>
            </a:r>
          </a:p>
          <a:p>
            <a:endParaRPr lang="en-US" sz="2000" b="1" dirty="0">
              <a:latin typeface="Courier New"/>
              <a:cs typeface="Courier New"/>
            </a:endParaRPr>
          </a:p>
          <a:p>
            <a:r>
              <a:rPr lang="en-US" sz="2000" b="1" dirty="0">
                <a:latin typeface="Courier New"/>
                <a:cs typeface="Courier New"/>
              </a:rPr>
              <a:t>function </a:t>
            </a:r>
            <a:r>
              <a:rPr lang="en-US" sz="2000" b="1" dirty="0" err="1">
                <a:latin typeface="Courier New"/>
                <a:cs typeface="Courier New"/>
              </a:rPr>
              <a:t>init</a:t>
            </a:r>
            <a:r>
              <a:rPr lang="en-US" sz="2000" b="1" dirty="0">
                <a:latin typeface="Courier New"/>
                <a:cs typeface="Courier New"/>
              </a:rPr>
              <a:t>()</a:t>
            </a:r>
          </a:p>
          <a:p>
            <a:r>
              <a:rPr lang="en-US" sz="2000" b="1" dirty="0">
                <a:latin typeface="Courier New"/>
                <a:cs typeface="Courier New"/>
              </a:rPr>
              <a:t>{</a:t>
            </a:r>
          </a:p>
          <a:p>
            <a:r>
              <a:rPr lang="en-US" sz="2000" b="1" dirty="0">
                <a:latin typeface="Courier New"/>
                <a:cs typeface="Courier New"/>
              </a:rPr>
              <a:t> </a:t>
            </a:r>
            <a:r>
              <a:rPr lang="en-US" sz="2000" b="1" dirty="0" smtClean="0">
                <a:latin typeface="Courier New"/>
                <a:cs typeface="Courier New"/>
              </a:rPr>
              <a:t>   $</a:t>
            </a:r>
            <a:r>
              <a:rPr lang="en-US" sz="2000" b="1" dirty="0">
                <a:latin typeface="Courier New"/>
                <a:cs typeface="Courier New"/>
              </a:rPr>
              <a:t>("#tabs").</a:t>
            </a:r>
            <a:r>
              <a:rPr lang="en-US" sz="2000" b="1" dirty="0">
                <a:solidFill>
                  <a:srgbClr val="B23C00"/>
                </a:solidFill>
                <a:latin typeface="Courier New"/>
                <a:cs typeface="Courier New"/>
              </a:rPr>
              <a:t>tabs()</a:t>
            </a:r>
            <a:r>
              <a:rPr lang="en-US" sz="2000" b="1" dirty="0">
                <a:latin typeface="Courier New"/>
                <a:cs typeface="Courier New"/>
              </a:rPr>
              <a:t>;</a:t>
            </a:r>
          </a:p>
          <a:p>
            <a:r>
              <a:rPr lang="en-US" sz="2000" b="1" dirty="0">
                <a:latin typeface="Courier New"/>
                <a:cs typeface="Courier New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53" y="1170227"/>
            <a:ext cx="1017125" cy="338554"/>
          </a:xfrm>
          <a:prstGeom prst="rect">
            <a:avLst/>
          </a:prstGeom>
          <a:solidFill>
            <a:srgbClr val="0033CC"/>
          </a:solidFill>
        </p:spPr>
        <p:txBody>
          <a:bodyPr wrap="none" rtlCol="0">
            <a:spAutoFit/>
          </a:bodyPr>
          <a:lstStyle/>
          <a:p>
            <a:r>
              <a:rPr lang="en-US" dirty="0" err="1" smtClean="0">
                <a:solidFill>
                  <a:srgbClr val="FFFF00"/>
                </a:solidFill>
              </a:rPr>
              <a:t>tabs.html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80926" y="4069073"/>
            <a:ext cx="777677" cy="338554"/>
          </a:xfrm>
          <a:prstGeom prst="rect">
            <a:avLst/>
          </a:prstGeom>
          <a:solidFill>
            <a:srgbClr val="0033CC"/>
          </a:solidFill>
        </p:spPr>
        <p:txBody>
          <a:bodyPr wrap="none" rtlCol="0">
            <a:spAutoFit/>
          </a:bodyPr>
          <a:lstStyle/>
          <a:p>
            <a:r>
              <a:rPr lang="en-US" dirty="0" err="1" smtClean="0">
                <a:solidFill>
                  <a:srgbClr val="FFFF00"/>
                </a:solidFill>
              </a:rPr>
              <a:t>tabs.js</a:t>
            </a:r>
            <a:endParaRPr lang="en-US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7394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AJAX Tabs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Use AJAX to obtain the contents of a tab.</a:t>
            </a:r>
          </a:p>
          <a:p>
            <a:pPr lvl="5"/>
            <a:endParaRPr lang="en-US" dirty="0" smtClean="0"/>
          </a:p>
          <a:p>
            <a:r>
              <a:rPr lang="en-US" dirty="0" smtClean="0"/>
              <a:t>Specify the file to be loaded from the server </a:t>
            </a:r>
            <a:br>
              <a:rPr lang="en-US" dirty="0" smtClean="0"/>
            </a:br>
            <a:r>
              <a:rPr lang="en-US" dirty="0" smtClean="0"/>
              <a:t>as a link in the corresponding item in the </a:t>
            </a:r>
            <a:br>
              <a:rPr lang="en-US" dirty="0" smtClean="0"/>
            </a:br>
            <a:r>
              <a:rPr lang="en-US" dirty="0" smtClean="0"/>
              <a:t>tabs directory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F0376-0E54-9843-B673-E00D6670E830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02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AJAX </a:t>
            </a:r>
            <a:r>
              <a:rPr lang="en-US" dirty="0" smtClean="0"/>
              <a:t>Tabs</a:t>
            </a:r>
            <a:r>
              <a:rPr lang="en-US" i="1" dirty="0" smtClean="0"/>
              <a:t>, cont’d</a:t>
            </a:r>
            <a:endParaRPr lang="en-US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F0376-0E54-9843-B673-E00D6670E830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65806" y="1417342"/>
            <a:ext cx="8495986" cy="31393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BFBFBF"/>
            </a:solidFill>
          </a:ln>
        </p:spPr>
        <p:txBody>
          <a:bodyPr wrap="none" rtlCol="0">
            <a:spAutoFit/>
          </a:bodyPr>
          <a:lstStyle/>
          <a:p>
            <a:r>
              <a:rPr lang="en-US" sz="1800" b="1" dirty="0">
                <a:latin typeface="Courier New"/>
                <a:cs typeface="Courier New"/>
              </a:rPr>
              <a:t>&lt;body&gt;</a:t>
            </a:r>
          </a:p>
          <a:p>
            <a:r>
              <a:rPr lang="en-US" sz="1800" b="1" dirty="0">
                <a:latin typeface="Courier New"/>
                <a:cs typeface="Courier New"/>
              </a:rPr>
              <a:t>    &lt;h1 class="</a:t>
            </a:r>
            <a:r>
              <a:rPr lang="en-US" sz="1800" b="1" dirty="0" err="1">
                <a:latin typeface="Courier New"/>
                <a:cs typeface="Courier New"/>
              </a:rPr>
              <a:t>ui</a:t>
            </a:r>
            <a:r>
              <a:rPr lang="en-US" sz="1800" b="1" dirty="0">
                <a:latin typeface="Courier New"/>
                <a:cs typeface="Courier New"/>
              </a:rPr>
              <a:t>-state-default"&gt;AJAX Tabs Demo&lt;/h1&gt;</a:t>
            </a:r>
          </a:p>
          <a:p>
            <a:r>
              <a:rPr lang="en-US" sz="1800" b="1" dirty="0">
                <a:latin typeface="Courier New"/>
                <a:cs typeface="Courier New"/>
              </a:rPr>
              <a:t>    &lt;div id="</a:t>
            </a:r>
            <a:r>
              <a:rPr lang="en-US" sz="1800" b="1" dirty="0">
                <a:solidFill>
                  <a:srgbClr val="B23C00"/>
                </a:solidFill>
                <a:latin typeface="Courier New"/>
                <a:cs typeface="Courier New"/>
              </a:rPr>
              <a:t>tabs</a:t>
            </a:r>
            <a:r>
              <a:rPr lang="en-US" sz="1800" b="1" dirty="0">
                <a:latin typeface="Courier New"/>
                <a:cs typeface="Courier New"/>
              </a:rPr>
              <a:t>"&gt;</a:t>
            </a:r>
          </a:p>
          <a:p>
            <a:r>
              <a:rPr lang="en-US" sz="1800" b="1" dirty="0">
                <a:latin typeface="Courier New"/>
                <a:cs typeface="Courier New"/>
              </a:rPr>
              <a:t>        &lt;</a:t>
            </a:r>
            <a:r>
              <a:rPr lang="en-US" sz="1800" b="1" dirty="0" err="1">
                <a:latin typeface="Courier New"/>
                <a:cs typeface="Courier New"/>
              </a:rPr>
              <a:t>ul</a:t>
            </a:r>
            <a:r>
              <a:rPr lang="en-US" sz="1800" b="1" dirty="0">
                <a:latin typeface="Courier New"/>
                <a:cs typeface="Courier New"/>
              </a:rPr>
              <a:t>&gt;</a:t>
            </a:r>
          </a:p>
          <a:p>
            <a:r>
              <a:rPr lang="fr-FR" sz="1800" b="1" dirty="0">
                <a:latin typeface="Courier New"/>
                <a:cs typeface="Courier New"/>
              </a:rPr>
              <a:t>            &lt;li&gt;&lt;a </a:t>
            </a:r>
            <a:r>
              <a:rPr lang="fr-FR" sz="1800" b="1" dirty="0" err="1">
                <a:latin typeface="Courier New"/>
                <a:cs typeface="Courier New"/>
              </a:rPr>
              <a:t>href</a:t>
            </a:r>
            <a:r>
              <a:rPr lang="fr-FR" sz="1800" b="1" dirty="0">
                <a:latin typeface="Courier New"/>
                <a:cs typeface="Courier New"/>
              </a:rPr>
              <a:t>="</a:t>
            </a:r>
            <a:r>
              <a:rPr lang="fr-FR" sz="1800" b="1" dirty="0">
                <a:solidFill>
                  <a:srgbClr val="B23C00"/>
                </a:solidFill>
                <a:latin typeface="Courier New"/>
                <a:cs typeface="Courier New"/>
              </a:rPr>
              <a:t>courses/CS149.html</a:t>
            </a:r>
            <a:r>
              <a:rPr lang="fr-FR" sz="1800" b="1" dirty="0">
                <a:latin typeface="Courier New"/>
                <a:cs typeface="Courier New"/>
              </a:rPr>
              <a:t>"&gt;CS 149&lt;/a&gt;&lt;/li&gt;</a:t>
            </a:r>
          </a:p>
          <a:p>
            <a:r>
              <a:rPr lang="fr-FR" sz="1800" b="1" dirty="0">
                <a:latin typeface="Courier New"/>
                <a:cs typeface="Courier New"/>
              </a:rPr>
              <a:t>            &lt;li&gt;&lt;a </a:t>
            </a:r>
            <a:r>
              <a:rPr lang="fr-FR" sz="1800" b="1" dirty="0" err="1">
                <a:latin typeface="Courier New"/>
                <a:cs typeface="Courier New"/>
              </a:rPr>
              <a:t>href</a:t>
            </a:r>
            <a:r>
              <a:rPr lang="fr-FR" sz="1800" b="1" dirty="0">
                <a:latin typeface="Courier New"/>
                <a:cs typeface="Courier New"/>
              </a:rPr>
              <a:t>="</a:t>
            </a:r>
            <a:r>
              <a:rPr lang="fr-FR" sz="1800" b="1" dirty="0">
                <a:solidFill>
                  <a:srgbClr val="B23C00"/>
                </a:solidFill>
                <a:latin typeface="Courier New"/>
                <a:cs typeface="Courier New"/>
              </a:rPr>
              <a:t>courses/CS153.html</a:t>
            </a:r>
            <a:r>
              <a:rPr lang="fr-FR" sz="1800" b="1" dirty="0">
                <a:latin typeface="Courier New"/>
                <a:cs typeface="Courier New"/>
              </a:rPr>
              <a:t>"&gt;CS 153&lt;/a&gt;&lt;/li&gt;</a:t>
            </a:r>
          </a:p>
          <a:p>
            <a:r>
              <a:rPr lang="fr-FR" sz="1800" b="1" dirty="0">
                <a:latin typeface="Courier New"/>
                <a:cs typeface="Courier New"/>
              </a:rPr>
              <a:t>            &lt;li&gt;&lt;a </a:t>
            </a:r>
            <a:r>
              <a:rPr lang="fr-FR" sz="1800" b="1" dirty="0" err="1">
                <a:latin typeface="Courier New"/>
                <a:cs typeface="Courier New"/>
              </a:rPr>
              <a:t>href</a:t>
            </a:r>
            <a:r>
              <a:rPr lang="fr-FR" sz="1800" b="1" dirty="0">
                <a:latin typeface="Courier New"/>
                <a:cs typeface="Courier New"/>
              </a:rPr>
              <a:t>="</a:t>
            </a:r>
            <a:r>
              <a:rPr lang="fr-FR" sz="1800" b="1" dirty="0">
                <a:solidFill>
                  <a:srgbClr val="B23C00"/>
                </a:solidFill>
                <a:latin typeface="Courier New"/>
                <a:cs typeface="Courier New"/>
              </a:rPr>
              <a:t>courses/CS174.html</a:t>
            </a:r>
            <a:r>
              <a:rPr lang="fr-FR" sz="1800" b="1" dirty="0">
                <a:latin typeface="Courier New"/>
                <a:cs typeface="Courier New"/>
              </a:rPr>
              <a:t>"&gt;CS 174&lt;/a&gt;&lt;/li&gt;</a:t>
            </a:r>
          </a:p>
          <a:p>
            <a:r>
              <a:rPr lang="fr-FR" sz="1800" b="1" dirty="0">
                <a:latin typeface="Courier New"/>
                <a:cs typeface="Courier New"/>
              </a:rPr>
              <a:t>            &lt;li&gt;&lt;a </a:t>
            </a:r>
            <a:r>
              <a:rPr lang="fr-FR" sz="1800" b="1" dirty="0" err="1">
                <a:latin typeface="Courier New"/>
                <a:cs typeface="Courier New"/>
              </a:rPr>
              <a:t>href</a:t>
            </a:r>
            <a:r>
              <a:rPr lang="fr-FR" sz="1800" b="1" dirty="0">
                <a:latin typeface="Courier New"/>
                <a:cs typeface="Courier New"/>
              </a:rPr>
              <a:t>="</a:t>
            </a:r>
            <a:r>
              <a:rPr lang="fr-FR" sz="1800" b="1" dirty="0">
                <a:solidFill>
                  <a:srgbClr val="B23C00"/>
                </a:solidFill>
                <a:latin typeface="Courier New"/>
                <a:cs typeface="Courier New"/>
              </a:rPr>
              <a:t>courses/CS235.html</a:t>
            </a:r>
            <a:r>
              <a:rPr lang="fr-FR" sz="1800" b="1" dirty="0">
                <a:latin typeface="Courier New"/>
                <a:cs typeface="Courier New"/>
              </a:rPr>
              <a:t>"&gt;CS 235&lt;/a&gt;&lt;/li&gt;</a:t>
            </a:r>
          </a:p>
          <a:p>
            <a:r>
              <a:rPr lang="fr-FR" sz="1800" b="1" dirty="0">
                <a:latin typeface="Courier New"/>
                <a:cs typeface="Courier New"/>
              </a:rPr>
              <a:t>        &lt;/</a:t>
            </a:r>
            <a:r>
              <a:rPr lang="fr-FR" sz="1800" b="1" dirty="0" err="1">
                <a:latin typeface="Courier New"/>
                <a:cs typeface="Courier New"/>
              </a:rPr>
              <a:t>ul</a:t>
            </a:r>
            <a:r>
              <a:rPr lang="fr-FR" sz="1800" b="1" dirty="0">
                <a:latin typeface="Courier New"/>
                <a:cs typeface="Courier New"/>
              </a:rPr>
              <a:t>&gt;</a:t>
            </a:r>
          </a:p>
          <a:p>
            <a:r>
              <a:rPr lang="fr-FR" sz="1800" b="1" dirty="0">
                <a:latin typeface="Courier New"/>
                <a:cs typeface="Courier New"/>
              </a:rPr>
              <a:t>    &lt;/div&gt;</a:t>
            </a:r>
          </a:p>
          <a:p>
            <a:r>
              <a:rPr lang="fr-FR" sz="1800" b="1" dirty="0">
                <a:latin typeface="Courier New"/>
                <a:cs typeface="Courier New"/>
              </a:rPr>
              <a:t>&lt;/body&gt;</a:t>
            </a:r>
            <a:endParaRPr lang="en-US" sz="1800" b="1" dirty="0">
              <a:latin typeface="Courier New"/>
              <a:cs typeface="Courier New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590116" y="1325903"/>
            <a:ext cx="1393531" cy="338554"/>
          </a:xfrm>
          <a:prstGeom prst="rect">
            <a:avLst/>
          </a:prstGeom>
          <a:solidFill>
            <a:srgbClr val="0033CC"/>
          </a:solidFill>
        </p:spPr>
        <p:txBody>
          <a:bodyPr wrap="none" rtlCol="0">
            <a:spAutoFit/>
          </a:bodyPr>
          <a:lstStyle/>
          <a:p>
            <a:r>
              <a:rPr lang="en-US" dirty="0" err="1" smtClean="0">
                <a:solidFill>
                  <a:srgbClr val="FFFF00"/>
                </a:solidFill>
              </a:rPr>
              <a:t>ajaxtabs.html</a:t>
            </a:r>
            <a:endParaRPr lang="en-US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2368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Date Picker Widget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F0376-0E54-9843-B673-E00D6670E830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737390" y="5131987"/>
            <a:ext cx="5852097" cy="4001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Courier New"/>
                <a:cs typeface="Courier New"/>
              </a:rPr>
              <a:t>&lt;</a:t>
            </a:r>
            <a:r>
              <a:rPr lang="en-US" sz="2000" b="1" dirty="0">
                <a:latin typeface="Courier New"/>
                <a:cs typeface="Courier New"/>
              </a:rPr>
              <a:t>input type="text" id="</a:t>
            </a:r>
            <a:r>
              <a:rPr lang="en-US" sz="2000" b="1" dirty="0" err="1">
                <a:latin typeface="Courier New"/>
                <a:cs typeface="Courier New"/>
              </a:rPr>
              <a:t>datePicker</a:t>
            </a:r>
            <a:r>
              <a:rPr lang="en-US" sz="2000" b="1" dirty="0">
                <a:latin typeface="Courier New"/>
                <a:cs typeface="Courier New"/>
              </a:rPr>
              <a:t>" /</a:t>
            </a:r>
            <a:r>
              <a:rPr lang="en-US" sz="2000" b="1" dirty="0" smtClean="0">
                <a:latin typeface="Courier New"/>
                <a:cs typeface="Courier New"/>
              </a:rPr>
              <a:t>&gt;</a:t>
            </a:r>
            <a:endParaRPr lang="en-US" sz="2000" b="1" dirty="0">
              <a:latin typeface="Courier New"/>
              <a:cs typeface="Courier New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737391" y="5714975"/>
            <a:ext cx="4802066" cy="400110"/>
          </a:xfrm>
          <a:prstGeom prst="rect">
            <a:avLst/>
          </a:prstGeom>
          <a:solidFill>
            <a:srgbClr val="E2EAFF"/>
          </a:solidFill>
          <a:ln>
            <a:solidFill>
              <a:srgbClr val="0033CC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Courier New"/>
                <a:cs typeface="Courier New"/>
              </a:rPr>
              <a:t>$("#</a:t>
            </a:r>
            <a:r>
              <a:rPr lang="en-US" sz="2000" b="1" dirty="0" err="1">
                <a:latin typeface="Courier New"/>
                <a:cs typeface="Courier New"/>
              </a:rPr>
              <a:t>datePicker</a:t>
            </a:r>
            <a:r>
              <a:rPr lang="en-US" sz="2000" b="1" dirty="0">
                <a:latin typeface="Courier New"/>
                <a:cs typeface="Courier New"/>
              </a:rPr>
              <a:t>").</a:t>
            </a:r>
            <a:r>
              <a:rPr lang="en-US" sz="2000" b="1" dirty="0" err="1">
                <a:latin typeface="Courier New"/>
                <a:cs typeface="Courier New"/>
              </a:rPr>
              <a:t>datepicker</a:t>
            </a:r>
            <a:r>
              <a:rPr lang="en-US" sz="2000" b="1" dirty="0">
                <a:latin typeface="Courier New"/>
                <a:cs typeface="Courier New"/>
              </a:rPr>
              <a:t>()</a:t>
            </a:r>
            <a:r>
              <a:rPr lang="en-US" sz="2000" b="1" dirty="0" smtClean="0">
                <a:latin typeface="Courier New"/>
                <a:cs typeface="Courier New"/>
              </a:rPr>
              <a:t>;</a:t>
            </a:r>
            <a:endParaRPr lang="en-US" sz="2000" b="1" dirty="0">
              <a:latin typeface="Courier New"/>
              <a:cs typeface="Courier New"/>
            </a:endParaRPr>
          </a:p>
        </p:txBody>
      </p:sp>
      <p:pic>
        <p:nvPicPr>
          <p:cNvPr id="8" name="Picture 7" descr="Screen Shot 2015-04-12 at 11.00.21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8903" y="1325903"/>
            <a:ext cx="4229100" cy="377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763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Slider Widget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F0376-0E54-9843-B673-E00D6670E830}" type="slidenum">
              <a:rPr lang="en-US" smtClean="0"/>
              <a:pPr/>
              <a:t>42</a:t>
            </a:fld>
            <a:endParaRPr lang="en-US"/>
          </a:p>
        </p:txBody>
      </p:sp>
      <p:pic>
        <p:nvPicPr>
          <p:cNvPr id="5" name="Picture 4" descr="Screen Shot 2015-04-12 at 11.01.22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572" y="1361454"/>
            <a:ext cx="8826500" cy="787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5359" y="2355358"/>
            <a:ext cx="4648153" cy="7078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Courier New"/>
                <a:cs typeface="Courier New"/>
              </a:rPr>
              <a:t>&lt;div id="slider"&gt;&lt;/div&gt;</a:t>
            </a:r>
          </a:p>
          <a:p>
            <a:r>
              <a:rPr lang="en-US" sz="2000" b="1" dirty="0">
                <a:latin typeface="Courier New"/>
                <a:cs typeface="Courier New"/>
              </a:rPr>
              <a:t>&lt;div id="</a:t>
            </a:r>
            <a:r>
              <a:rPr lang="en-US" sz="2000" b="1" dirty="0" err="1">
                <a:latin typeface="Courier New"/>
                <a:cs typeface="Courier New"/>
              </a:rPr>
              <a:t>slideOutput</a:t>
            </a:r>
            <a:r>
              <a:rPr lang="en-US" sz="2000" b="1" dirty="0">
                <a:latin typeface="Courier New"/>
                <a:cs typeface="Courier New"/>
              </a:rPr>
              <a:t>"&gt;0&lt;/div</a:t>
            </a:r>
            <a:r>
              <a:rPr lang="en-US" sz="2000" b="1" dirty="0" smtClean="0">
                <a:latin typeface="Courier New"/>
                <a:cs typeface="Courier New"/>
              </a:rPr>
              <a:t>&gt;</a:t>
            </a:r>
            <a:endParaRPr lang="en-US" sz="2000" b="1" dirty="0">
              <a:latin typeface="Courier New"/>
              <a:cs typeface="Courier New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50875" y="3246122"/>
            <a:ext cx="7880332" cy="2862322"/>
          </a:xfrm>
          <a:prstGeom prst="rect">
            <a:avLst/>
          </a:prstGeom>
          <a:solidFill>
            <a:srgbClr val="E2EAFF"/>
          </a:solidFill>
          <a:ln>
            <a:solidFill>
              <a:srgbClr val="0033CC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Courier New"/>
                <a:cs typeface="Courier New"/>
              </a:rPr>
              <a:t>$("#slider").slider().bind("slide", </a:t>
            </a:r>
            <a:r>
              <a:rPr lang="en-US" sz="2000" b="1" dirty="0" err="1">
                <a:latin typeface="Courier New"/>
                <a:cs typeface="Courier New"/>
              </a:rPr>
              <a:t>reportSlider</a:t>
            </a:r>
            <a:r>
              <a:rPr lang="en-US" sz="2000" b="1" dirty="0">
                <a:latin typeface="Courier New"/>
                <a:cs typeface="Courier New"/>
              </a:rPr>
              <a:t>)</a:t>
            </a:r>
            <a:r>
              <a:rPr lang="en-US" sz="2000" b="1" dirty="0" smtClean="0">
                <a:latin typeface="Courier New"/>
                <a:cs typeface="Courier New"/>
              </a:rPr>
              <a:t>;</a:t>
            </a:r>
          </a:p>
          <a:p>
            <a:endParaRPr lang="en-US" sz="2000" b="1" dirty="0" smtClean="0">
              <a:latin typeface="Courier New"/>
              <a:cs typeface="Courier New"/>
            </a:endParaRPr>
          </a:p>
          <a:p>
            <a:r>
              <a:rPr lang="en-US" sz="2000" b="1" dirty="0" smtClean="0">
                <a:latin typeface="Courier New"/>
                <a:cs typeface="Courier New"/>
              </a:rPr>
              <a:t>...</a:t>
            </a:r>
          </a:p>
          <a:p>
            <a:endParaRPr lang="en-US" sz="2000" b="1" dirty="0" smtClean="0">
              <a:latin typeface="Courier New"/>
              <a:cs typeface="Courier New"/>
            </a:endParaRPr>
          </a:p>
          <a:p>
            <a:r>
              <a:rPr lang="en-US" sz="2000" b="1" dirty="0">
                <a:latin typeface="Courier New"/>
                <a:cs typeface="Courier New"/>
              </a:rPr>
              <a:t>function </a:t>
            </a:r>
            <a:r>
              <a:rPr lang="en-US" sz="2000" b="1" dirty="0" err="1">
                <a:latin typeface="Courier New"/>
                <a:cs typeface="Courier New"/>
              </a:rPr>
              <a:t>reportSlider</a:t>
            </a:r>
            <a:r>
              <a:rPr lang="en-US" sz="2000" b="1" dirty="0">
                <a:latin typeface="Courier New"/>
                <a:cs typeface="Courier New"/>
              </a:rPr>
              <a:t>()</a:t>
            </a:r>
          </a:p>
          <a:p>
            <a:r>
              <a:rPr lang="en-US" sz="2000" b="1" dirty="0">
                <a:latin typeface="Courier New"/>
                <a:cs typeface="Courier New"/>
              </a:rPr>
              <a:t>{</a:t>
            </a:r>
          </a:p>
          <a:p>
            <a:r>
              <a:rPr lang="en-US" sz="2000" b="1" dirty="0">
                <a:latin typeface="Courier New"/>
                <a:cs typeface="Courier New"/>
              </a:rPr>
              <a:t>    </a:t>
            </a:r>
            <a:r>
              <a:rPr lang="en-US" sz="2000" b="1" dirty="0" err="1">
                <a:latin typeface="Courier New"/>
                <a:cs typeface="Courier New"/>
              </a:rPr>
              <a:t>var</a:t>
            </a:r>
            <a:r>
              <a:rPr lang="en-US" sz="2000" b="1" dirty="0">
                <a:latin typeface="Courier New"/>
                <a:cs typeface="Courier New"/>
              </a:rPr>
              <a:t> </a:t>
            </a:r>
            <a:r>
              <a:rPr lang="en-US" sz="2000" b="1" dirty="0" err="1">
                <a:latin typeface="Courier New"/>
                <a:cs typeface="Courier New"/>
              </a:rPr>
              <a:t>sliderVal</a:t>
            </a:r>
            <a:r>
              <a:rPr lang="en-US" sz="2000" b="1" dirty="0">
                <a:latin typeface="Courier New"/>
                <a:cs typeface="Courier New"/>
              </a:rPr>
              <a:t> = $("#slider").slider("value");</a:t>
            </a:r>
          </a:p>
          <a:p>
            <a:r>
              <a:rPr lang="en-US" sz="2000" b="1" dirty="0">
                <a:latin typeface="Courier New"/>
                <a:cs typeface="Courier New"/>
              </a:rPr>
              <a:t>    $("#</a:t>
            </a:r>
            <a:r>
              <a:rPr lang="en-US" sz="2000" b="1" dirty="0" err="1">
                <a:latin typeface="Courier New"/>
                <a:cs typeface="Courier New"/>
              </a:rPr>
              <a:t>slideOutput</a:t>
            </a:r>
            <a:r>
              <a:rPr lang="en-US" sz="2000" b="1" dirty="0">
                <a:latin typeface="Courier New"/>
                <a:cs typeface="Courier New"/>
              </a:rPr>
              <a:t>").html(</a:t>
            </a:r>
            <a:r>
              <a:rPr lang="en-US" sz="2000" b="1" dirty="0" err="1">
                <a:latin typeface="Courier New"/>
                <a:cs typeface="Courier New"/>
              </a:rPr>
              <a:t>sliderVal</a:t>
            </a:r>
            <a:r>
              <a:rPr lang="en-US" sz="2000" b="1" dirty="0">
                <a:latin typeface="Courier New"/>
                <a:cs typeface="Courier New"/>
              </a:rPr>
              <a:t>);</a:t>
            </a:r>
          </a:p>
          <a:p>
            <a:r>
              <a:rPr lang="en-US" sz="2000" b="1" dirty="0">
                <a:latin typeface="Courier New"/>
                <a:cs typeface="Courier New"/>
              </a:rPr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1135089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Selectable Widget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F0376-0E54-9843-B673-E00D6670E830}" type="slidenum">
              <a:rPr lang="en-US" smtClean="0"/>
              <a:pPr/>
              <a:t>43</a:t>
            </a:fld>
            <a:endParaRPr lang="en-US"/>
          </a:p>
        </p:txBody>
      </p:sp>
      <p:pic>
        <p:nvPicPr>
          <p:cNvPr id="5" name="Picture 4" descr="Screen Shot 2015-04-12 at 11.05.05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9829" y="1348749"/>
            <a:ext cx="1778000" cy="12573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89214" y="2968625"/>
            <a:ext cx="3262932" cy="19389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Courier New"/>
                <a:cs typeface="Courier New"/>
              </a:rPr>
              <a:t>&lt;</a:t>
            </a:r>
            <a:r>
              <a:rPr lang="en-US" sz="2000" b="1" dirty="0" err="1">
                <a:latin typeface="Courier New"/>
                <a:cs typeface="Courier New"/>
              </a:rPr>
              <a:t>ul</a:t>
            </a:r>
            <a:r>
              <a:rPr lang="en-US" sz="2000" b="1" dirty="0">
                <a:latin typeface="Courier New"/>
                <a:cs typeface="Courier New"/>
              </a:rPr>
              <a:t> id="selectable"&gt;</a:t>
            </a:r>
          </a:p>
          <a:p>
            <a:r>
              <a:rPr lang="en-US" sz="2000" b="1" dirty="0">
                <a:latin typeface="Courier New"/>
                <a:cs typeface="Courier New"/>
              </a:rPr>
              <a:t>    &lt;li&gt;alpha&lt;/li&gt;</a:t>
            </a:r>
          </a:p>
          <a:p>
            <a:r>
              <a:rPr lang="sv-SE" sz="2000" b="1" dirty="0">
                <a:latin typeface="Courier New"/>
                <a:cs typeface="Courier New"/>
              </a:rPr>
              <a:t>    &lt;li&gt;beta&lt;/li&gt;</a:t>
            </a:r>
          </a:p>
          <a:p>
            <a:r>
              <a:rPr lang="sv-SE" sz="2000" b="1" dirty="0">
                <a:latin typeface="Courier New"/>
                <a:cs typeface="Courier New"/>
              </a:rPr>
              <a:t>    &lt;li&gt;gamma&lt;/li&gt;</a:t>
            </a:r>
          </a:p>
          <a:p>
            <a:r>
              <a:rPr lang="sv-SE" sz="2000" b="1" dirty="0">
                <a:latin typeface="Courier New"/>
                <a:cs typeface="Courier New"/>
              </a:rPr>
              <a:t>    &lt;li&gt;delta&lt;/li&gt;</a:t>
            </a:r>
          </a:p>
          <a:p>
            <a:r>
              <a:rPr lang="sv-SE" sz="2000" b="1" dirty="0">
                <a:latin typeface="Courier New"/>
                <a:cs typeface="Courier New"/>
              </a:rPr>
              <a:t>&lt;/</a:t>
            </a:r>
            <a:r>
              <a:rPr lang="sv-SE" sz="2000" b="1" dirty="0" err="1">
                <a:latin typeface="Courier New"/>
                <a:cs typeface="Courier New"/>
              </a:rPr>
              <a:t>ul</a:t>
            </a:r>
            <a:r>
              <a:rPr lang="sv-SE" sz="2000" b="1" dirty="0" smtClean="0">
                <a:latin typeface="Courier New"/>
                <a:cs typeface="Courier New"/>
              </a:rPr>
              <a:t>&gt;</a:t>
            </a:r>
            <a:endParaRPr lang="sv-SE" sz="2000" b="1" dirty="0">
              <a:latin typeface="Courier New"/>
              <a:cs typeface="Courier New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604543" y="5166341"/>
            <a:ext cx="4802066" cy="400110"/>
          </a:xfrm>
          <a:prstGeom prst="rect">
            <a:avLst/>
          </a:prstGeom>
          <a:solidFill>
            <a:srgbClr val="E2EAFF"/>
          </a:solidFill>
          <a:ln>
            <a:solidFill>
              <a:srgbClr val="0033CC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Courier New"/>
                <a:cs typeface="Courier New"/>
              </a:rPr>
              <a:t>$("#selectable").selectable();</a:t>
            </a:r>
          </a:p>
        </p:txBody>
      </p:sp>
    </p:spTree>
    <p:extLst>
      <p:ext uri="{BB962C8B-B14F-4D97-AF65-F5344CB8AC3E}">
        <p14:creationId xmlns:p14="http://schemas.microsoft.com/office/powerpoint/2010/main" val="1348931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Sortable Widget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F0376-0E54-9843-B673-E00D6670E830}" type="slidenum">
              <a:rPr lang="en-US" smtClean="0"/>
              <a:pPr/>
              <a:t>44</a:t>
            </a:fld>
            <a:endParaRPr lang="en-US"/>
          </a:p>
        </p:txBody>
      </p:sp>
      <p:pic>
        <p:nvPicPr>
          <p:cNvPr id="5" name="Picture 4" descr="Screen Shot 2015-04-12 at 11.11.28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7537" y="1417342"/>
            <a:ext cx="1219200" cy="1257300"/>
          </a:xfrm>
          <a:prstGeom prst="rect">
            <a:avLst/>
          </a:prstGeom>
        </p:spPr>
      </p:pic>
      <p:pic>
        <p:nvPicPr>
          <p:cNvPr id="6" name="Picture 5" descr="Screen Shot 2015-04-12 at 11.10.45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417342"/>
            <a:ext cx="1714500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601169" y="3008313"/>
            <a:ext cx="2955106" cy="19389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Courier New"/>
                <a:cs typeface="Courier New"/>
              </a:rPr>
              <a:t>&lt;</a:t>
            </a:r>
            <a:r>
              <a:rPr lang="en-US" sz="2000" b="1" dirty="0" err="1">
                <a:latin typeface="Courier New"/>
                <a:cs typeface="Courier New"/>
              </a:rPr>
              <a:t>ul</a:t>
            </a:r>
            <a:r>
              <a:rPr lang="en-US" sz="2000" b="1" dirty="0">
                <a:latin typeface="Courier New"/>
                <a:cs typeface="Courier New"/>
              </a:rPr>
              <a:t> id="sortable"&gt;</a:t>
            </a:r>
          </a:p>
          <a:p>
            <a:r>
              <a:rPr lang="en-US" sz="2000" b="1" dirty="0">
                <a:latin typeface="Courier New"/>
                <a:cs typeface="Courier New"/>
              </a:rPr>
              <a:t>    &lt;li&gt;alpha&lt;/li&gt;</a:t>
            </a:r>
          </a:p>
          <a:p>
            <a:r>
              <a:rPr lang="sv-SE" sz="2000" b="1" dirty="0">
                <a:latin typeface="Courier New"/>
                <a:cs typeface="Courier New"/>
              </a:rPr>
              <a:t>    &lt;li&gt;beta&lt;/li&gt;</a:t>
            </a:r>
          </a:p>
          <a:p>
            <a:r>
              <a:rPr lang="sv-SE" sz="2000" b="1" dirty="0">
                <a:latin typeface="Courier New"/>
                <a:cs typeface="Courier New"/>
              </a:rPr>
              <a:t>    &lt;li&gt;gamma&lt;/li&gt;</a:t>
            </a:r>
          </a:p>
          <a:p>
            <a:r>
              <a:rPr lang="sv-SE" sz="2000" b="1" dirty="0">
                <a:latin typeface="Courier New"/>
                <a:cs typeface="Courier New"/>
              </a:rPr>
              <a:t>    &lt;li&gt;delta&lt;/li&gt;</a:t>
            </a:r>
          </a:p>
          <a:p>
            <a:r>
              <a:rPr lang="sv-SE" sz="2000" b="1" dirty="0">
                <a:latin typeface="Courier New"/>
                <a:cs typeface="Courier New"/>
              </a:rPr>
              <a:t>&lt;/</a:t>
            </a:r>
            <a:r>
              <a:rPr lang="sv-SE" sz="2000" b="1" dirty="0" err="1">
                <a:latin typeface="Courier New"/>
                <a:cs typeface="Courier New"/>
              </a:rPr>
              <a:t>ul</a:t>
            </a:r>
            <a:r>
              <a:rPr lang="sv-SE" sz="2000" b="1" dirty="0" smtClean="0">
                <a:latin typeface="Courier New"/>
                <a:cs typeface="Courier New"/>
              </a:rPr>
              <a:t>&gt;</a:t>
            </a:r>
            <a:endParaRPr lang="sv-SE" sz="2000" b="1" dirty="0">
              <a:latin typeface="Courier New"/>
              <a:cs typeface="Courier New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60342" y="5222875"/>
            <a:ext cx="4248978" cy="400110"/>
          </a:xfrm>
          <a:prstGeom prst="rect">
            <a:avLst/>
          </a:prstGeom>
          <a:solidFill>
            <a:srgbClr val="E2EAFF"/>
          </a:solidFill>
          <a:ln>
            <a:solidFill>
              <a:srgbClr val="0033CC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Courier New"/>
                <a:cs typeface="Courier New"/>
              </a:rPr>
              <a:t>$("#sortable").sortable();</a:t>
            </a:r>
          </a:p>
        </p:txBody>
      </p:sp>
    </p:spTree>
    <p:extLst>
      <p:ext uri="{BB962C8B-B14F-4D97-AF65-F5344CB8AC3E}">
        <p14:creationId xmlns:p14="http://schemas.microsoft.com/office/powerpoint/2010/main" val="503917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Dialog Widget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F0376-0E54-9843-B673-E00D6670E830}" type="slidenum">
              <a:rPr lang="en-US" smtClean="0"/>
              <a:pPr/>
              <a:t>45</a:t>
            </a:fld>
            <a:endParaRPr lang="en-US"/>
          </a:p>
        </p:txBody>
      </p:sp>
      <p:pic>
        <p:nvPicPr>
          <p:cNvPr id="5" name="Picture 4" descr="Screen Shot 2015-04-12 at 11.15.13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927" y="1417342"/>
            <a:ext cx="4114405" cy="2926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466833" y="1408785"/>
            <a:ext cx="4494239" cy="403187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 New"/>
                <a:cs typeface="Courier New"/>
              </a:rPr>
              <a:t>&lt;div id="dialog" title="my dialog"&gt;</a:t>
            </a:r>
          </a:p>
          <a:p>
            <a:r>
              <a:rPr lang="en-US" b="1" dirty="0">
                <a:latin typeface="Courier New"/>
                <a:cs typeface="Courier New"/>
              </a:rPr>
              <a:t>    &lt;p&gt;</a:t>
            </a:r>
          </a:p>
          <a:p>
            <a:r>
              <a:rPr lang="en-US" b="1" dirty="0">
                <a:latin typeface="Courier New"/>
                <a:cs typeface="Courier New"/>
              </a:rPr>
              <a:t>        The dialog class allows you </a:t>
            </a:r>
            <a:endParaRPr lang="en-US" b="1" dirty="0" smtClean="0">
              <a:latin typeface="Courier New"/>
              <a:cs typeface="Courier New"/>
            </a:endParaRPr>
          </a:p>
          <a:p>
            <a:r>
              <a:rPr lang="en-US" b="1" dirty="0">
                <a:latin typeface="Courier New"/>
                <a:cs typeface="Courier New"/>
              </a:rPr>
              <a:t> </a:t>
            </a:r>
            <a:r>
              <a:rPr lang="en-US" b="1" dirty="0" smtClean="0">
                <a:latin typeface="Courier New"/>
                <a:cs typeface="Courier New"/>
              </a:rPr>
              <a:t>       to </a:t>
            </a:r>
            <a:r>
              <a:rPr lang="en-US" b="1" dirty="0">
                <a:latin typeface="Courier New"/>
                <a:cs typeface="Courier New"/>
              </a:rPr>
              <a:t>have a </a:t>
            </a:r>
            <a:r>
              <a:rPr lang="en-US" b="1" dirty="0" smtClean="0">
                <a:latin typeface="Courier New"/>
                <a:cs typeface="Courier New"/>
              </a:rPr>
              <a:t>movable sizable </a:t>
            </a:r>
          </a:p>
          <a:p>
            <a:r>
              <a:rPr lang="en-US" b="1" dirty="0">
                <a:latin typeface="Courier New"/>
                <a:cs typeface="Courier New"/>
              </a:rPr>
              <a:t> </a:t>
            </a:r>
            <a:r>
              <a:rPr lang="en-US" b="1" dirty="0" smtClean="0">
                <a:latin typeface="Courier New"/>
                <a:cs typeface="Courier New"/>
              </a:rPr>
              <a:t>       customized </a:t>
            </a:r>
            <a:r>
              <a:rPr lang="en-US" b="1" dirty="0">
                <a:latin typeface="Courier New"/>
                <a:cs typeface="Courier New"/>
              </a:rPr>
              <a:t>dialog box </a:t>
            </a:r>
            <a:endParaRPr lang="en-US" b="1" dirty="0" smtClean="0">
              <a:latin typeface="Courier New"/>
              <a:cs typeface="Courier New"/>
            </a:endParaRPr>
          </a:p>
          <a:p>
            <a:r>
              <a:rPr lang="en-US" b="1" dirty="0">
                <a:latin typeface="Courier New"/>
                <a:cs typeface="Courier New"/>
              </a:rPr>
              <a:t> </a:t>
            </a:r>
            <a:r>
              <a:rPr lang="en-US" b="1" dirty="0" smtClean="0">
                <a:latin typeface="Courier New"/>
                <a:cs typeface="Courier New"/>
              </a:rPr>
              <a:t>       consistent the </a:t>
            </a:r>
            <a:r>
              <a:rPr lang="en-US" b="1" dirty="0">
                <a:latin typeface="Courier New"/>
                <a:cs typeface="Courier New"/>
              </a:rPr>
              <a:t>installed </a:t>
            </a:r>
            <a:endParaRPr lang="en-US" b="1" dirty="0" smtClean="0">
              <a:latin typeface="Courier New"/>
              <a:cs typeface="Courier New"/>
            </a:endParaRPr>
          </a:p>
          <a:p>
            <a:r>
              <a:rPr lang="en-US" b="1" dirty="0">
                <a:latin typeface="Courier New"/>
                <a:cs typeface="Courier New"/>
              </a:rPr>
              <a:t> </a:t>
            </a:r>
            <a:r>
              <a:rPr lang="en-US" b="1" dirty="0" smtClean="0">
                <a:latin typeface="Courier New"/>
                <a:cs typeface="Courier New"/>
              </a:rPr>
              <a:t>       page </a:t>
            </a:r>
            <a:r>
              <a:rPr lang="en-US" b="1" dirty="0">
                <a:latin typeface="Courier New"/>
                <a:cs typeface="Courier New"/>
              </a:rPr>
              <a:t>theme.</a:t>
            </a:r>
          </a:p>
          <a:p>
            <a:r>
              <a:rPr lang="en-US" b="1" dirty="0">
                <a:latin typeface="Courier New"/>
                <a:cs typeface="Courier New"/>
              </a:rPr>
              <a:t>    &lt;/p&gt;</a:t>
            </a:r>
          </a:p>
          <a:p>
            <a:r>
              <a:rPr lang="en-US" b="1" dirty="0">
                <a:latin typeface="Courier New"/>
                <a:cs typeface="Courier New"/>
              </a:rPr>
              <a:t>&lt;/div&gt;</a:t>
            </a:r>
          </a:p>
          <a:p>
            <a:endParaRPr lang="en-US" b="1" dirty="0">
              <a:latin typeface="Courier New"/>
              <a:cs typeface="Courier New"/>
            </a:endParaRPr>
          </a:p>
          <a:p>
            <a:r>
              <a:rPr lang="en-US" b="1" dirty="0">
                <a:latin typeface="Courier New"/>
                <a:cs typeface="Courier New"/>
              </a:rPr>
              <a:t>&lt;input type="button"</a:t>
            </a:r>
          </a:p>
          <a:p>
            <a:r>
              <a:rPr lang="en-US" b="1" dirty="0">
                <a:latin typeface="Courier New"/>
                <a:cs typeface="Courier New"/>
              </a:rPr>
              <a:t>       value="open dialog"</a:t>
            </a:r>
          </a:p>
          <a:p>
            <a:r>
              <a:rPr lang="en-US" b="1" dirty="0">
                <a:latin typeface="Courier New"/>
                <a:cs typeface="Courier New"/>
              </a:rPr>
              <a:t>       </a:t>
            </a:r>
            <a:r>
              <a:rPr lang="en-US" b="1" dirty="0" err="1">
                <a:latin typeface="Courier New"/>
                <a:cs typeface="Courier New"/>
              </a:rPr>
              <a:t>onclick</a:t>
            </a:r>
            <a:r>
              <a:rPr lang="en-US" b="1" dirty="0">
                <a:latin typeface="Courier New"/>
                <a:cs typeface="Courier New"/>
              </a:rPr>
              <a:t>="</a:t>
            </a:r>
            <a:r>
              <a:rPr lang="en-US" b="1" dirty="0" err="1">
                <a:latin typeface="Courier New"/>
                <a:cs typeface="Courier New"/>
              </a:rPr>
              <a:t>openDialog</a:t>
            </a:r>
            <a:r>
              <a:rPr lang="en-US" b="1" dirty="0">
                <a:latin typeface="Courier New"/>
                <a:cs typeface="Courier New"/>
              </a:rPr>
              <a:t>()" /&gt;</a:t>
            </a:r>
          </a:p>
          <a:p>
            <a:r>
              <a:rPr lang="en-US" b="1" dirty="0">
                <a:latin typeface="Courier New"/>
                <a:cs typeface="Courier New"/>
              </a:rPr>
              <a:t>&lt;input type="button"</a:t>
            </a:r>
          </a:p>
          <a:p>
            <a:r>
              <a:rPr lang="en-US" b="1" dirty="0">
                <a:latin typeface="Courier New"/>
                <a:cs typeface="Courier New"/>
              </a:rPr>
              <a:t>       value="close dialog"</a:t>
            </a:r>
          </a:p>
          <a:p>
            <a:r>
              <a:rPr lang="en-US" b="1" dirty="0">
                <a:latin typeface="Courier New"/>
                <a:cs typeface="Courier New"/>
              </a:rPr>
              <a:t>       </a:t>
            </a:r>
            <a:r>
              <a:rPr lang="en-US" b="1" dirty="0" err="1">
                <a:latin typeface="Courier New"/>
                <a:cs typeface="Courier New"/>
              </a:rPr>
              <a:t>onclick</a:t>
            </a:r>
            <a:r>
              <a:rPr lang="en-US" b="1" dirty="0">
                <a:latin typeface="Courier New"/>
                <a:cs typeface="Courier New"/>
              </a:rPr>
              <a:t>="</a:t>
            </a:r>
            <a:r>
              <a:rPr lang="en-US" b="1" dirty="0" err="1">
                <a:latin typeface="Courier New"/>
                <a:cs typeface="Courier New"/>
              </a:rPr>
              <a:t>closeDialog</a:t>
            </a:r>
            <a:r>
              <a:rPr lang="en-US" b="1" dirty="0">
                <a:latin typeface="Courier New"/>
                <a:cs typeface="Courier New"/>
              </a:rPr>
              <a:t>()" /</a:t>
            </a:r>
            <a:r>
              <a:rPr lang="en-US" b="1" dirty="0" smtClean="0">
                <a:latin typeface="Courier New"/>
                <a:cs typeface="Courier New"/>
              </a:rPr>
              <a:t>&gt;</a:t>
            </a:r>
            <a:endParaRPr lang="en-US" b="1" dirty="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820057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Dialog </a:t>
            </a:r>
            <a:r>
              <a:rPr lang="en-US" dirty="0" smtClean="0"/>
              <a:t>Widget</a:t>
            </a:r>
            <a:r>
              <a:rPr lang="en-US" i="1" dirty="0" smtClean="0"/>
              <a:t>, cont’d</a:t>
            </a:r>
            <a:endParaRPr lang="en-US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F0376-0E54-9843-B673-E00D6670E830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959925" y="1405209"/>
            <a:ext cx="5263806" cy="4401205"/>
          </a:xfrm>
          <a:prstGeom prst="rect">
            <a:avLst/>
          </a:prstGeom>
          <a:solidFill>
            <a:srgbClr val="E2EAFF"/>
          </a:solidFill>
          <a:ln>
            <a:solidFill>
              <a:srgbClr val="3366FF"/>
            </a:solidFill>
          </a:ln>
        </p:spPr>
        <p:txBody>
          <a:bodyPr wrap="none" rtlCol="0">
            <a:spAutoFit/>
          </a:bodyPr>
          <a:lstStyle/>
          <a:p>
            <a:r>
              <a:rPr lang="is-IS" sz="2000" b="1" dirty="0" smtClean="0">
                <a:latin typeface="Courier New"/>
                <a:cs typeface="Courier New"/>
              </a:rPr>
              <a:t>$</a:t>
            </a:r>
            <a:r>
              <a:rPr lang="is-IS" sz="2000" b="1" dirty="0">
                <a:latin typeface="Courier New"/>
                <a:cs typeface="Courier New"/>
              </a:rPr>
              <a:t>("#dialog").dialog();</a:t>
            </a:r>
          </a:p>
          <a:p>
            <a:r>
              <a:rPr lang="en-US" sz="2000" b="1" dirty="0" smtClean="0">
                <a:latin typeface="Courier New"/>
                <a:cs typeface="Courier New"/>
              </a:rPr>
              <a:t>$</a:t>
            </a:r>
            <a:r>
              <a:rPr lang="en-US" sz="2000" b="1" dirty="0">
                <a:latin typeface="Courier New"/>
                <a:cs typeface="Courier New"/>
              </a:rPr>
              <a:t>("#dialog").dialog("close")</a:t>
            </a:r>
            <a:r>
              <a:rPr lang="en-US" sz="2000" b="1" dirty="0" smtClean="0">
                <a:latin typeface="Courier New"/>
                <a:cs typeface="Courier New"/>
              </a:rPr>
              <a:t>;</a:t>
            </a:r>
          </a:p>
          <a:p>
            <a:endParaRPr lang="en-US" sz="2000" b="1" dirty="0">
              <a:latin typeface="Courier New"/>
              <a:cs typeface="Courier New"/>
            </a:endParaRPr>
          </a:p>
          <a:p>
            <a:r>
              <a:rPr lang="en-US" sz="2000" b="1" dirty="0" smtClean="0">
                <a:latin typeface="Courier New"/>
                <a:cs typeface="Courier New"/>
              </a:rPr>
              <a:t>...</a:t>
            </a:r>
          </a:p>
          <a:p>
            <a:endParaRPr lang="en-US" sz="2000" b="1" dirty="0">
              <a:latin typeface="Courier New"/>
              <a:cs typeface="Courier New"/>
            </a:endParaRPr>
          </a:p>
          <a:p>
            <a:r>
              <a:rPr lang="en-US" sz="2000" b="1" dirty="0">
                <a:latin typeface="Courier New"/>
                <a:cs typeface="Courier New"/>
              </a:rPr>
              <a:t>function </a:t>
            </a:r>
            <a:r>
              <a:rPr lang="en-US" sz="2000" b="1" dirty="0" err="1">
                <a:latin typeface="Courier New"/>
                <a:cs typeface="Courier New"/>
              </a:rPr>
              <a:t>openDialog</a:t>
            </a:r>
            <a:r>
              <a:rPr lang="en-US" sz="2000" b="1" dirty="0">
                <a:latin typeface="Courier New"/>
                <a:cs typeface="Courier New"/>
              </a:rPr>
              <a:t>()</a:t>
            </a:r>
          </a:p>
          <a:p>
            <a:r>
              <a:rPr lang="en-US" sz="2000" b="1" dirty="0">
                <a:latin typeface="Courier New"/>
                <a:cs typeface="Courier New"/>
              </a:rPr>
              <a:t>{</a:t>
            </a:r>
          </a:p>
          <a:p>
            <a:r>
              <a:rPr lang="is-IS" sz="2000" b="1" dirty="0">
                <a:latin typeface="Courier New"/>
                <a:cs typeface="Courier New"/>
              </a:rPr>
              <a:t>    $("#dialog").dialog("open");</a:t>
            </a:r>
          </a:p>
          <a:p>
            <a:r>
              <a:rPr lang="is-IS" sz="2000" b="1" dirty="0">
                <a:latin typeface="Courier New"/>
                <a:cs typeface="Courier New"/>
              </a:rPr>
              <a:t>} </a:t>
            </a:r>
          </a:p>
          <a:p>
            <a:endParaRPr lang="is-IS" sz="2000" b="1" dirty="0">
              <a:latin typeface="Courier New"/>
              <a:cs typeface="Courier New"/>
            </a:endParaRPr>
          </a:p>
          <a:p>
            <a:r>
              <a:rPr lang="en-US" sz="2000" b="1" dirty="0">
                <a:latin typeface="Courier New"/>
                <a:cs typeface="Courier New"/>
              </a:rPr>
              <a:t>function </a:t>
            </a:r>
            <a:r>
              <a:rPr lang="en-US" sz="2000" b="1" dirty="0" err="1">
                <a:latin typeface="Courier New"/>
                <a:cs typeface="Courier New"/>
              </a:rPr>
              <a:t>closeDialog</a:t>
            </a:r>
            <a:r>
              <a:rPr lang="en-US" sz="2000" b="1" dirty="0">
                <a:latin typeface="Courier New"/>
                <a:cs typeface="Courier New"/>
              </a:rPr>
              <a:t>()</a:t>
            </a:r>
          </a:p>
          <a:p>
            <a:r>
              <a:rPr lang="en-US" sz="2000" b="1" dirty="0">
                <a:latin typeface="Courier New"/>
                <a:cs typeface="Courier New"/>
              </a:rPr>
              <a:t>{</a:t>
            </a:r>
          </a:p>
          <a:p>
            <a:r>
              <a:rPr lang="en-US" sz="2000" b="1" dirty="0">
                <a:latin typeface="Courier New"/>
                <a:cs typeface="Courier New"/>
              </a:rPr>
              <a:t>    $("#dialog").dialog("close");</a:t>
            </a:r>
          </a:p>
          <a:p>
            <a:r>
              <a:rPr lang="en-US" sz="2000" b="1" dirty="0">
                <a:latin typeface="Courier New"/>
                <a:cs typeface="Courier New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56914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Assignment </a:t>
            </a:r>
            <a:r>
              <a:rPr lang="en-US" dirty="0" smtClean="0"/>
              <a:t>#3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34464"/>
            <a:ext cx="8229600" cy="4896461"/>
          </a:xfrm>
        </p:spPr>
        <p:txBody>
          <a:bodyPr/>
          <a:lstStyle/>
          <a:p>
            <a:r>
              <a:rPr lang="en-US" dirty="0"/>
              <a:t>Add </a:t>
            </a:r>
            <a:r>
              <a:rPr lang="en-US" u="sng" dirty="0"/>
              <a:t>jQuery functionality</a:t>
            </a:r>
            <a:r>
              <a:rPr lang="en-US" dirty="0"/>
              <a:t> to your web app</a:t>
            </a:r>
            <a:r>
              <a:rPr lang="en-US" dirty="0" smtClean="0"/>
              <a:t>.</a:t>
            </a:r>
          </a:p>
          <a:p>
            <a:pPr lvl="4"/>
            <a:endParaRPr lang="en-US" dirty="0" smtClean="0"/>
          </a:p>
          <a:p>
            <a:r>
              <a:rPr lang="en-US" dirty="0" smtClean="0"/>
              <a:t>Perform </a:t>
            </a:r>
            <a:r>
              <a:rPr lang="en-US" u="sng" dirty="0" smtClean="0"/>
              <a:t>AJAX</a:t>
            </a:r>
            <a:r>
              <a:rPr lang="en-US" dirty="0" smtClean="0"/>
              <a:t>.</a:t>
            </a:r>
          </a:p>
          <a:p>
            <a:pPr lvl="4"/>
            <a:endParaRPr lang="en-US" dirty="0" smtClean="0"/>
          </a:p>
          <a:p>
            <a:r>
              <a:rPr lang="en-US" dirty="0" smtClean="0"/>
              <a:t>Use jQuery and CSS to create </a:t>
            </a:r>
            <a:br>
              <a:rPr lang="en-US" dirty="0" smtClean="0"/>
            </a:br>
            <a:r>
              <a:rPr lang="en-US" dirty="0" smtClean="0"/>
              <a:t>an </a:t>
            </a:r>
            <a:r>
              <a:rPr lang="en-US" u="sng" dirty="0" smtClean="0"/>
              <a:t>interactive visual effect</a:t>
            </a:r>
            <a:r>
              <a:rPr lang="en-US" dirty="0" smtClean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F0376-0E54-9843-B673-E00D6670E830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64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#</a:t>
            </a:r>
            <a:r>
              <a:rPr lang="en-US" dirty="0" smtClean="0"/>
              <a:t>3, </a:t>
            </a:r>
            <a:r>
              <a:rPr lang="en-US" i="1" dirty="0" smtClean="0"/>
              <a:t>cont’d</a:t>
            </a:r>
            <a:endParaRPr lang="en-US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 </a:t>
            </a:r>
            <a:r>
              <a:rPr lang="en-US" u="sng" dirty="0"/>
              <a:t>jQuery UI toolkit </a:t>
            </a:r>
            <a:r>
              <a:rPr lang="en-US" u="sng" dirty="0" smtClean="0"/>
              <a:t>functionality</a:t>
            </a:r>
            <a:r>
              <a:rPr lang="en-US" dirty="0" smtClean="0"/>
              <a:t>.</a:t>
            </a:r>
            <a:endParaRPr lang="en-US" dirty="0"/>
          </a:p>
          <a:p>
            <a:pPr lvl="1"/>
            <a:r>
              <a:rPr lang="en-US" dirty="0" smtClean="0"/>
              <a:t>Pick and use a </a:t>
            </a:r>
            <a:r>
              <a:rPr lang="en-US" dirty="0"/>
              <a:t>jQuery </a:t>
            </a:r>
            <a:r>
              <a:rPr lang="en-US" dirty="0" smtClean="0"/>
              <a:t>theme.</a:t>
            </a:r>
          </a:p>
          <a:p>
            <a:pPr lvl="5"/>
            <a:endParaRPr lang="en-US" dirty="0"/>
          </a:p>
          <a:p>
            <a:r>
              <a:rPr lang="en-US" dirty="0" smtClean="0"/>
              <a:t>Have at </a:t>
            </a:r>
            <a:r>
              <a:rPr lang="en-US" dirty="0"/>
              <a:t>least one </a:t>
            </a:r>
            <a:r>
              <a:rPr lang="en-US" dirty="0" smtClean="0"/>
              <a:t>on-screen object that is:</a:t>
            </a:r>
          </a:p>
          <a:p>
            <a:pPr lvl="1"/>
            <a:r>
              <a:rPr lang="en-US" dirty="0" smtClean="0"/>
              <a:t>resizable</a:t>
            </a:r>
          </a:p>
          <a:p>
            <a:pPr lvl="1"/>
            <a:r>
              <a:rPr lang="en-US" dirty="0" smtClean="0"/>
              <a:t>dragged and dropped</a:t>
            </a:r>
          </a:p>
          <a:p>
            <a:pPr lvl="5"/>
            <a:endParaRPr lang="en-US" dirty="0" smtClean="0"/>
          </a:p>
          <a:p>
            <a:r>
              <a:rPr lang="en-US" dirty="0" smtClean="0"/>
              <a:t>Use jQuery UI widgets:</a:t>
            </a:r>
          </a:p>
          <a:p>
            <a:pPr lvl="1"/>
            <a:r>
              <a:rPr lang="en-US" dirty="0" smtClean="0"/>
              <a:t>AJAX tabs</a:t>
            </a:r>
          </a:p>
          <a:p>
            <a:pPr lvl="1"/>
            <a:r>
              <a:rPr lang="en-US" dirty="0" smtClean="0"/>
              <a:t>at least two other interactive widgets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62B2D-F854-104A-9535-9A504E5923E0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21345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#3, </a:t>
            </a:r>
            <a:r>
              <a:rPr lang="en-US" i="1" dirty="0"/>
              <a:t>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Include a </a:t>
            </a:r>
            <a:r>
              <a:rPr lang="en-US" u="sng" dirty="0" smtClean="0"/>
              <a:t>short informal report</a:t>
            </a:r>
            <a:r>
              <a:rPr lang="en-US" dirty="0" smtClean="0"/>
              <a:t> that points out the jQuery and jQuery UI features of your app.</a:t>
            </a:r>
          </a:p>
          <a:p>
            <a:pPr lvl="1"/>
            <a:r>
              <a:rPr lang="en-US" dirty="0" smtClean="0"/>
              <a:t>The purpose of each feature.</a:t>
            </a:r>
          </a:p>
          <a:p>
            <a:pPr lvl="1"/>
            <a:r>
              <a:rPr lang="en-US" dirty="0" smtClean="0"/>
              <a:t>How it behaves (you can use screenshots).</a:t>
            </a:r>
          </a:p>
          <a:p>
            <a:pPr lvl="1"/>
            <a:r>
              <a:rPr lang="en-US" dirty="0" smtClean="0"/>
              <a:t>How you implemented it.</a:t>
            </a:r>
          </a:p>
          <a:p>
            <a:pPr lvl="4"/>
            <a:endParaRPr lang="en-US" dirty="0"/>
          </a:p>
          <a:p>
            <a:r>
              <a:rPr lang="en-US" dirty="0" smtClean="0"/>
              <a:t>Due Friday, October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62B2D-F854-104A-9535-9A504E5923E0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074556"/>
      </p:ext>
    </p:extLst>
  </p:cSld>
  <p:clrMapOvr>
    <a:masterClrMapping/>
  </p:clrMapOvr>
</p:sld>
</file>

<file path=ppt/theme/theme1.xml><?xml version="1.0" encoding="utf-8"?>
<a:theme xmlns:a="http://schemas.openxmlformats.org/drawingml/2006/main" name="Quadrant">
  <a:themeElements>
    <a:clrScheme name="Quadrant 2">
      <a:dk1>
        <a:srgbClr val="000000"/>
      </a:dk1>
      <a:lt1>
        <a:srgbClr val="FFFFFF"/>
      </a:lt1>
      <a:dk2>
        <a:srgbClr val="420000"/>
      </a:dk2>
      <a:lt2>
        <a:srgbClr val="660000"/>
      </a:lt2>
      <a:accent1>
        <a:srgbClr val="CCCC00"/>
      </a:accent1>
      <a:accent2>
        <a:srgbClr val="999966"/>
      </a:accent2>
      <a:accent3>
        <a:srgbClr val="FFFFFF"/>
      </a:accent3>
      <a:accent4>
        <a:srgbClr val="000000"/>
      </a:accent4>
      <a:accent5>
        <a:srgbClr val="E2E2AA"/>
      </a:accent5>
      <a:accent6>
        <a:srgbClr val="8A8A5C"/>
      </a:accent6>
      <a:hlink>
        <a:srgbClr val="996633"/>
      </a:hlink>
      <a:folHlink>
        <a:srgbClr val="993300"/>
      </a:folHlink>
    </a:clrScheme>
    <a:fontScheme name="Quadrant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0"/>
          </a:defRPr>
        </a:defPPr>
      </a:lstStyle>
    </a:lnDef>
  </a:objectDefaults>
  <a:extraClrSchemeLst>
    <a:extraClrScheme>
      <a:clrScheme name="Quadrant 1">
        <a:dk1>
          <a:srgbClr val="5C5674"/>
        </a:dk1>
        <a:lt1>
          <a:srgbClr val="FFFFFF"/>
        </a:lt1>
        <a:dk2>
          <a:srgbClr val="85986A"/>
        </a:dk2>
        <a:lt2>
          <a:srgbClr val="FFFFFF"/>
        </a:lt2>
        <a:accent1>
          <a:srgbClr val="666633"/>
        </a:accent1>
        <a:accent2>
          <a:srgbClr val="ADC5B8"/>
        </a:accent2>
        <a:accent3>
          <a:srgbClr val="C2CAB9"/>
        </a:accent3>
        <a:accent4>
          <a:srgbClr val="DADADA"/>
        </a:accent4>
        <a:accent5>
          <a:srgbClr val="B8B8AD"/>
        </a:accent5>
        <a:accent6>
          <a:srgbClr val="9CB2A6"/>
        </a:accent6>
        <a:hlink>
          <a:srgbClr val="FF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Quadrant 2">
        <a:dk1>
          <a:srgbClr val="000000"/>
        </a:dk1>
        <a:lt1>
          <a:srgbClr val="FFFFFF"/>
        </a:lt1>
        <a:dk2>
          <a:srgbClr val="420000"/>
        </a:dk2>
        <a:lt2>
          <a:srgbClr val="660000"/>
        </a:lt2>
        <a:accent1>
          <a:srgbClr val="CCCC00"/>
        </a:accent1>
        <a:accent2>
          <a:srgbClr val="999966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8A8A5C"/>
        </a:accent6>
        <a:hlink>
          <a:srgbClr val="996633"/>
        </a:hlink>
        <a:folHlink>
          <a:srgbClr val="993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Quadrant 3">
        <a:dk1>
          <a:srgbClr val="618052"/>
        </a:dk1>
        <a:lt1>
          <a:srgbClr val="FFFFE3"/>
        </a:lt1>
        <a:dk2>
          <a:srgbClr val="162E36"/>
        </a:dk2>
        <a:lt2>
          <a:srgbClr val="FFFFFF"/>
        </a:lt2>
        <a:accent1>
          <a:srgbClr val="336699"/>
        </a:accent1>
        <a:accent2>
          <a:srgbClr val="69888B"/>
        </a:accent2>
        <a:accent3>
          <a:srgbClr val="ABADAE"/>
        </a:accent3>
        <a:accent4>
          <a:srgbClr val="DADAC2"/>
        </a:accent4>
        <a:accent5>
          <a:srgbClr val="ADB8CA"/>
        </a:accent5>
        <a:accent6>
          <a:srgbClr val="5E7B7D"/>
        </a:accent6>
        <a:hlink>
          <a:srgbClr val="FF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Quadrant 4">
        <a:dk1>
          <a:srgbClr val="000000"/>
        </a:dk1>
        <a:lt1>
          <a:srgbClr val="FFFFFF"/>
        </a:lt1>
        <a:dk2>
          <a:srgbClr val="000000"/>
        </a:dk2>
        <a:lt2>
          <a:srgbClr val="CC0000"/>
        </a:lt2>
        <a:accent1>
          <a:srgbClr val="FFCC00"/>
        </a:accent1>
        <a:accent2>
          <a:srgbClr val="3366CC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2D5CB9"/>
        </a:accent6>
        <a:hlink>
          <a:srgbClr val="666699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Quadrant 5">
        <a:dk1>
          <a:srgbClr val="666699"/>
        </a:dk1>
        <a:lt1>
          <a:srgbClr val="FFFFFF"/>
        </a:lt1>
        <a:dk2>
          <a:srgbClr val="000033"/>
        </a:dk2>
        <a:lt2>
          <a:srgbClr val="FFFFFF"/>
        </a:lt2>
        <a:accent1>
          <a:srgbClr val="9966FF"/>
        </a:accent1>
        <a:accent2>
          <a:srgbClr val="CCCCFF"/>
        </a:accent2>
        <a:accent3>
          <a:srgbClr val="AAAAAD"/>
        </a:accent3>
        <a:accent4>
          <a:srgbClr val="DADADA"/>
        </a:accent4>
        <a:accent5>
          <a:srgbClr val="CAB8FF"/>
        </a:accent5>
        <a:accent6>
          <a:srgbClr val="B9B9E7"/>
        </a:accent6>
        <a:hlink>
          <a:srgbClr val="CCCC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Quadrant 6">
        <a:dk1>
          <a:srgbClr val="000000"/>
        </a:dk1>
        <a:lt1>
          <a:srgbClr val="FFFFFF"/>
        </a:lt1>
        <a:dk2>
          <a:srgbClr val="000000"/>
        </a:dk2>
        <a:lt2>
          <a:srgbClr val="669966"/>
        </a:lt2>
        <a:accent1>
          <a:srgbClr val="CCCC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8AB9"/>
        </a:accent6>
        <a:hlink>
          <a:srgbClr val="000066"/>
        </a:hlink>
        <a:folHlink>
          <a:srgbClr val="3333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Quadrant 7">
        <a:dk1>
          <a:srgbClr val="0099CC"/>
        </a:dk1>
        <a:lt1>
          <a:srgbClr val="FFFFFF"/>
        </a:lt1>
        <a:dk2>
          <a:srgbClr val="000099"/>
        </a:dk2>
        <a:lt2>
          <a:srgbClr val="FFFFFF"/>
        </a:lt2>
        <a:accent1>
          <a:srgbClr val="0099CC"/>
        </a:accent1>
        <a:accent2>
          <a:srgbClr val="6600FF"/>
        </a:accent2>
        <a:accent3>
          <a:srgbClr val="AAAACA"/>
        </a:accent3>
        <a:accent4>
          <a:srgbClr val="DADADA"/>
        </a:accent4>
        <a:accent5>
          <a:srgbClr val="AACAE2"/>
        </a:accent5>
        <a:accent6>
          <a:srgbClr val="5C00E7"/>
        </a:accent6>
        <a:hlink>
          <a:srgbClr val="FFCC00"/>
        </a:hlink>
        <a:folHlink>
          <a:srgbClr val="00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Quadrant 8">
        <a:dk1>
          <a:srgbClr val="000033"/>
        </a:dk1>
        <a:lt1>
          <a:srgbClr val="FFFFFF"/>
        </a:lt1>
        <a:dk2>
          <a:srgbClr val="003366"/>
        </a:dk2>
        <a:lt2>
          <a:srgbClr val="275C6D"/>
        </a:lt2>
        <a:accent1>
          <a:srgbClr val="A7D2DF"/>
        </a:accent1>
        <a:accent2>
          <a:srgbClr val="108DA6"/>
        </a:accent2>
        <a:accent3>
          <a:srgbClr val="FFFFFF"/>
        </a:accent3>
        <a:accent4>
          <a:srgbClr val="00002A"/>
        </a:accent4>
        <a:accent5>
          <a:srgbClr val="D0E5EC"/>
        </a:accent5>
        <a:accent6>
          <a:srgbClr val="0D7F96"/>
        </a:accent6>
        <a:hlink>
          <a:srgbClr val="666699"/>
        </a:hlink>
        <a:folHlink>
          <a:srgbClr val="99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Quadrant 9">
        <a:dk1>
          <a:srgbClr val="CC3300"/>
        </a:dk1>
        <a:lt1>
          <a:srgbClr val="FFFFFF"/>
        </a:lt1>
        <a:dk2>
          <a:srgbClr val="000000"/>
        </a:dk2>
        <a:lt2>
          <a:srgbClr val="FFFFCC"/>
        </a:lt2>
        <a:accent1>
          <a:srgbClr val="FF9900"/>
        </a:accent1>
        <a:accent2>
          <a:srgbClr val="993300"/>
        </a:accent2>
        <a:accent3>
          <a:srgbClr val="AAAAAA"/>
        </a:accent3>
        <a:accent4>
          <a:srgbClr val="DADADA"/>
        </a:accent4>
        <a:accent5>
          <a:srgbClr val="FFCAAA"/>
        </a:accent5>
        <a:accent6>
          <a:srgbClr val="8A2D00"/>
        </a:accent6>
        <a:hlink>
          <a:srgbClr val="CEC5A2"/>
        </a:hlink>
        <a:folHlink>
          <a:srgbClr val="DDDDDD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Quadrant</Template>
  <TotalTime>20868</TotalTime>
  <Words>2781</Words>
  <Application>Microsoft Macintosh PowerPoint</Application>
  <PresentationFormat>On-screen Show (4:3)</PresentationFormat>
  <Paragraphs>706</Paragraphs>
  <Slides>49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5" baseType="lpstr">
      <vt:lpstr>Courier New</vt:lpstr>
      <vt:lpstr>ＭＳ Ｐゴシック</vt:lpstr>
      <vt:lpstr>Times New Roman</vt:lpstr>
      <vt:lpstr>Wingdings</vt:lpstr>
      <vt:lpstr>Arial</vt:lpstr>
      <vt:lpstr>Quadrant</vt:lpstr>
      <vt:lpstr>CMPE 280 Web UI Design and Development September 28 Class Meeting</vt:lpstr>
      <vt:lpstr>jQuery Object Effects</vt:lpstr>
      <vt:lpstr>jQuery Object Effects, cont’d</vt:lpstr>
      <vt:lpstr>jQuery Object Effects, cont’d</vt:lpstr>
      <vt:lpstr>jQuery Object Effects, cont’d</vt:lpstr>
      <vt:lpstr>jQuery Object Effects, cont’d</vt:lpstr>
      <vt:lpstr>jQuery Object Effects, cont’d</vt:lpstr>
      <vt:lpstr>jQuery Object Effects, cont’d</vt:lpstr>
      <vt:lpstr>jQuery Object Effects, cont’d</vt:lpstr>
      <vt:lpstr>jQuery Object Animation</vt:lpstr>
      <vt:lpstr>jQuery Object Animation, cont’d</vt:lpstr>
      <vt:lpstr>jQuery Object Animation, cont’d</vt:lpstr>
      <vt:lpstr>jQuery Object Animation, cont’d</vt:lpstr>
      <vt:lpstr>jQuery Object Animation, cont’d</vt:lpstr>
      <vt:lpstr>jQuery Object Animation, cont’d</vt:lpstr>
      <vt:lpstr> The jQuery User Interface Toolkit</vt:lpstr>
      <vt:lpstr> The jQuery User Interface Toolkit, cont’d</vt:lpstr>
      <vt:lpstr>Themes</vt:lpstr>
      <vt:lpstr>Drag an Object</vt:lpstr>
      <vt:lpstr>Drag an Object, cont’d</vt:lpstr>
      <vt:lpstr>UI Icons</vt:lpstr>
      <vt:lpstr>Resize an Object</vt:lpstr>
      <vt:lpstr>jQuery UI Toolkit Classes for CSS</vt:lpstr>
      <vt:lpstr>Resize an Object, cont’d</vt:lpstr>
      <vt:lpstr>Resize an Object, cont’d</vt:lpstr>
      <vt:lpstr>Resize an Object, cont’d</vt:lpstr>
      <vt:lpstr>Drag and Drop an Object</vt:lpstr>
      <vt:lpstr>Drag and Drop an Object, cont’d</vt:lpstr>
      <vt:lpstr>Drag and Drop an Object, cont’d</vt:lpstr>
      <vt:lpstr>Drag and Drop an Object, cont’d</vt:lpstr>
      <vt:lpstr>Drag and Drop an Object, cont’d</vt:lpstr>
      <vt:lpstr>Drag and Drop an Object, cont’d</vt:lpstr>
      <vt:lpstr>jQuery UI Widgets</vt:lpstr>
      <vt:lpstr>Accordion Widget</vt:lpstr>
      <vt:lpstr>Accordion Widget, cont’d</vt:lpstr>
      <vt:lpstr>Accordion Widget, cont’d</vt:lpstr>
      <vt:lpstr>Tabs Widget</vt:lpstr>
      <vt:lpstr>Tabs Widget, cont’d</vt:lpstr>
      <vt:lpstr>AJAX Tabs</vt:lpstr>
      <vt:lpstr>AJAX Tabs, cont’d</vt:lpstr>
      <vt:lpstr>Date Picker Widget</vt:lpstr>
      <vt:lpstr>Slider Widget</vt:lpstr>
      <vt:lpstr>Selectable Widget</vt:lpstr>
      <vt:lpstr>Sortable Widget</vt:lpstr>
      <vt:lpstr>Dialog Widget</vt:lpstr>
      <vt:lpstr>Dialog Widget, cont’d</vt:lpstr>
      <vt:lpstr>Assignment #3</vt:lpstr>
      <vt:lpstr>Assignment #3, cont’d</vt:lpstr>
      <vt:lpstr>Assignment #3, cont’d</vt:lpstr>
    </vt:vector>
  </TitlesOfParts>
  <Company>Apropos Logic</Company>
  <LinksUpToDate>false</LinksUpToDate>
  <SharedDoc>false</SharedDoc>
  <HyperlinksChanged>false</HyperlinksChanged>
  <AppVersion>15.0028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153: Concepts of Compiler Design</dc:title>
  <dc:creator>Ronald Mak</dc:creator>
  <cp:lastModifiedBy>Ronald Mak</cp:lastModifiedBy>
  <cp:revision>354</cp:revision>
  <dcterms:created xsi:type="dcterms:W3CDTF">2008-01-12T03:52:55Z</dcterms:created>
  <dcterms:modified xsi:type="dcterms:W3CDTF">2017-09-28T03:32:38Z</dcterms:modified>
</cp:coreProperties>
</file>